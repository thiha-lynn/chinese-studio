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1" r:id="rId10"/>
    <p:sldId id="272" r:id="rId11"/>
    <p:sldId id="273" r:id="rId12"/>
    <p:sldId id="276" r:id="rId13"/>
    <p:sldId id="277" r:id="rId14"/>
    <p:sldId id="278" r:id="rId15"/>
    <p:sldId id="279" r:id="rId16"/>
    <p:sldId id="280" r:id="rId17"/>
    <p:sldId id="304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</p:sldIdLst>
  <p:sldSz cx="18288000" cy="10287000"/>
  <p:notesSz cx="6858000" cy="9144000"/>
  <p:embeddedFontLst>
    <p:embeddedFont>
      <p:font typeface="Varela Round" panose="00000500000000000000" pitchFamily="2" charset="-79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X/0Zrc4oTj93yIEdS5con/mN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CC6F0A-B542-4499-AA79-7004CC88DA13}">
  <a:tblStyle styleId="{53CC6F0A-B542-4499-AA79-7004CC88DA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DEB9D19-92FF-4CFB-9B93-1A25CCB658F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7" autoAdjust="0"/>
    <p:restoredTop sz="94609"/>
  </p:normalViewPr>
  <p:slideViewPr>
    <p:cSldViewPr snapToGrid="0">
      <p:cViewPr varScale="1">
        <p:scale>
          <a:sx n="38" d="100"/>
          <a:sy n="38" d="100"/>
        </p:scale>
        <p:origin x="60" y="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>
          <a:extLst>
            <a:ext uri="{FF2B5EF4-FFF2-40B4-BE49-F238E27FC236}">
              <a16:creationId xmlns:a16="http://schemas.microsoft.com/office/drawing/2014/main" id="{2AEAEF50-9579-6435-4CA9-DE2064A3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:notes">
            <a:extLst>
              <a:ext uri="{FF2B5EF4-FFF2-40B4-BE49-F238E27FC236}">
                <a16:creationId xmlns:a16="http://schemas.microsoft.com/office/drawing/2014/main" id="{6603F92B-AA2B-24D2-9DB9-17028EDA2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p25:notes">
            <a:extLst>
              <a:ext uri="{FF2B5EF4-FFF2-40B4-BE49-F238E27FC236}">
                <a16:creationId xmlns:a16="http://schemas.microsoft.com/office/drawing/2014/main" id="{B4D2417D-305B-3F9A-6128-F1A2326D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0210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9" name="Google Shape;5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7" name="Google Shape;5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96" name="Google Shape;5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4" name="Google Shape;6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3" name="Google Shape;6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8" name="Google Shape;65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2" name="Google Shape;6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4" name="Google Shape;74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6" name="Google Shape;7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8" name="Google Shape;7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0" name="Google Shape;81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2" name="Google Shape;83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4" name="Google Shape;8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6" name="Google Shape;87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1" name="Google Shape;89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7" name="Google Shape;94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3" name="Google Shape;9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5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5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5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3.jp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5.jpg"/><Relationship Id="rId4" Type="http://schemas.openxmlformats.org/officeDocument/2006/relationships/image" Target="../media/image12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5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34.jp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4.png"/><Relationship Id="rId10" Type="http://schemas.openxmlformats.org/officeDocument/2006/relationships/image" Target="../media/image48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43.pn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90425">
            <a:off x="17209635" y="2222353"/>
            <a:ext cx="1252020" cy="191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720880">
            <a:off x="6140400" y="392173"/>
            <a:ext cx="2767353" cy="256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7166">
            <a:off x="10752105" y="8499879"/>
            <a:ext cx="2439686" cy="2471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71250">
            <a:off x="13878745" y="5807687"/>
            <a:ext cx="2902667" cy="276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7"/>
          <p:cNvGrpSpPr/>
          <p:nvPr/>
        </p:nvGrpSpPr>
        <p:grpSpPr>
          <a:xfrm>
            <a:off x="3573757" y="1672703"/>
            <a:ext cx="13037371" cy="4783475"/>
            <a:chOff x="0" y="0"/>
            <a:chExt cx="40075520" cy="14703904"/>
          </a:xfrm>
        </p:grpSpPr>
        <p:sp>
          <p:nvSpPr>
            <p:cNvPr id="189" name="Google Shape;189;p7"/>
            <p:cNvSpPr/>
            <p:nvPr/>
          </p:nvSpPr>
          <p:spPr>
            <a:xfrm>
              <a:off x="31750" y="31750"/>
              <a:ext cx="40012020" cy="14640404"/>
            </a:xfrm>
            <a:custGeom>
              <a:avLst/>
              <a:gdLst/>
              <a:ahLst/>
              <a:cxnLst/>
              <a:rect l="l" t="t" r="r" b="b"/>
              <a:pathLst>
                <a:path w="40012020" h="14640404" extrusionOk="0">
                  <a:moveTo>
                    <a:pt x="39919309" y="14640404"/>
                  </a:moveTo>
                  <a:lnTo>
                    <a:pt x="92710" y="14640404"/>
                  </a:lnTo>
                  <a:cubicBezTo>
                    <a:pt x="41910" y="14640404"/>
                    <a:pt x="0" y="14598493"/>
                    <a:pt x="0" y="145476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9918041" y="0"/>
                  </a:lnTo>
                  <a:cubicBezTo>
                    <a:pt x="39968841" y="0"/>
                    <a:pt x="40010748" y="41910"/>
                    <a:pt x="40010748" y="92710"/>
                  </a:cubicBezTo>
                  <a:lnTo>
                    <a:pt x="40010748" y="14546424"/>
                  </a:lnTo>
                  <a:cubicBezTo>
                    <a:pt x="40012020" y="14598495"/>
                    <a:pt x="39970109" y="14640404"/>
                    <a:pt x="39919309" y="14640404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0" y="0"/>
              <a:ext cx="40075520" cy="14703904"/>
            </a:xfrm>
            <a:custGeom>
              <a:avLst/>
              <a:gdLst/>
              <a:ahLst/>
              <a:cxnLst/>
              <a:rect l="l" t="t" r="r" b="b"/>
              <a:pathLst>
                <a:path w="40075520" h="14703904" extrusionOk="0">
                  <a:moveTo>
                    <a:pt x="39951059" y="59690"/>
                  </a:moveTo>
                  <a:cubicBezTo>
                    <a:pt x="39986620" y="59690"/>
                    <a:pt x="40015830" y="88900"/>
                    <a:pt x="40015830" y="124460"/>
                  </a:cubicBezTo>
                  <a:lnTo>
                    <a:pt x="40015830" y="14579445"/>
                  </a:lnTo>
                  <a:cubicBezTo>
                    <a:pt x="40015830" y="14615004"/>
                    <a:pt x="39986620" y="14644215"/>
                    <a:pt x="39951059" y="14644215"/>
                  </a:cubicBezTo>
                  <a:lnTo>
                    <a:pt x="124460" y="14644215"/>
                  </a:lnTo>
                  <a:cubicBezTo>
                    <a:pt x="88900" y="14644215"/>
                    <a:pt x="59690" y="14615004"/>
                    <a:pt x="59690" y="145794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9951059" y="59690"/>
                  </a:lnTo>
                  <a:moveTo>
                    <a:pt x="3995105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579445"/>
                  </a:lnTo>
                  <a:cubicBezTo>
                    <a:pt x="0" y="14648024"/>
                    <a:pt x="55880" y="14703904"/>
                    <a:pt x="124460" y="14703904"/>
                  </a:cubicBezTo>
                  <a:lnTo>
                    <a:pt x="39951059" y="14703904"/>
                  </a:lnTo>
                  <a:cubicBezTo>
                    <a:pt x="40019641" y="14703904"/>
                    <a:pt x="40075520" y="14648024"/>
                    <a:pt x="40075520" y="14579445"/>
                  </a:cubicBezTo>
                  <a:lnTo>
                    <a:pt x="40075520" y="124460"/>
                  </a:lnTo>
                  <a:cubicBezTo>
                    <a:pt x="40075520" y="55880"/>
                    <a:pt x="40019641" y="0"/>
                    <a:pt x="39951059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7"/>
          <p:cNvGrpSpPr/>
          <p:nvPr/>
        </p:nvGrpSpPr>
        <p:grpSpPr>
          <a:xfrm>
            <a:off x="4059377" y="2049318"/>
            <a:ext cx="13380020" cy="2776450"/>
            <a:chOff x="0" y="-66675"/>
            <a:chExt cx="15247631" cy="3701933"/>
          </a:xfrm>
        </p:grpSpPr>
        <p:sp>
          <p:nvSpPr>
            <p:cNvPr id="192" name="Google Shape;192;p7"/>
            <p:cNvSpPr txBox="1"/>
            <p:nvPr/>
          </p:nvSpPr>
          <p:spPr>
            <a:xfrm>
              <a:off x="0" y="926825"/>
              <a:ext cx="15247631" cy="2708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00"/>
                <a:buFont typeface="Arial"/>
                <a:buNone/>
              </a:pPr>
              <a:r>
                <a:rPr lang="en-US" sz="7200" b="0" i="0" u="none" strike="noStrike" cap="none" dirty="0">
                  <a:solidFill>
                    <a:srgbClr val="253140"/>
                  </a:solidFill>
                  <a:latin typeface="Arial"/>
                  <a:ea typeface="Arial"/>
                  <a:cs typeface="Arial"/>
                  <a:sym typeface="Arial"/>
                </a:rPr>
                <a:t>Lesson 6 </a:t>
              </a:r>
              <a:endParaRPr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lang="en-US" sz="6000" b="0" i="0" u="none" strike="noStrike" cap="none" dirty="0">
                  <a:solidFill>
                    <a:srgbClr val="253140"/>
                  </a:solidFill>
                  <a:latin typeface="Arial"/>
                  <a:ea typeface="Arial"/>
                  <a:cs typeface="Arial"/>
                  <a:sym typeface="Arial"/>
                </a:rPr>
                <a:t>How can I get to the Museum </a:t>
              </a:r>
              <a:endParaRPr sz="7200" b="0" i="0" u="none" strike="noStrike" cap="none" dirty="0">
                <a:solidFill>
                  <a:srgbClr val="2531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 txBox="1"/>
            <p:nvPr/>
          </p:nvSpPr>
          <p:spPr>
            <a:xfrm>
              <a:off x="0" y="-66675"/>
              <a:ext cx="14206091" cy="6848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25314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Chinese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4" name="Google Shape;19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343575">
            <a:off x="1459906" y="1580833"/>
            <a:ext cx="1674700" cy="175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7"/>
          <p:cNvGrpSpPr/>
          <p:nvPr/>
        </p:nvGrpSpPr>
        <p:grpSpPr>
          <a:xfrm>
            <a:off x="-24875" y="-311375"/>
            <a:ext cx="2044424" cy="10909749"/>
            <a:chOff x="0" y="0"/>
            <a:chExt cx="6284347" cy="33535432"/>
          </a:xfrm>
        </p:grpSpPr>
        <p:sp>
          <p:nvSpPr>
            <p:cNvPr id="196" name="Google Shape;196;p7"/>
            <p:cNvSpPr/>
            <p:nvPr/>
          </p:nvSpPr>
          <p:spPr>
            <a:xfrm>
              <a:off x="31750" y="31750"/>
              <a:ext cx="6220847" cy="33471932"/>
            </a:xfrm>
            <a:custGeom>
              <a:avLst/>
              <a:gdLst/>
              <a:ahLst/>
              <a:cxnLst/>
              <a:rect l="l" t="t" r="r" b="b"/>
              <a:pathLst>
                <a:path w="6220847" h="33471932" extrusionOk="0">
                  <a:moveTo>
                    <a:pt x="6128137" y="33471932"/>
                  </a:moveTo>
                  <a:lnTo>
                    <a:pt x="92710" y="33471932"/>
                  </a:lnTo>
                  <a:cubicBezTo>
                    <a:pt x="41910" y="33471932"/>
                    <a:pt x="0" y="33430021"/>
                    <a:pt x="0" y="3337922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126867" y="0"/>
                  </a:lnTo>
                  <a:cubicBezTo>
                    <a:pt x="6177667" y="0"/>
                    <a:pt x="6219577" y="41910"/>
                    <a:pt x="6219577" y="92710"/>
                  </a:cubicBezTo>
                  <a:lnTo>
                    <a:pt x="6219577" y="33377953"/>
                  </a:lnTo>
                  <a:cubicBezTo>
                    <a:pt x="6220847" y="33430021"/>
                    <a:pt x="6178937" y="33471932"/>
                    <a:pt x="6128137" y="33471932"/>
                  </a:cubicBezTo>
                  <a:close/>
                </a:path>
              </a:pathLst>
            </a:custGeom>
            <a:solidFill>
              <a:srgbClr val="5DA1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0" y="0"/>
              <a:ext cx="6284347" cy="33535432"/>
            </a:xfrm>
            <a:custGeom>
              <a:avLst/>
              <a:gdLst/>
              <a:ahLst/>
              <a:cxnLst/>
              <a:rect l="l" t="t" r="r" b="b"/>
              <a:pathLst>
                <a:path w="6284347" h="33535432" extrusionOk="0">
                  <a:moveTo>
                    <a:pt x="6159887" y="59690"/>
                  </a:moveTo>
                  <a:cubicBezTo>
                    <a:pt x="6195447" y="59690"/>
                    <a:pt x="6224657" y="88900"/>
                    <a:pt x="6224657" y="124460"/>
                  </a:cubicBezTo>
                  <a:lnTo>
                    <a:pt x="6224657" y="33410971"/>
                  </a:lnTo>
                  <a:cubicBezTo>
                    <a:pt x="6224657" y="33446532"/>
                    <a:pt x="6195447" y="33475743"/>
                    <a:pt x="6159887" y="33475743"/>
                  </a:cubicBezTo>
                  <a:lnTo>
                    <a:pt x="124460" y="33475743"/>
                  </a:lnTo>
                  <a:cubicBezTo>
                    <a:pt x="88900" y="33475743"/>
                    <a:pt x="59690" y="33446532"/>
                    <a:pt x="59690" y="334109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159887" y="59690"/>
                  </a:lnTo>
                  <a:moveTo>
                    <a:pt x="615988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3410971"/>
                  </a:lnTo>
                  <a:cubicBezTo>
                    <a:pt x="0" y="33479553"/>
                    <a:pt x="55880" y="33535432"/>
                    <a:pt x="124460" y="33535432"/>
                  </a:cubicBezTo>
                  <a:lnTo>
                    <a:pt x="6159887" y="33535432"/>
                  </a:lnTo>
                  <a:cubicBezTo>
                    <a:pt x="6228467" y="33535432"/>
                    <a:pt x="6284347" y="33479553"/>
                    <a:pt x="6284347" y="33410971"/>
                  </a:cubicBezTo>
                  <a:lnTo>
                    <a:pt x="6284347" y="124460"/>
                  </a:lnTo>
                  <a:cubicBezTo>
                    <a:pt x="6284347" y="55880"/>
                    <a:pt x="6228467" y="0"/>
                    <a:pt x="6159887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7"/>
          <p:cNvSpPr txBox="1"/>
          <p:nvPr/>
        </p:nvSpPr>
        <p:spPr>
          <a:xfrm>
            <a:off x="4172267" y="5476728"/>
            <a:ext cx="11653887" cy="2319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3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Dì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liù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bó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wù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ɡuǎn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zěnme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zǒu</a:t>
            </a:r>
            <a:r>
              <a:rPr lang="en-US" sz="32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3200" b="1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11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6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第六课</a:t>
            </a:r>
            <a:r>
              <a:rPr lang="en-US" sz="66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66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去博物馆</a:t>
            </a:r>
            <a:r>
              <a:rPr lang="en-US" sz="66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66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怎么走</a:t>
            </a:r>
            <a:endParaRPr sz="6600" b="1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cxnSp>
        <p:nvCxnSpPr>
          <p:cNvPr id="199" name="Google Shape;199;p7"/>
          <p:cNvCxnSpPr/>
          <p:nvPr/>
        </p:nvCxnSpPr>
        <p:spPr>
          <a:xfrm rot="10800000" flipH="1">
            <a:off x="3657600" y="8701335"/>
            <a:ext cx="7627643" cy="24189"/>
          </a:xfrm>
          <a:prstGeom prst="straightConnector1">
            <a:avLst/>
          </a:prstGeom>
          <a:noFill/>
          <a:ln w="28575" cap="rnd" cmpd="sng">
            <a:solidFill>
              <a:srgbClr val="253140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00" name="Google Shape;200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702352">
            <a:off x="11849522" y="-794032"/>
            <a:ext cx="2845948" cy="185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3401726">
            <a:off x="2339072" y="5498769"/>
            <a:ext cx="2131882" cy="191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8"/>
          <p:cNvGraphicFramePr/>
          <p:nvPr>
            <p:extLst>
              <p:ext uri="{D42A27DB-BD31-4B8C-83A1-F6EECF244321}">
                <p14:modId xmlns:p14="http://schemas.microsoft.com/office/powerpoint/2010/main" val="4026692464"/>
              </p:ext>
            </p:extLst>
          </p:nvPr>
        </p:nvGraphicFramePr>
        <p:xfrm>
          <a:off x="136160" y="711404"/>
          <a:ext cx="15713439" cy="8610397"/>
        </p:xfrm>
        <a:graphic>
          <a:graphicData uri="http://schemas.openxmlformats.org/drawingml/2006/table">
            <a:tbl>
              <a:tblPr firstRow="1" bandRow="1">
                <a:noFill/>
                <a:tableStyleId>{53CC6F0A-B542-4499-AA79-7004CC88DA13}</a:tableStyleId>
              </a:tblPr>
              <a:tblGrid>
                <a:gridCol w="731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6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2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6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走</a:t>
                      </a: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walk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3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东边</a:t>
                      </a:r>
                      <a:endParaRPr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east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2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大使馆</a:t>
                      </a:r>
                      <a:endParaRPr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embassy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36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十字路口</a:t>
                      </a:r>
                      <a:endParaRPr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Crossroads,</a:t>
                      </a: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Calibri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从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000" b="0" i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sym typeface="Arial"/>
                        </a:rPr>
                        <a:t>红绿灯</a:t>
                      </a:r>
                      <a:endParaRPr lang="en-US" sz="4000" b="0" i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SimSun" panose="02010600030101010101" pitchFamily="2" charset="-122"/>
                          <a:cs typeface="Times New Roman"/>
                          <a:sym typeface="Arial"/>
                        </a:rPr>
                        <a:t>traffic lights</a:t>
                      </a:r>
                      <a:endParaRPr lang="en-US" sz="32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到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Arrive, to get to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SimSun"/>
                          <a:cs typeface="Times New Roman"/>
                          <a:sym typeface="Times New Roman"/>
                        </a:rPr>
                        <a:t>14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SimSu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000" b="0" i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Calibri"/>
                          <a:sym typeface="Arial"/>
                        </a:rPr>
                        <a:t>马路</a:t>
                      </a:r>
                      <a:endParaRPr lang="en-US" sz="4000" b="0" i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SimSun" panose="02010600030101010101" pitchFamily="2" charset="-122"/>
                          <a:cs typeface="Times New Roman"/>
                          <a:sym typeface="Arial"/>
                        </a:rPr>
                        <a:t>road</a:t>
                      </a: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11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一直</a:t>
                      </a: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2575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Straight ahead, </a:t>
                      </a:r>
                    </a:p>
                    <a:p>
                      <a:pPr marL="0" marR="282575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the way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大楼</a:t>
                      </a:r>
                      <a:endParaRPr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building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3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前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front of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博物馆</a:t>
                      </a:r>
                      <a:endParaRPr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museum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87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右 </a:t>
                      </a:r>
                      <a:endParaRPr sz="32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在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拐 </a:t>
                      </a:r>
                      <a:endParaRPr sz="32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turn</a:t>
                      </a:r>
                      <a:endParaRPr sz="24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就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then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22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zh-CN" altLang="en-US" sz="40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办公室</a:t>
                      </a:r>
                      <a:endParaRPr lang="zh-TW" altLang="en-US" sz="28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Passerby,</a:t>
                      </a: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Calibri"/>
                          <a:cs typeface="Times New Roman"/>
                          <a:sym typeface="Times New Roman"/>
                        </a:rPr>
                        <a:t>pedestrian</a:t>
                      </a:r>
                      <a:endParaRPr lang="en-US"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93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Arial"/>
                        <a:buNone/>
                      </a:pPr>
                      <a:r>
                        <a:rPr lang="en-US" sz="44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南边</a:t>
                      </a:r>
                      <a:r>
                        <a:rPr lang="en-US" sz="44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endParaRPr sz="32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south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07" name="Google Shape;2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49600" y="3371121"/>
            <a:ext cx="4224813" cy="383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904080">
            <a:off x="15713028" y="7950796"/>
            <a:ext cx="3697930" cy="1748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69455" y="-1181039"/>
            <a:ext cx="4030596" cy="3964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1656884" y="-265150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391937" y="-135937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9"/>
          <p:cNvGrpSpPr/>
          <p:nvPr/>
        </p:nvGrpSpPr>
        <p:grpSpPr>
          <a:xfrm>
            <a:off x="1623749" y="575834"/>
            <a:ext cx="15408692" cy="1981714"/>
            <a:chOff x="0" y="0"/>
            <a:chExt cx="47364712" cy="6091581"/>
          </a:xfrm>
        </p:grpSpPr>
        <p:sp>
          <p:nvSpPr>
            <p:cNvPr id="219" name="Google Shape;219;p9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9"/>
          <p:cNvSpPr txBox="1"/>
          <p:nvPr/>
        </p:nvSpPr>
        <p:spPr>
          <a:xfrm>
            <a:off x="2311401" y="1424173"/>
            <a:ext cx="1135379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走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V.   </a:t>
            </a: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 walk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593144" y="1732360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87931" y="266701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 descr="Shap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969390" y="3403214"/>
            <a:ext cx="5777706" cy="55074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Google Shape;279;p12">
            <a:extLst>
              <a:ext uri="{FF2B5EF4-FFF2-40B4-BE49-F238E27FC236}">
                <a16:creationId xmlns:a16="http://schemas.microsoft.com/office/drawing/2014/main" id="{0002C043-ECF7-7D6E-A61F-D4EE694E72F4}"/>
              </a:ext>
            </a:extLst>
          </p:cNvPr>
          <p:cNvSpPr/>
          <p:nvPr/>
        </p:nvSpPr>
        <p:spPr>
          <a:xfrm>
            <a:off x="2042766" y="3730707"/>
            <a:ext cx="11800234" cy="5980459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endParaRPr lang="en-US" altLang="zh-CN" sz="3600" b="0" i="0" u="none" strike="noStrike" cap="none" dirty="0">
              <a:solidFill>
                <a:srgbClr val="253140"/>
              </a:solidFill>
              <a:highlight>
                <a:srgbClr val="FFFF00"/>
              </a:highlight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6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en-US" altLang="zh-CN" sz="6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yìqǐ</a:t>
            </a:r>
            <a:r>
              <a:rPr lang="en-US" altLang="zh-CN" sz="6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6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zǒu</a:t>
            </a:r>
            <a:endParaRPr lang="en-US" altLang="zh-CN" sz="6000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		</a:t>
            </a:r>
            <a:r>
              <a:rPr lang="zh-CN" altLang="en-US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一起 走   </a:t>
            </a:r>
            <a:r>
              <a:rPr lang="en-US" altLang="zh-CN" sz="44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Let's go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6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en-US" altLang="zh-CN" sz="6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zǒu</a:t>
            </a:r>
            <a:r>
              <a:rPr lang="en-US" altLang="zh-CN" sz="6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6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huí</a:t>
            </a:r>
            <a:r>
              <a:rPr lang="en-US" altLang="zh-CN" sz="6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6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xuéxiào</a:t>
            </a:r>
            <a:endParaRPr lang="en-US" altLang="zh-CN" sz="6000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		</a:t>
            </a:r>
            <a:r>
              <a:rPr lang="zh-CN" altLang="en-US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走  回   学校</a:t>
            </a:r>
            <a:endParaRPr lang="en-US" altLang="zh-CN" sz="6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44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Walking back to school</a:t>
            </a:r>
            <a:endParaRPr lang="en-US" altLang="zh-CN" sz="6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endParaRPr lang="zh-CN" altLang="en-US" sz="6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1371321" y="-362503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434259" y="175076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0"/>
          <p:cNvGrpSpPr/>
          <p:nvPr/>
        </p:nvGrpSpPr>
        <p:grpSpPr>
          <a:xfrm>
            <a:off x="1776148" y="499634"/>
            <a:ext cx="15408692" cy="1981714"/>
            <a:chOff x="0" y="0"/>
            <a:chExt cx="47364712" cy="6091581"/>
          </a:xfrm>
        </p:grpSpPr>
        <p:sp>
          <p:nvSpPr>
            <p:cNvPr id="234" name="Google Shape;234;p10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sp>
        <p:nvSpPr>
          <p:cNvPr id="236" name="Google Shape;236;p10"/>
          <p:cNvSpPr txBox="1"/>
          <p:nvPr/>
        </p:nvSpPr>
        <p:spPr>
          <a:xfrm>
            <a:off x="1562432" y="1369818"/>
            <a:ext cx="13201945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大使馆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n. </a:t>
            </a: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</a:t>
            </a: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ɡuǎn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embassy</a:t>
            </a:r>
            <a:endParaRPr sz="72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275230" y="1953250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40330" y="190501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0" descr="A picture containing text, roo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42766" y="3020175"/>
            <a:ext cx="4523809" cy="45543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279;p12">
            <a:extLst>
              <a:ext uri="{FF2B5EF4-FFF2-40B4-BE49-F238E27FC236}">
                <a16:creationId xmlns:a16="http://schemas.microsoft.com/office/drawing/2014/main" id="{3E1171AC-C6F3-165C-8CDF-B9D7FDABCF09}"/>
              </a:ext>
            </a:extLst>
          </p:cNvPr>
          <p:cNvSpPr/>
          <p:nvPr/>
        </p:nvSpPr>
        <p:spPr>
          <a:xfrm>
            <a:off x="7061041" y="3959589"/>
            <a:ext cx="9184193" cy="432276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endParaRPr lang="en-US" altLang="zh-CN" sz="3600" b="0" i="0" u="none" strike="noStrike" cap="none" dirty="0">
              <a:solidFill>
                <a:srgbClr val="253140"/>
              </a:solidFill>
              <a:highlight>
                <a:srgbClr val="FFFF00"/>
              </a:highlight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altLang="zh-CN" sz="36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zhōng</a:t>
            </a:r>
            <a:r>
              <a:rPr lang="en-US" altLang="zh-CN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altLang="zh-CN" sz="36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guó</a:t>
            </a:r>
            <a:r>
              <a:rPr lang="en-US" altLang="zh-CN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altLang="zh-CN" sz="36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dà</a:t>
            </a:r>
            <a:r>
              <a:rPr lang="en-US" altLang="zh-CN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altLang="zh-CN" sz="36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shǐ</a:t>
            </a:r>
            <a:r>
              <a:rPr lang="en-US" altLang="zh-CN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altLang="zh-CN" sz="36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guǎn</a:t>
            </a:r>
            <a:r>
              <a:rPr lang="en-US" altLang="zh-CN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zh-CN" altLang="en-US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中国大使馆</a:t>
            </a:r>
            <a:endParaRPr lang="en-US" altLang="zh-CN" sz="6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endParaRPr lang="zh-CN" altLang="en-US" sz="6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algn="ctr">
              <a:buClr>
                <a:srgbClr val="253140"/>
              </a:buClr>
              <a:buSzPts val="8000"/>
            </a:pPr>
            <a:r>
              <a:rPr lang="en-US" altLang="zh-CN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tài</a:t>
            </a:r>
            <a:r>
              <a:rPr lang="en-US" altLang="zh-CN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guó</a:t>
            </a:r>
            <a:r>
              <a:rPr lang="en-US" altLang="zh-CN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dà</a:t>
            </a:r>
            <a:r>
              <a:rPr lang="en-US" altLang="zh-CN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shǐguǎn</a:t>
            </a:r>
            <a:endParaRPr lang="zh-CN" altLang="en-US" sz="36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zh-CN" altLang="en-US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泰国大使馆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6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262164" y="6553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1"/>
          <p:cNvGrpSpPr/>
          <p:nvPr/>
        </p:nvGrpSpPr>
        <p:grpSpPr>
          <a:xfrm>
            <a:off x="1447800" y="499633"/>
            <a:ext cx="15408692" cy="1981714"/>
            <a:chOff x="0" y="0"/>
            <a:chExt cx="47364712" cy="6091581"/>
          </a:xfrm>
        </p:grpSpPr>
        <p:sp>
          <p:nvSpPr>
            <p:cNvPr id="249" name="Google Shape;249;p11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11"/>
          <p:cNvSpPr txBox="1"/>
          <p:nvPr/>
        </p:nvSpPr>
        <p:spPr>
          <a:xfrm>
            <a:off x="2135452" y="1347972"/>
            <a:ext cx="1141544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从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prep.  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from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132195" y="170403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11982" y="190500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1" descr="A picture containing tex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55592" y="7232249"/>
            <a:ext cx="2775207" cy="27752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5" name="Google Shape;255;p11"/>
          <p:cNvSpPr/>
          <p:nvPr/>
        </p:nvSpPr>
        <p:spPr>
          <a:xfrm>
            <a:off x="3581400" y="7232250"/>
            <a:ext cx="3283988" cy="293108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3820769" y="7637067"/>
            <a:ext cx="304461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从  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这儿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   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From here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57" name="Google Shape;257;p11" descr="A picture containing diagram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590800" y="3108748"/>
            <a:ext cx="5162979" cy="390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 descr="A picture containing graphical user interfac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752660" y="3844429"/>
            <a:ext cx="4918643" cy="30547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11"/>
          <p:cNvCxnSpPr/>
          <p:nvPr/>
        </p:nvCxnSpPr>
        <p:spPr>
          <a:xfrm>
            <a:off x="7315200" y="6886322"/>
            <a:ext cx="6520861" cy="12843"/>
          </a:xfrm>
          <a:prstGeom prst="straightConnector1">
            <a:avLst/>
          </a:prstGeom>
          <a:noFill/>
          <a:ln w="57150" cap="flat" cmpd="sng">
            <a:solidFill>
              <a:srgbClr val="4A7DBA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" name="Google Shape;255;p11">
            <a:extLst>
              <a:ext uri="{FF2B5EF4-FFF2-40B4-BE49-F238E27FC236}">
                <a16:creationId xmlns:a16="http://schemas.microsoft.com/office/drawing/2014/main" id="{D69DA919-02D4-5D89-631C-33317E72AA5A}"/>
              </a:ext>
            </a:extLst>
          </p:cNvPr>
          <p:cNvSpPr/>
          <p:nvPr/>
        </p:nvSpPr>
        <p:spPr>
          <a:xfrm>
            <a:off x="7291642" y="7232250"/>
            <a:ext cx="3283988" cy="293108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56;p11">
            <a:extLst>
              <a:ext uri="{FF2B5EF4-FFF2-40B4-BE49-F238E27FC236}">
                <a16:creationId xmlns:a16="http://schemas.microsoft.com/office/drawing/2014/main" id="{C6B884E6-3A45-FF54-4C2A-7E86457593B4}"/>
              </a:ext>
            </a:extLst>
          </p:cNvPr>
          <p:cNvSpPr txBox="1"/>
          <p:nvPr/>
        </p:nvSpPr>
        <p:spPr>
          <a:xfrm>
            <a:off x="7583059" y="7797614"/>
            <a:ext cx="3044619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72626"/>
              </a:buClr>
              <a:buSzPts val="3600"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xuéxiào</a:t>
            </a:r>
            <a:endParaRPr lang="en-US"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从  </a:t>
            </a:r>
            <a:r>
              <a:rPr lang="zh-CN" alt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学校</a:t>
            </a:r>
            <a:endParaRPr lang="en-US" altLang="zh-CN"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buClr>
                <a:srgbClr val="272626"/>
              </a:buClr>
              <a:buSzPts val="3600"/>
            </a:pPr>
            <a:r>
              <a:rPr lang="en-US" sz="4000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school</a:t>
            </a:r>
            <a:r>
              <a:rPr lang="en-US" sz="4000" b="0" i="0" u="none" strike="noStrike" cap="none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600" b="0" i="0" u="none" strike="noStrike" cap="none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    </a:t>
            </a:r>
            <a:endParaRPr sz="1100" b="0" i="0" u="none" strike="noStrike" cap="none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12"/>
          <p:cNvGrpSpPr/>
          <p:nvPr/>
        </p:nvGrpSpPr>
        <p:grpSpPr>
          <a:xfrm>
            <a:off x="1776148" y="347233"/>
            <a:ext cx="15408692" cy="1981714"/>
            <a:chOff x="0" y="0"/>
            <a:chExt cx="47364712" cy="6091581"/>
          </a:xfrm>
        </p:grpSpPr>
        <p:sp>
          <p:nvSpPr>
            <p:cNvPr id="269" name="Google Shape;269;p12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12"/>
          <p:cNvSpPr txBox="1"/>
          <p:nvPr/>
        </p:nvSpPr>
        <p:spPr>
          <a:xfrm>
            <a:off x="2463800" y="1195572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到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v.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arrive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72" name="Google Shape;272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888240" y="1432047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40330" y="38100"/>
            <a:ext cx="3121006" cy="203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/>
          <p:nvPr/>
        </p:nvSpPr>
        <p:spPr>
          <a:xfrm>
            <a:off x="3373701" y="7211153"/>
            <a:ext cx="3461813" cy="248808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3851867" y="7470309"/>
            <a:ext cx="3283987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从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这儿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   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From here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76" name="Google Shape;276;p12" descr="A picture containing diagra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83102" y="3087651"/>
            <a:ext cx="5162979" cy="390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2" descr="A picture containing graphical user interfac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544962" y="3823332"/>
            <a:ext cx="4918643" cy="30547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12"/>
          <p:cNvCxnSpPr/>
          <p:nvPr/>
        </p:nvCxnSpPr>
        <p:spPr>
          <a:xfrm>
            <a:off x="7107502" y="6865225"/>
            <a:ext cx="6520861" cy="12843"/>
          </a:xfrm>
          <a:prstGeom prst="straightConnector1">
            <a:avLst/>
          </a:prstGeom>
          <a:noFill/>
          <a:ln w="57150" cap="flat" cmpd="sng">
            <a:solidFill>
              <a:srgbClr val="4A7DBA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79" name="Google Shape;279;p12"/>
          <p:cNvSpPr/>
          <p:nvPr/>
        </p:nvSpPr>
        <p:spPr>
          <a:xfrm>
            <a:off x="13187005" y="7215986"/>
            <a:ext cx="3283988" cy="248808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13628363" y="7475142"/>
            <a:ext cx="2585676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nàr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到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那儿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   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 there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13"/>
          <p:cNvGrpSpPr/>
          <p:nvPr/>
        </p:nvGrpSpPr>
        <p:grpSpPr>
          <a:xfrm>
            <a:off x="1752600" y="575833"/>
            <a:ext cx="15408692" cy="1981714"/>
            <a:chOff x="0" y="0"/>
            <a:chExt cx="47364712" cy="6091581"/>
          </a:xfrm>
        </p:grpSpPr>
        <p:sp>
          <p:nvSpPr>
            <p:cNvPr id="290" name="Google Shape;290;p13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13"/>
          <p:cNvSpPr txBox="1"/>
          <p:nvPr/>
        </p:nvSpPr>
        <p:spPr>
          <a:xfrm>
            <a:off x="2440252" y="1424172"/>
            <a:ext cx="10729648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一直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adv. </a:t>
            </a: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always</a:t>
            </a:r>
            <a:endParaRPr sz="72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117048" y="1692460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16782" y="266700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3" descr="A picture containing tex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445750" y="7523452"/>
            <a:ext cx="2473988" cy="24739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96" name="Google Shape;296;p13" descr="A person walking on a stree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05400" y="2658542"/>
            <a:ext cx="4917999" cy="73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3"/>
          <p:cNvSpPr/>
          <p:nvPr/>
        </p:nvSpPr>
        <p:spPr>
          <a:xfrm>
            <a:off x="10439400" y="4903138"/>
            <a:ext cx="7198388" cy="248808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11324762" y="5162494"/>
            <a:ext cx="583653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一直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 前  走 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Go straight ahead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14"/>
          <p:cNvGrpSpPr/>
          <p:nvPr/>
        </p:nvGrpSpPr>
        <p:grpSpPr>
          <a:xfrm>
            <a:off x="1776148" y="880633"/>
            <a:ext cx="15408692" cy="1981714"/>
            <a:chOff x="0" y="0"/>
            <a:chExt cx="47364712" cy="6091581"/>
          </a:xfrm>
        </p:grpSpPr>
        <p:sp>
          <p:nvSpPr>
            <p:cNvPr id="308" name="Google Shape;308;p14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14"/>
          <p:cNvSpPr txBox="1"/>
          <p:nvPr/>
        </p:nvSpPr>
        <p:spPr>
          <a:xfrm>
            <a:off x="2463800" y="1728972"/>
            <a:ext cx="133325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前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n.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in front of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311" name="Google Shape;311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355290" y="2380092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40330" y="571500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4" descr="A picture containing tex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796350" y="7862603"/>
            <a:ext cx="2181794" cy="2181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4" descr="A person walking a dog on a road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94339" y="3990900"/>
            <a:ext cx="6983079" cy="46553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14"/>
          <p:cNvCxnSpPr/>
          <p:nvPr/>
        </p:nvCxnSpPr>
        <p:spPr>
          <a:xfrm>
            <a:off x="4800600" y="5067300"/>
            <a:ext cx="1981200" cy="1070410"/>
          </a:xfrm>
          <a:prstGeom prst="straightConnector1">
            <a:avLst/>
          </a:prstGeom>
          <a:noFill/>
          <a:ln w="57150" cap="flat" cmpd="sng">
            <a:solidFill>
              <a:srgbClr val="E36C0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6" name="Google Shape;316;p14"/>
          <p:cNvCxnSpPr/>
          <p:nvPr/>
        </p:nvCxnSpPr>
        <p:spPr>
          <a:xfrm flipH="1">
            <a:off x="9285878" y="5753100"/>
            <a:ext cx="3896722" cy="1524000"/>
          </a:xfrm>
          <a:prstGeom prst="straightConnector1">
            <a:avLst/>
          </a:prstGeom>
          <a:noFill/>
          <a:ln w="57150" cap="flat" cmpd="sng">
            <a:solidFill>
              <a:srgbClr val="E36C0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7" name="Google Shape;317;p14"/>
          <p:cNvSpPr/>
          <p:nvPr/>
        </p:nvSpPr>
        <p:spPr>
          <a:xfrm>
            <a:off x="13436828" y="4592722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13558748" y="4659898"/>
            <a:ext cx="287186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前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In front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654228" y="3526868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1776148" y="3594044"/>
            <a:ext cx="287186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hòu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后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behind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704291" y="-460928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40330" y="-266700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6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4945918" y="4158479"/>
            <a:ext cx="2296170" cy="23572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48" name="Google Shape;348;p16"/>
          <p:cNvSpPr/>
          <p:nvPr/>
        </p:nvSpPr>
        <p:spPr>
          <a:xfrm>
            <a:off x="12021024" y="4411621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12154766" y="4313361"/>
            <a:ext cx="287186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右 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Right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797590" y="4352226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1970631" y="4352226"/>
            <a:ext cx="287186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zuǒ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左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Left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3" name="Google Shape;347;p16" descr="Icon&#10;&#10;Description automatically generated">
            <a:extLst>
              <a:ext uri="{FF2B5EF4-FFF2-40B4-BE49-F238E27FC236}">
                <a16:creationId xmlns:a16="http://schemas.microsoft.com/office/drawing/2014/main" id="{D3400721-159B-7741-6967-C147BB49B6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7323695" y="5716427"/>
            <a:ext cx="2296170" cy="23572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Google Shape;347;p16" descr="Icon&#10;&#10;Description automatically generated">
            <a:extLst>
              <a:ext uri="{FF2B5EF4-FFF2-40B4-BE49-F238E27FC236}">
                <a16:creationId xmlns:a16="http://schemas.microsoft.com/office/drawing/2014/main" id="{7FFDD4BD-359C-33B0-E89E-3E55EA3DD42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1429" y="4158480"/>
            <a:ext cx="2296170" cy="23572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Google Shape;347;p16" descr="Icon&#10;&#10;Description automatically generated">
            <a:extLst>
              <a:ext uri="{FF2B5EF4-FFF2-40B4-BE49-F238E27FC236}">
                <a16:creationId xmlns:a16="http://schemas.microsoft.com/office/drawing/2014/main" id="{73941FBA-5853-7F7D-6149-C259B792C4D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6200000">
            <a:off x="7265759" y="2697468"/>
            <a:ext cx="2296170" cy="23572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Google Shape;350;p16">
            <a:extLst>
              <a:ext uri="{FF2B5EF4-FFF2-40B4-BE49-F238E27FC236}">
                <a16:creationId xmlns:a16="http://schemas.microsoft.com/office/drawing/2014/main" id="{BB50A145-4374-0F1E-5292-2DCC5684A0CB}"/>
              </a:ext>
            </a:extLst>
          </p:cNvPr>
          <p:cNvSpPr/>
          <p:nvPr/>
        </p:nvSpPr>
        <p:spPr>
          <a:xfrm>
            <a:off x="6731450" y="520731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50;p16">
            <a:extLst>
              <a:ext uri="{FF2B5EF4-FFF2-40B4-BE49-F238E27FC236}">
                <a16:creationId xmlns:a16="http://schemas.microsoft.com/office/drawing/2014/main" id="{C0D48DA5-84ED-0C5F-D466-8B4216086283}"/>
              </a:ext>
            </a:extLst>
          </p:cNvPr>
          <p:cNvSpPr/>
          <p:nvPr/>
        </p:nvSpPr>
        <p:spPr>
          <a:xfrm>
            <a:off x="6784228" y="8212718"/>
            <a:ext cx="3214062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51;p16">
            <a:extLst>
              <a:ext uri="{FF2B5EF4-FFF2-40B4-BE49-F238E27FC236}">
                <a16:creationId xmlns:a16="http://schemas.microsoft.com/office/drawing/2014/main" id="{34FB74F1-402F-7BD5-A118-4ED817D91D0F}"/>
              </a:ext>
            </a:extLst>
          </p:cNvPr>
          <p:cNvSpPr txBox="1"/>
          <p:nvPr/>
        </p:nvSpPr>
        <p:spPr>
          <a:xfrm>
            <a:off x="6828519" y="538680"/>
            <a:ext cx="287186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Shàng</a:t>
            </a:r>
            <a:endParaRPr lang="en-US" sz="3600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zh-CN" altLang="en-US" sz="4800" dirty="0">
                <a:latin typeface="SimSun" panose="02010600030101010101" pitchFamily="2" charset="-122"/>
                <a:ea typeface="SimSun" panose="02010600030101010101" pitchFamily="2" charset="-122"/>
              </a:rPr>
              <a:t>上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U</a:t>
            </a:r>
            <a:r>
              <a:rPr lang="en-US" altLang="zh-CN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p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9" name="Google Shape;351;p16">
            <a:extLst>
              <a:ext uri="{FF2B5EF4-FFF2-40B4-BE49-F238E27FC236}">
                <a16:creationId xmlns:a16="http://schemas.microsoft.com/office/drawing/2014/main" id="{A62CA34B-AB1E-04F7-6E5E-EDA03A4537A0}"/>
              </a:ext>
            </a:extLst>
          </p:cNvPr>
          <p:cNvSpPr txBox="1"/>
          <p:nvPr/>
        </p:nvSpPr>
        <p:spPr>
          <a:xfrm>
            <a:off x="7235212" y="8348133"/>
            <a:ext cx="2196655" cy="18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272626"/>
              </a:buClr>
              <a:buSzPts val="3600"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xià</a:t>
            </a:r>
            <a:endParaRPr lang="en-US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zh-CN" alt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下</a:t>
            </a:r>
            <a:endParaRPr lang="en-US" altLang="zh-CN"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altLang="zh-CN" sz="4000" dirty="0">
                <a:latin typeface="SimSun" panose="02010600030101010101" pitchFamily="2" charset="-122"/>
                <a:ea typeface="SimSun" panose="02010600030101010101" pitchFamily="2" charset="-122"/>
              </a:rPr>
              <a:t>Dow</a:t>
            </a:r>
            <a:r>
              <a:rPr lang="en-US" altLang="zh-CN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n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17"/>
          <p:cNvGrpSpPr/>
          <p:nvPr/>
        </p:nvGrpSpPr>
        <p:grpSpPr>
          <a:xfrm>
            <a:off x="1676400" y="580187"/>
            <a:ext cx="15408692" cy="1981714"/>
            <a:chOff x="0" y="0"/>
            <a:chExt cx="47364712" cy="6091581"/>
          </a:xfrm>
        </p:grpSpPr>
        <p:sp>
          <p:nvSpPr>
            <p:cNvPr id="361" name="Google Shape;361;p17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sp>
        <p:nvSpPr>
          <p:cNvPr id="363" name="Google Shape;363;p17"/>
          <p:cNvSpPr txBox="1"/>
          <p:nvPr/>
        </p:nvSpPr>
        <p:spPr>
          <a:xfrm>
            <a:off x="2743200" y="1286799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拐  v.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ɡuǎi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 turn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364" name="Google Shape;364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577670" y="196385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40582" y="271054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7" descr="A picture containing text, light, traffic, building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57600" y="3351482"/>
            <a:ext cx="3987800" cy="59817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67" name="Google Shape;367;p17" descr="Icon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023542" y="4085899"/>
            <a:ext cx="2606858" cy="26068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8" name="Google Shape;368;p17"/>
          <p:cNvSpPr/>
          <p:nvPr/>
        </p:nvSpPr>
        <p:spPr>
          <a:xfrm>
            <a:off x="11582400" y="6964468"/>
            <a:ext cx="3835400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7"/>
          <p:cNvSpPr txBox="1"/>
          <p:nvPr/>
        </p:nvSpPr>
        <p:spPr>
          <a:xfrm>
            <a:off x="11910940" y="7171237"/>
            <a:ext cx="2871861" cy="188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ɡuǎi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右 拐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87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Turn right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18"/>
          <p:cNvGrpSpPr/>
          <p:nvPr/>
        </p:nvGrpSpPr>
        <p:grpSpPr>
          <a:xfrm>
            <a:off x="1524000" y="495300"/>
            <a:ext cx="15408692" cy="1981714"/>
            <a:chOff x="0" y="0"/>
            <a:chExt cx="47364712" cy="6091581"/>
          </a:xfrm>
        </p:grpSpPr>
        <p:sp>
          <p:nvSpPr>
            <p:cNvPr id="379" name="Google Shape;379;p18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18"/>
          <p:cNvSpPr txBox="1"/>
          <p:nvPr/>
        </p:nvSpPr>
        <p:spPr>
          <a:xfrm>
            <a:off x="1964304" y="1343639"/>
            <a:ext cx="1540869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56250"/>
              </a:lnSpc>
              <a:buClr>
                <a:srgbClr val="253140"/>
              </a:buClr>
              <a:buSzPts val="8000"/>
            </a:pPr>
            <a:r>
              <a:rPr lang="zh-CN" alt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办公室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n.</a:t>
            </a:r>
            <a:r>
              <a:rPr lang="en-US" sz="8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8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bàn</a:t>
            </a:r>
            <a:r>
              <a:rPr lang="en-US" sz="8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8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gōng</a:t>
            </a:r>
            <a:r>
              <a:rPr lang="en-US" sz="8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80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shì</a:t>
            </a:r>
            <a:r>
              <a:rPr lang="en-US" sz="80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office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</a:p>
        </p:txBody>
      </p:sp>
      <p:pic>
        <p:nvPicPr>
          <p:cNvPr id="382" name="Google Shape;38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488571" y="242139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64840" y="-320867"/>
            <a:ext cx="2412062" cy="1570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68;p17">
            <a:extLst>
              <a:ext uri="{FF2B5EF4-FFF2-40B4-BE49-F238E27FC236}">
                <a16:creationId xmlns:a16="http://schemas.microsoft.com/office/drawing/2014/main" id="{BB38BC26-A049-4F4D-DE67-869978773E19}"/>
              </a:ext>
            </a:extLst>
          </p:cNvPr>
          <p:cNvSpPr/>
          <p:nvPr/>
        </p:nvSpPr>
        <p:spPr>
          <a:xfrm>
            <a:off x="3022600" y="4101253"/>
            <a:ext cx="8026400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9;p17">
            <a:extLst>
              <a:ext uri="{FF2B5EF4-FFF2-40B4-BE49-F238E27FC236}">
                <a16:creationId xmlns:a16="http://schemas.microsoft.com/office/drawing/2014/main" id="{FADC17F6-3E1E-67A2-C139-4C43A065B54D}"/>
              </a:ext>
            </a:extLst>
          </p:cNvPr>
          <p:cNvSpPr txBox="1"/>
          <p:nvPr/>
        </p:nvSpPr>
        <p:spPr>
          <a:xfrm>
            <a:off x="3605140" y="4165912"/>
            <a:ext cx="6009987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72626"/>
              </a:buClr>
              <a:buSzPts val="3600"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bàngōngshì</a:t>
            </a:r>
            <a:endParaRPr lang="en-US" sz="4400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buClr>
                <a:srgbClr val="272626"/>
              </a:buClr>
              <a:buSzPts val="3600"/>
            </a:pPr>
            <a:r>
              <a:rPr lang="en-US" altLang="zh-CN" sz="44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 </a:t>
            </a:r>
            <a:r>
              <a:rPr lang="zh-CN" alt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 </a:t>
            </a:r>
            <a:r>
              <a:rPr lang="zh-CN" altLang="en-US" sz="5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办公室</a:t>
            </a:r>
            <a:endParaRPr lang="en-US" altLang="zh-CN" sz="5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72626"/>
              </a:buClr>
              <a:buSzPts val="3600"/>
            </a:pPr>
            <a:r>
              <a:rPr 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  In the office</a:t>
            </a:r>
            <a:endParaRPr sz="5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4" name="Google Shape;368;p17">
            <a:extLst>
              <a:ext uri="{FF2B5EF4-FFF2-40B4-BE49-F238E27FC236}">
                <a16:creationId xmlns:a16="http://schemas.microsoft.com/office/drawing/2014/main" id="{AD836EC2-EEE0-AE3B-F0BE-000858A31190}"/>
              </a:ext>
            </a:extLst>
          </p:cNvPr>
          <p:cNvSpPr/>
          <p:nvPr/>
        </p:nvSpPr>
        <p:spPr>
          <a:xfrm>
            <a:off x="3554020" y="7119087"/>
            <a:ext cx="12650860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9;p17">
            <a:extLst>
              <a:ext uri="{FF2B5EF4-FFF2-40B4-BE49-F238E27FC236}">
                <a16:creationId xmlns:a16="http://schemas.microsoft.com/office/drawing/2014/main" id="{84B025F2-0180-535F-16B2-1C73882E0040}"/>
              </a:ext>
            </a:extLst>
          </p:cNvPr>
          <p:cNvSpPr txBox="1"/>
          <p:nvPr/>
        </p:nvSpPr>
        <p:spPr>
          <a:xfrm>
            <a:off x="4213080" y="7154134"/>
            <a:ext cx="10430294" cy="2239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72626"/>
              </a:buClr>
              <a:buSzPts val="3600"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shī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bàngōngshì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gōng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zuò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</a:p>
          <a:p>
            <a:pPr lvl="0">
              <a:buClr>
                <a:srgbClr val="272626"/>
              </a:buClr>
              <a:buSzPts val="3600"/>
            </a:pPr>
            <a:r>
              <a:rPr lang="en-US" altLang="zh-CN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</a:t>
            </a:r>
            <a:r>
              <a:rPr lang="zh-CN" altLang="en-US" sz="5400" dirty="0"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老师  </a:t>
            </a:r>
            <a:r>
              <a:rPr lang="zh-CN" alt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  </a:t>
            </a:r>
            <a:r>
              <a:rPr lang="zh-CN" altLang="en-US" sz="5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办公室</a:t>
            </a:r>
            <a:r>
              <a:rPr lang="zh-CN" alt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工作。</a:t>
            </a:r>
            <a:endParaRPr lang="en-US" sz="5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 algn="ctr">
              <a:lnSpc>
                <a:spcPct val="87545"/>
              </a:lnSpc>
              <a:buSzPts val="4400"/>
            </a:pPr>
            <a:r>
              <a:rPr 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Teachers work in the office</a:t>
            </a:r>
            <a:endParaRPr sz="5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06304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3179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311171" y="2128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21"/>
          <p:cNvGrpSpPr/>
          <p:nvPr/>
        </p:nvGrpSpPr>
        <p:grpSpPr>
          <a:xfrm>
            <a:off x="1600200" y="451510"/>
            <a:ext cx="15408692" cy="1981714"/>
            <a:chOff x="0" y="0"/>
            <a:chExt cx="47364712" cy="6091581"/>
          </a:xfrm>
        </p:grpSpPr>
        <p:sp>
          <p:nvSpPr>
            <p:cNvPr id="427" name="Google Shape;427;p21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21"/>
          <p:cNvSpPr txBox="1"/>
          <p:nvPr/>
        </p:nvSpPr>
        <p:spPr>
          <a:xfrm>
            <a:off x="2378941" y="1172291"/>
            <a:ext cx="1160003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南边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n.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nánbiān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south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30" name="Google Shape;430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250400" y="3039641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64382" y="584337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1" descr="Arrow&#10;&#10;Description automatically generated with low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8283" y="3876358"/>
            <a:ext cx="3932526" cy="39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1"/>
          <p:cNvSpPr/>
          <p:nvPr/>
        </p:nvSpPr>
        <p:spPr>
          <a:xfrm>
            <a:off x="10934158" y="4940356"/>
            <a:ext cx="2215906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11270809" y="5074708"/>
            <a:ext cx="15426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dōnɡ</a:t>
            </a:r>
            <a:endParaRPr sz="36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东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5489508" y="4963794"/>
            <a:ext cx="2215906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5826159" y="5098146"/>
            <a:ext cx="15426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xī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西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8153400" y="7741708"/>
            <a:ext cx="2215906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8490051" y="7876060"/>
            <a:ext cx="15426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nán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南</a:t>
            </a:r>
            <a:endParaRPr sz="48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8293723" y="2077233"/>
            <a:ext cx="2215906" cy="210412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8630374" y="2211585"/>
            <a:ext cx="15426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běi</a:t>
            </a:r>
            <a:endParaRPr sz="36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北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1974313" y="-470498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177969" y="260370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22"/>
          <p:cNvGrpSpPr/>
          <p:nvPr/>
        </p:nvGrpSpPr>
        <p:grpSpPr>
          <a:xfrm>
            <a:off x="1439654" y="504179"/>
            <a:ext cx="15408692" cy="1981714"/>
            <a:chOff x="0" y="0"/>
            <a:chExt cx="47364712" cy="6091581"/>
          </a:xfrm>
        </p:grpSpPr>
        <p:sp>
          <p:nvSpPr>
            <p:cNvPr id="450" name="Google Shape;450;p22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22"/>
          <p:cNvSpPr txBox="1"/>
          <p:nvPr/>
        </p:nvSpPr>
        <p:spPr>
          <a:xfrm>
            <a:off x="1828800" y="1161327"/>
            <a:ext cx="14376400" cy="1240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十字路口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n. </a:t>
            </a:r>
            <a:r>
              <a:rPr lang="en-US" sz="72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shízìlù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72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kǒu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b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</a:b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crossroads, zebra crossing</a:t>
            </a:r>
            <a:endParaRPr sz="72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53" name="Google Shape;453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318917" y="2451080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58663" y="-840325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2" descr="A picture containing 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36394" y="2531813"/>
            <a:ext cx="7415212" cy="7415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1280540" y="-426342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99049" y="637900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23"/>
          <p:cNvGrpSpPr/>
          <p:nvPr/>
        </p:nvGrpSpPr>
        <p:grpSpPr>
          <a:xfrm>
            <a:off x="1776148" y="423434"/>
            <a:ext cx="15408692" cy="1981714"/>
            <a:chOff x="0" y="0"/>
            <a:chExt cx="47364712" cy="6091581"/>
          </a:xfrm>
        </p:grpSpPr>
        <p:sp>
          <p:nvSpPr>
            <p:cNvPr id="465" name="Google Shape;465;p23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23"/>
          <p:cNvSpPr txBox="1"/>
          <p:nvPr/>
        </p:nvSpPr>
        <p:spPr>
          <a:xfrm>
            <a:off x="2042766" y="1280002"/>
            <a:ext cx="143764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红绿灯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n.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hónɡlǜdēnɡ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6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traffic lights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68" name="Google Shape;468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154066" y="3228106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1349" y="-990981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3" descr="A picture containing diagra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80494" y="2640057"/>
            <a:ext cx="6116775" cy="6218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68;p17">
            <a:extLst>
              <a:ext uri="{FF2B5EF4-FFF2-40B4-BE49-F238E27FC236}">
                <a16:creationId xmlns:a16="http://schemas.microsoft.com/office/drawing/2014/main" id="{5B1F3FBD-8522-7B9A-721E-AA7D9927DCAF}"/>
              </a:ext>
            </a:extLst>
          </p:cNvPr>
          <p:cNvSpPr/>
          <p:nvPr/>
        </p:nvSpPr>
        <p:spPr>
          <a:xfrm>
            <a:off x="309856" y="4101253"/>
            <a:ext cx="9170638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9;p17">
            <a:extLst>
              <a:ext uri="{FF2B5EF4-FFF2-40B4-BE49-F238E27FC236}">
                <a16:creationId xmlns:a16="http://schemas.microsoft.com/office/drawing/2014/main" id="{82D0B9E7-B3B6-D362-BFD3-3722029F10AB}"/>
              </a:ext>
            </a:extLst>
          </p:cNvPr>
          <p:cNvSpPr txBox="1"/>
          <p:nvPr/>
        </p:nvSpPr>
        <p:spPr>
          <a:xfrm>
            <a:off x="1477670" y="4083468"/>
            <a:ext cx="8199729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72626"/>
              </a:buClr>
              <a:buSzPts val="3600"/>
            </a:pP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děng</a:t>
            </a:r>
            <a:r>
              <a:rPr lang="en-US" sz="44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hónglǜdēng</a:t>
            </a:r>
            <a:r>
              <a:rPr lang="en-US" altLang="zh-CN" sz="44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SimSun"/>
              </a:rPr>
              <a:t>    </a:t>
            </a:r>
          </a:p>
          <a:p>
            <a:pPr lvl="0">
              <a:buClr>
                <a:srgbClr val="272626"/>
              </a:buClr>
              <a:buSzPts val="3600"/>
            </a:pPr>
            <a:r>
              <a:rPr lang="zh-CN" alt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等   红绿灯</a:t>
            </a:r>
            <a:r>
              <a:rPr 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</a:p>
          <a:p>
            <a:pPr lvl="0">
              <a:buClr>
                <a:srgbClr val="272626"/>
              </a:buClr>
              <a:buSzPts val="3600"/>
            </a:pPr>
            <a:r>
              <a:rPr 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waiting at the traffic light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919799" y="-204447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177970" y="1227526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24"/>
          <p:cNvGrpSpPr/>
          <p:nvPr/>
        </p:nvGrpSpPr>
        <p:grpSpPr>
          <a:xfrm>
            <a:off x="1776148" y="347234"/>
            <a:ext cx="15408692" cy="1981714"/>
            <a:chOff x="0" y="0"/>
            <a:chExt cx="47364712" cy="6091581"/>
          </a:xfrm>
        </p:grpSpPr>
        <p:sp>
          <p:nvSpPr>
            <p:cNvPr id="480" name="Google Shape;480;p24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2" name="Google Shape;482;p24"/>
          <p:cNvSpPr txBox="1"/>
          <p:nvPr/>
        </p:nvSpPr>
        <p:spPr>
          <a:xfrm>
            <a:off x="2042766" y="1203802"/>
            <a:ext cx="14376400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马路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n.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mǎlù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road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83" name="Google Shape;483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327579" y="1971382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58663" y="-840325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4" descr="Shape, arrow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3240" y="2438025"/>
            <a:ext cx="7491412" cy="7491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Google Shape;368;p17">
            <a:extLst>
              <a:ext uri="{FF2B5EF4-FFF2-40B4-BE49-F238E27FC236}">
                <a16:creationId xmlns:a16="http://schemas.microsoft.com/office/drawing/2014/main" id="{5491E0C4-4B56-57EE-4F14-660054BA7A99}"/>
              </a:ext>
            </a:extLst>
          </p:cNvPr>
          <p:cNvSpPr/>
          <p:nvPr/>
        </p:nvSpPr>
        <p:spPr>
          <a:xfrm>
            <a:off x="309856" y="4101253"/>
            <a:ext cx="6598944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9;p17">
            <a:extLst>
              <a:ext uri="{FF2B5EF4-FFF2-40B4-BE49-F238E27FC236}">
                <a16:creationId xmlns:a16="http://schemas.microsoft.com/office/drawing/2014/main" id="{7ABA9EA8-54E9-A1D3-6BBE-E0677306815F}"/>
              </a:ext>
            </a:extLst>
          </p:cNvPr>
          <p:cNvSpPr txBox="1"/>
          <p:nvPr/>
        </p:nvSpPr>
        <p:spPr>
          <a:xfrm>
            <a:off x="1477671" y="4083468"/>
            <a:ext cx="5837530" cy="2277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72626"/>
              </a:buClr>
              <a:buSzPts val="3600"/>
            </a:pPr>
            <a:r>
              <a:rPr lang="en-US" altLang="zh-CN" sz="5400" dirty="0" err="1">
                <a:latin typeface="SimSun" panose="02010600030101010101" pitchFamily="2" charset="-122"/>
                <a:ea typeface="SimSun" panose="02010600030101010101" pitchFamily="2" charset="-122"/>
              </a:rPr>
              <a:t>guò</a:t>
            </a:r>
            <a:r>
              <a:rPr lang="en-US" altLang="zh-CN" sz="5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5400" dirty="0" err="1">
                <a:latin typeface="SimSun" panose="02010600030101010101" pitchFamily="2" charset="-122"/>
                <a:ea typeface="SimSun" panose="02010600030101010101" pitchFamily="2" charset="-122"/>
              </a:rPr>
              <a:t>mǎlù</a:t>
            </a:r>
            <a:endParaRPr lang="en-US" altLang="zh-CN" sz="5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72626"/>
              </a:buClr>
              <a:buSzPts val="3600"/>
            </a:pPr>
            <a:r>
              <a:rPr lang="zh-CN" alt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过  马路</a:t>
            </a:r>
            <a:endParaRPr lang="en-US" altLang="zh-CN" sz="5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272626"/>
              </a:buClr>
              <a:buSzPts val="3600"/>
            </a:pPr>
            <a:r>
              <a:rPr 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Crossing the road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8;p17">
            <a:extLst>
              <a:ext uri="{FF2B5EF4-FFF2-40B4-BE49-F238E27FC236}">
                <a16:creationId xmlns:a16="http://schemas.microsoft.com/office/drawing/2014/main" id="{74F3DB80-C142-705E-15D5-6A4DD593DA44}"/>
              </a:ext>
            </a:extLst>
          </p:cNvPr>
          <p:cNvSpPr/>
          <p:nvPr/>
        </p:nvSpPr>
        <p:spPr>
          <a:xfrm>
            <a:off x="2042765" y="3466674"/>
            <a:ext cx="6598944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8;p17">
            <a:extLst>
              <a:ext uri="{FF2B5EF4-FFF2-40B4-BE49-F238E27FC236}">
                <a16:creationId xmlns:a16="http://schemas.microsoft.com/office/drawing/2014/main" id="{4F959942-7D56-06EF-C635-927000F379CD}"/>
              </a:ext>
            </a:extLst>
          </p:cNvPr>
          <p:cNvSpPr/>
          <p:nvPr/>
        </p:nvSpPr>
        <p:spPr>
          <a:xfrm>
            <a:off x="1542619" y="5980680"/>
            <a:ext cx="9760714" cy="325346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810720" y="-146290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15047" y="1318846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25"/>
          <p:cNvGrpSpPr/>
          <p:nvPr/>
        </p:nvGrpSpPr>
        <p:grpSpPr>
          <a:xfrm>
            <a:off x="1776148" y="423434"/>
            <a:ext cx="15408692" cy="1981714"/>
            <a:chOff x="0" y="0"/>
            <a:chExt cx="47364712" cy="6091581"/>
          </a:xfrm>
        </p:grpSpPr>
        <p:sp>
          <p:nvSpPr>
            <p:cNvPr id="495" name="Google Shape;495;p25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5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25"/>
          <p:cNvSpPr txBox="1"/>
          <p:nvPr/>
        </p:nvSpPr>
        <p:spPr>
          <a:xfrm>
            <a:off x="2042765" y="1280002"/>
            <a:ext cx="14310927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楼 n. </a:t>
            </a: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endParaRPr sz="72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98" name="Google Shape;498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860143" y="204055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58663" y="-764125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452549" y="2932296"/>
            <a:ext cx="5656477" cy="54590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497;p25">
            <a:extLst>
              <a:ext uri="{FF2B5EF4-FFF2-40B4-BE49-F238E27FC236}">
                <a16:creationId xmlns:a16="http://schemas.microsoft.com/office/drawing/2014/main" id="{EF4E947F-123E-B835-F8E3-74A5B08A08B2}"/>
              </a:ext>
            </a:extLst>
          </p:cNvPr>
          <p:cNvSpPr txBox="1"/>
          <p:nvPr/>
        </p:nvSpPr>
        <p:spPr>
          <a:xfrm>
            <a:off x="3571324" y="3477003"/>
            <a:ext cx="4703584" cy="190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53140"/>
              </a:buClr>
              <a:buSzPts val="8000"/>
            </a:pP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sìlóu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zh-CN" alt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四</a:t>
            </a: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楼 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Fourth floor</a:t>
            </a:r>
            <a:endParaRPr sz="36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3" name="Google Shape;497;p25">
            <a:extLst>
              <a:ext uri="{FF2B5EF4-FFF2-40B4-BE49-F238E27FC236}">
                <a16:creationId xmlns:a16="http://schemas.microsoft.com/office/drawing/2014/main" id="{897F16F4-6747-A4CD-A8F2-5F807CA495E6}"/>
              </a:ext>
            </a:extLst>
          </p:cNvPr>
          <p:cNvSpPr txBox="1"/>
          <p:nvPr/>
        </p:nvSpPr>
        <p:spPr>
          <a:xfrm>
            <a:off x="2635151" y="6135348"/>
            <a:ext cx="757565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53140"/>
              </a:buClr>
              <a:buSzPts val="8000"/>
            </a:pP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bàngōngshìzài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sì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endParaRPr lang="en-US" sz="3600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zh-CN" alt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老师 的办公室  在 四楼。</a:t>
            </a: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The teacher's office is on the fourth floor</a:t>
            </a:r>
            <a:endParaRPr sz="36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489">
          <a:extLst>
            <a:ext uri="{FF2B5EF4-FFF2-40B4-BE49-F238E27FC236}">
              <a16:creationId xmlns:a16="http://schemas.microsoft.com/office/drawing/2014/main" id="{FB7FF667-2537-9791-118C-E0087703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8;p17">
            <a:extLst>
              <a:ext uri="{FF2B5EF4-FFF2-40B4-BE49-F238E27FC236}">
                <a16:creationId xmlns:a16="http://schemas.microsoft.com/office/drawing/2014/main" id="{31E6F4A6-9A91-8E46-7724-D21E26F8E49A}"/>
              </a:ext>
            </a:extLst>
          </p:cNvPr>
          <p:cNvSpPr/>
          <p:nvPr/>
        </p:nvSpPr>
        <p:spPr>
          <a:xfrm>
            <a:off x="2042765" y="3466674"/>
            <a:ext cx="6598944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8;p17">
            <a:extLst>
              <a:ext uri="{FF2B5EF4-FFF2-40B4-BE49-F238E27FC236}">
                <a16:creationId xmlns:a16="http://schemas.microsoft.com/office/drawing/2014/main" id="{5324D821-F499-598A-8C85-0CEEDD74A5F8}"/>
              </a:ext>
            </a:extLst>
          </p:cNvPr>
          <p:cNvSpPr/>
          <p:nvPr/>
        </p:nvSpPr>
        <p:spPr>
          <a:xfrm>
            <a:off x="2384159" y="6322225"/>
            <a:ext cx="6598944" cy="23687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25">
            <a:extLst>
              <a:ext uri="{FF2B5EF4-FFF2-40B4-BE49-F238E27FC236}">
                <a16:creationId xmlns:a16="http://schemas.microsoft.com/office/drawing/2014/main" id="{4541EB9A-54E1-A6EA-B9D0-0290366199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5">
            <a:extLst>
              <a:ext uri="{FF2B5EF4-FFF2-40B4-BE49-F238E27FC236}">
                <a16:creationId xmlns:a16="http://schemas.microsoft.com/office/drawing/2014/main" id="{521583E4-6D63-6980-2DC9-F450310E5B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5">
            <a:extLst>
              <a:ext uri="{FF2B5EF4-FFF2-40B4-BE49-F238E27FC236}">
                <a16:creationId xmlns:a16="http://schemas.microsoft.com/office/drawing/2014/main" id="{E820C698-1CC5-DF9E-7FBE-3FD7BA643E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810720" y="-146290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5">
            <a:extLst>
              <a:ext uri="{FF2B5EF4-FFF2-40B4-BE49-F238E27FC236}">
                <a16:creationId xmlns:a16="http://schemas.microsoft.com/office/drawing/2014/main" id="{A584BD26-B2F5-BE81-12D3-04623EA676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15047" y="1318846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25">
            <a:extLst>
              <a:ext uri="{FF2B5EF4-FFF2-40B4-BE49-F238E27FC236}">
                <a16:creationId xmlns:a16="http://schemas.microsoft.com/office/drawing/2014/main" id="{D056A104-9CA3-FDB8-5906-E5D59B682123}"/>
              </a:ext>
            </a:extLst>
          </p:cNvPr>
          <p:cNvGrpSpPr/>
          <p:nvPr/>
        </p:nvGrpSpPr>
        <p:grpSpPr>
          <a:xfrm>
            <a:off x="1776148" y="423434"/>
            <a:ext cx="15408692" cy="1981714"/>
            <a:chOff x="0" y="0"/>
            <a:chExt cx="47364712" cy="6091581"/>
          </a:xfrm>
        </p:grpSpPr>
        <p:sp>
          <p:nvSpPr>
            <p:cNvPr id="495" name="Google Shape;495;p25">
              <a:extLst>
                <a:ext uri="{FF2B5EF4-FFF2-40B4-BE49-F238E27FC236}">
                  <a16:creationId xmlns:a16="http://schemas.microsoft.com/office/drawing/2014/main" id="{C55DC661-FE78-C34C-AE52-945927172B65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5">
              <a:extLst>
                <a:ext uri="{FF2B5EF4-FFF2-40B4-BE49-F238E27FC236}">
                  <a16:creationId xmlns:a16="http://schemas.microsoft.com/office/drawing/2014/main" id="{7362BFBC-BD07-9D54-C052-3948EFEDD722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25">
            <a:extLst>
              <a:ext uri="{FF2B5EF4-FFF2-40B4-BE49-F238E27FC236}">
                <a16:creationId xmlns:a16="http://schemas.microsoft.com/office/drawing/2014/main" id="{C8CAADDE-56EE-3A80-2B29-7ABF8D44F3E8}"/>
              </a:ext>
            </a:extLst>
          </p:cNvPr>
          <p:cNvSpPr txBox="1"/>
          <p:nvPr/>
        </p:nvSpPr>
        <p:spPr>
          <a:xfrm>
            <a:off x="2042765" y="1280002"/>
            <a:ext cx="14310927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楼 n. </a:t>
            </a: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72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building</a:t>
            </a:r>
            <a:endParaRPr sz="72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98" name="Google Shape;498;p25">
            <a:extLst>
              <a:ext uri="{FF2B5EF4-FFF2-40B4-BE49-F238E27FC236}">
                <a16:creationId xmlns:a16="http://schemas.microsoft.com/office/drawing/2014/main" id="{0EEF2431-EE9E-8A8F-190C-15226E463EC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5860143" y="204055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5">
            <a:extLst>
              <a:ext uri="{FF2B5EF4-FFF2-40B4-BE49-F238E27FC236}">
                <a16:creationId xmlns:a16="http://schemas.microsoft.com/office/drawing/2014/main" id="{6137FA17-3D35-96E4-D947-49B5C4C8B15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58663" y="-764125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5">
            <a:extLst>
              <a:ext uri="{FF2B5EF4-FFF2-40B4-BE49-F238E27FC236}">
                <a16:creationId xmlns:a16="http://schemas.microsoft.com/office/drawing/2014/main" id="{85092C07-35E1-7C61-FE98-9CE343434D5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62689" y="3592707"/>
            <a:ext cx="5656477" cy="54590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497;p25">
            <a:extLst>
              <a:ext uri="{FF2B5EF4-FFF2-40B4-BE49-F238E27FC236}">
                <a16:creationId xmlns:a16="http://schemas.microsoft.com/office/drawing/2014/main" id="{8D5F4F63-CC4B-B9FC-F0E8-A9CF5F857DD1}"/>
              </a:ext>
            </a:extLst>
          </p:cNvPr>
          <p:cNvSpPr txBox="1"/>
          <p:nvPr/>
        </p:nvSpPr>
        <p:spPr>
          <a:xfrm>
            <a:off x="3571324" y="3477003"/>
            <a:ext cx="4703584" cy="190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53140"/>
              </a:buClr>
              <a:buSzPts val="8000"/>
            </a:pP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dàlóu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大楼</a:t>
            </a: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</a:p>
          <a:p>
            <a:pPr lvl="0">
              <a:buClr>
                <a:srgbClr val="253140"/>
              </a:buClr>
              <a:buSzPts val="8000"/>
            </a:pPr>
            <a:r>
              <a:rPr lang="en-US" sz="36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large building</a:t>
            </a:r>
            <a:endParaRPr sz="36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3" name="Google Shape;497;p25">
            <a:extLst>
              <a:ext uri="{FF2B5EF4-FFF2-40B4-BE49-F238E27FC236}">
                <a16:creationId xmlns:a16="http://schemas.microsoft.com/office/drawing/2014/main" id="{D838F5DA-C40A-03F4-154B-6CF7EFC431E5}"/>
              </a:ext>
            </a:extLst>
          </p:cNvPr>
          <p:cNvSpPr txBox="1"/>
          <p:nvPr/>
        </p:nvSpPr>
        <p:spPr>
          <a:xfrm>
            <a:off x="3331839" y="6457074"/>
            <a:ext cx="470358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53140"/>
              </a:buClr>
              <a:buSzPts val="8000"/>
            </a:pP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jiào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endParaRPr lang="en-US" sz="3600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zh-CN" alt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教学楼</a:t>
            </a:r>
            <a:endParaRPr lang="en-US" altLang="zh-CN" sz="48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buClr>
                <a:srgbClr val="253140"/>
              </a:buClr>
              <a:buSzPts val="8000"/>
            </a:pPr>
            <a:r>
              <a:rPr lang="en-US" altLang="zh-CN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</a:t>
            </a:r>
            <a:r>
              <a:rPr lang="en-US" sz="3600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eaching building</a:t>
            </a:r>
            <a:endParaRPr sz="36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503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32389">
            <a:off x="1652026" y="-167837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820163">
            <a:off x="-482064" y="103613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7" name="Google Shape;527;p27"/>
          <p:cNvGrpSpPr/>
          <p:nvPr/>
        </p:nvGrpSpPr>
        <p:grpSpPr>
          <a:xfrm>
            <a:off x="1600200" y="419100"/>
            <a:ext cx="15408692" cy="1981714"/>
            <a:chOff x="0" y="0"/>
            <a:chExt cx="47364712" cy="6091581"/>
          </a:xfrm>
        </p:grpSpPr>
        <p:sp>
          <p:nvSpPr>
            <p:cNvPr id="528" name="Google Shape;528;p27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0" name="Google Shape;530;p27"/>
          <p:cNvSpPr txBox="1"/>
          <p:nvPr/>
        </p:nvSpPr>
        <p:spPr>
          <a:xfrm>
            <a:off x="1866817" y="1275668"/>
            <a:ext cx="15388033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博物馆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n.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bówùɡuǎn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museum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31" name="Google Shape;53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61124">
            <a:off x="13092792" y="2035556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8663" y="455074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7" descr="A picture containing text, outdoo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940" y="2411143"/>
            <a:ext cx="5029200" cy="7543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34" name="Google Shape;534;p27"/>
          <p:cNvSpPr/>
          <p:nvPr/>
        </p:nvSpPr>
        <p:spPr>
          <a:xfrm>
            <a:off x="6882966" y="6939067"/>
            <a:ext cx="8978330" cy="315389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7371630" y="7236778"/>
            <a:ext cx="9524491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bówùɡuǎn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？</a:t>
            </a:r>
            <a:endParaRPr sz="2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去 </a:t>
            </a:r>
            <a:r>
              <a:rPr lang="en-US" sz="54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博物馆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走?</a:t>
            </a:r>
            <a:endParaRPr sz="2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can I get to the Museum? </a:t>
            </a:r>
            <a:endParaRPr sz="2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36" name="Google Shape;536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334074" y="6878936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072163" y="4276810"/>
            <a:ext cx="2042766" cy="27007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34;p27">
            <a:extLst>
              <a:ext uri="{FF2B5EF4-FFF2-40B4-BE49-F238E27FC236}">
                <a16:creationId xmlns:a16="http://schemas.microsoft.com/office/drawing/2014/main" id="{75F89989-4BFF-8832-EC20-4D6D4A87AE3D}"/>
              </a:ext>
            </a:extLst>
          </p:cNvPr>
          <p:cNvSpPr/>
          <p:nvPr/>
        </p:nvSpPr>
        <p:spPr>
          <a:xfrm>
            <a:off x="6908366" y="2875067"/>
            <a:ext cx="8978330" cy="315389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5;p27">
            <a:extLst>
              <a:ext uri="{FF2B5EF4-FFF2-40B4-BE49-F238E27FC236}">
                <a16:creationId xmlns:a16="http://schemas.microsoft.com/office/drawing/2014/main" id="{008FF348-8248-05DD-612D-533B9D3FE2D3}"/>
              </a:ext>
            </a:extLst>
          </p:cNvPr>
          <p:cNvSpPr txBox="1"/>
          <p:nvPr/>
        </p:nvSpPr>
        <p:spPr>
          <a:xfrm>
            <a:off x="7397030" y="3172778"/>
            <a:ext cx="9524491" cy="278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7571"/>
              </a:lnSpc>
              <a:buClr>
                <a:srgbClr val="272626"/>
              </a:buClr>
              <a:buSzPts val="2800"/>
            </a:pPr>
            <a:r>
              <a:rPr lang="en-US" sz="40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xuéxiào</a:t>
            </a:r>
            <a:r>
              <a:rPr lang="en-US" sz="40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0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bówùguǎn</a:t>
            </a:r>
            <a:r>
              <a:rPr lang="en-US" sz="40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40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40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0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nǎr</a:t>
            </a:r>
            <a:r>
              <a:rPr lang="en-US" sz="40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</a:p>
          <a:p>
            <a:pPr lvl="0">
              <a:lnSpc>
                <a:spcPct val="137571"/>
              </a:lnSpc>
              <a:buClr>
                <a:srgbClr val="272626"/>
              </a:buClr>
              <a:buSzPts val="2800"/>
            </a:pPr>
            <a:r>
              <a:rPr lang="zh-CN" alt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学校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54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博物馆</a:t>
            </a:r>
            <a:r>
              <a:rPr lang="en-US" sz="5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zh-CN" altLang="en-US" sz="5400" b="0" i="0" u="none" strike="noStrike" cap="none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在哪儿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?</a:t>
            </a:r>
            <a:endParaRPr sz="2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lnSpc>
                <a:spcPct val="107000"/>
              </a:lnSpc>
              <a:buSzPts val="3600"/>
            </a:pPr>
            <a:r>
              <a:rPr lang="en-US" sz="4800" dirty="0">
                <a:latin typeface="SimSun" panose="02010600030101010101" pitchFamily="2" charset="-122"/>
                <a:ea typeface="SimSun" panose="02010600030101010101" pitchFamily="2" charset="-122"/>
              </a:rPr>
              <a:t>Where is the school museum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? </a:t>
            </a:r>
            <a:endParaRPr sz="2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271140" y="-4693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6" name="Google Shape;546;p28"/>
          <p:cNvGrpSpPr/>
          <p:nvPr/>
        </p:nvGrpSpPr>
        <p:grpSpPr>
          <a:xfrm>
            <a:off x="1676400" y="730728"/>
            <a:ext cx="15408692" cy="1981714"/>
            <a:chOff x="0" y="0"/>
            <a:chExt cx="47364712" cy="6091581"/>
          </a:xfrm>
        </p:grpSpPr>
        <p:sp>
          <p:nvSpPr>
            <p:cNvPr id="547" name="Google Shape;547;p28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9" name="Google Shape;549;p28"/>
          <p:cNvSpPr txBox="1"/>
          <p:nvPr/>
        </p:nvSpPr>
        <p:spPr>
          <a:xfrm>
            <a:off x="2364052" y="1579067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prep.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at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50" name="Google Shape;550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412571" y="1692979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40582" y="421595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8" descr="A person in a library&#10;&#10;Description automatically generated with low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8200" y="3336592"/>
            <a:ext cx="4042209" cy="60569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53" name="Google Shape;553;p28"/>
          <p:cNvSpPr/>
          <p:nvPr/>
        </p:nvSpPr>
        <p:spPr>
          <a:xfrm>
            <a:off x="9890496" y="3619173"/>
            <a:ext cx="5459431" cy="231693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9890496" y="3730675"/>
            <a:ext cx="49685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nǎr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A:</a:t>
            </a:r>
            <a:r>
              <a:rPr lang="zh-CN" alt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哪儿？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Where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are you?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10001899" y="6478181"/>
            <a:ext cx="6037576" cy="231693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 txBox="1"/>
          <p:nvPr/>
        </p:nvSpPr>
        <p:spPr>
          <a:xfrm>
            <a:off x="10150691" y="6612525"/>
            <a:ext cx="6037576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	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túshūɡuǎn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B:</a:t>
            </a:r>
            <a:r>
              <a:rPr lang="zh-CN" alt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图书馆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I’m </a:t>
            </a:r>
            <a:r>
              <a:rPr 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at the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library.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271140" y="-4693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5" name="Google Shape;565;p29"/>
          <p:cNvGrpSpPr/>
          <p:nvPr/>
        </p:nvGrpSpPr>
        <p:grpSpPr>
          <a:xfrm>
            <a:off x="1676400" y="730728"/>
            <a:ext cx="15408692" cy="1981714"/>
            <a:chOff x="0" y="0"/>
            <a:chExt cx="47364712" cy="6091581"/>
          </a:xfrm>
        </p:grpSpPr>
        <p:sp>
          <p:nvSpPr>
            <p:cNvPr id="566" name="Google Shape;566;p29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29"/>
          <p:cNvSpPr txBox="1"/>
          <p:nvPr/>
        </p:nvSpPr>
        <p:spPr>
          <a:xfrm>
            <a:off x="2364052" y="1579067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prep.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at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69" name="Google Shape;569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412571" y="1692979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40582" y="421595"/>
            <a:ext cx="3121006" cy="2031491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9"/>
          <p:cNvSpPr/>
          <p:nvPr/>
        </p:nvSpPr>
        <p:spPr>
          <a:xfrm>
            <a:off x="4953000" y="7343189"/>
            <a:ext cx="10726711" cy="271616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9"/>
          <p:cNvSpPr txBox="1"/>
          <p:nvPr/>
        </p:nvSpPr>
        <p:spPr>
          <a:xfrm>
            <a:off x="5486401" y="7723048"/>
            <a:ext cx="974110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xuéxiào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dōnɡbiān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大使馆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学校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东边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embassy is east of school.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73" name="Google Shape;573;p29" descr="A picture containing text, roo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95501" y="3048947"/>
            <a:ext cx="4500545" cy="45005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74" name="Google Shape;574;p29" descr="A picture containing diagram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17599" y="3245134"/>
            <a:ext cx="5162979" cy="3900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2271140" y="-4693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30"/>
          <p:cNvGrpSpPr/>
          <p:nvPr/>
        </p:nvGrpSpPr>
        <p:grpSpPr>
          <a:xfrm>
            <a:off x="1676400" y="730728"/>
            <a:ext cx="15408692" cy="1981714"/>
            <a:chOff x="0" y="0"/>
            <a:chExt cx="47364712" cy="6091581"/>
          </a:xfrm>
        </p:grpSpPr>
        <p:sp>
          <p:nvSpPr>
            <p:cNvPr id="584" name="Google Shape;584;p30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30"/>
          <p:cNvSpPr txBox="1"/>
          <p:nvPr/>
        </p:nvSpPr>
        <p:spPr>
          <a:xfrm>
            <a:off x="2364052" y="1579067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prep.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at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87" name="Google Shape;587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412571" y="1692979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40582" y="421595"/>
            <a:ext cx="3121006" cy="203149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0"/>
          <p:cNvSpPr/>
          <p:nvPr/>
        </p:nvSpPr>
        <p:spPr>
          <a:xfrm>
            <a:off x="2138656" y="6682428"/>
            <a:ext cx="15212786" cy="349027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0"/>
          <p:cNvSpPr txBox="1"/>
          <p:nvPr/>
        </p:nvSpPr>
        <p:spPr>
          <a:xfrm>
            <a:off x="3142199" y="7423760"/>
            <a:ext cx="1544473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xuéxiào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hé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bówùɡuǎn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zhōnɡjiān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大使馆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在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学校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zh-TW" alt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和 博物馆 的 中间。</a:t>
            </a:r>
            <a:endParaRPr lang="zh-TW" altLang="en-US" sz="4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embassy is in between the school and the museum. </a:t>
            </a:r>
            <a:endParaRPr lang="en-US"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91" name="Google Shape;591;p30" descr="A picture containing text, roo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89562" y="3408220"/>
            <a:ext cx="3401118" cy="340111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92" name="Google Shape;592;p30" descr="A picture containing diagram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28800" y="3507280"/>
            <a:ext cx="4202401" cy="317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0" descr="A picture containing text, outdoor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139773" y="3160117"/>
            <a:ext cx="2644510" cy="39667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1905380" y="65539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147875" y="37850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" name="Google Shape;602;p31"/>
          <p:cNvGrpSpPr/>
          <p:nvPr/>
        </p:nvGrpSpPr>
        <p:grpSpPr>
          <a:xfrm>
            <a:off x="1676400" y="499633"/>
            <a:ext cx="15408692" cy="1981714"/>
            <a:chOff x="0" y="0"/>
            <a:chExt cx="47364712" cy="6091581"/>
          </a:xfrm>
        </p:grpSpPr>
        <p:sp>
          <p:nvSpPr>
            <p:cNvPr id="603" name="Google Shape;603;p31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31"/>
          <p:cNvSpPr txBox="1"/>
          <p:nvPr/>
        </p:nvSpPr>
        <p:spPr>
          <a:xfrm>
            <a:off x="2364052" y="1347972"/>
            <a:ext cx="9804399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就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adv.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jiù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then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06" name="Google Shape;606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1788493" y="1582873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40582" y="190500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1" descr="A picture containing text, roo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20600" y="3617520"/>
            <a:ext cx="4500545" cy="45005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609" name="Google Shape;609;p31"/>
          <p:cNvCxnSpPr/>
          <p:nvPr/>
        </p:nvCxnSpPr>
        <p:spPr>
          <a:xfrm>
            <a:off x="5579536" y="5875412"/>
            <a:ext cx="6520861" cy="12843"/>
          </a:xfrm>
          <a:prstGeom prst="straightConnector1">
            <a:avLst/>
          </a:prstGeom>
          <a:noFill/>
          <a:ln w="57150" cap="flat" cmpd="sng">
            <a:solidFill>
              <a:srgbClr val="4A7DBA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0" name="Google Shape;610;p31"/>
          <p:cNvSpPr/>
          <p:nvPr/>
        </p:nvSpPr>
        <p:spPr>
          <a:xfrm>
            <a:off x="1828800" y="4307420"/>
            <a:ext cx="6520861" cy="271616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1"/>
          <p:cNvSpPr txBox="1"/>
          <p:nvPr/>
        </p:nvSpPr>
        <p:spPr>
          <a:xfrm>
            <a:off x="2088486" y="4629672"/>
            <a:ext cx="601802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jiù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shì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那</a:t>
            </a:r>
            <a:r>
              <a:rPr lang="en-US" sz="48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就</a:t>
            </a:r>
            <a:r>
              <a:rPr lang="en-US" sz="48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是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大使馆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That is the embassy.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506311" y="-32071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591459" y="115767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32"/>
          <p:cNvGrpSpPr/>
          <p:nvPr/>
        </p:nvGrpSpPr>
        <p:grpSpPr>
          <a:xfrm>
            <a:off x="1418121" y="350075"/>
            <a:ext cx="15408692" cy="1981714"/>
            <a:chOff x="0" y="0"/>
            <a:chExt cx="47364712" cy="6091581"/>
          </a:xfrm>
        </p:grpSpPr>
        <p:sp>
          <p:nvSpPr>
            <p:cNvPr id="621" name="Google Shape;621;p32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Google Shape;623;p32"/>
          <p:cNvSpPr txBox="1"/>
          <p:nvPr/>
        </p:nvSpPr>
        <p:spPr>
          <a:xfrm>
            <a:off x="2105773" y="1198414"/>
            <a:ext cx="12143627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prep.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towards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24" name="Google Shape;624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2313891" y="1375259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82303" y="40942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2" descr="A picture containing text, envelop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163800" y="7243772"/>
            <a:ext cx="2700773" cy="27007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7" name="Google Shape;627;p32"/>
          <p:cNvGrpSpPr/>
          <p:nvPr/>
        </p:nvGrpSpPr>
        <p:grpSpPr>
          <a:xfrm>
            <a:off x="3651968" y="2749889"/>
            <a:ext cx="10902232" cy="7069479"/>
            <a:chOff x="0" y="0"/>
            <a:chExt cx="23364949" cy="14896719"/>
          </a:xfrm>
        </p:grpSpPr>
        <p:sp>
          <p:nvSpPr>
            <p:cNvPr id="628" name="Google Shape;628;p32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sp>
        <p:nvSpPr>
          <p:cNvPr id="630" name="Google Shape;630;p32"/>
          <p:cNvSpPr txBox="1"/>
          <p:nvPr/>
        </p:nvSpPr>
        <p:spPr>
          <a:xfrm>
            <a:off x="3748614" y="3159470"/>
            <a:ext cx="10790772" cy="62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介词“往”的用法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Usage of the preposition “</a:t>
            </a:r>
            <a:r>
              <a:rPr lang="en-US" sz="44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</a:t>
            </a: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4400" b="1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4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4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往”用来表达动作的方向</a:t>
            </a:r>
            <a:r>
              <a:rPr lang="en-US" sz="44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4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</a:t>
            </a:r>
            <a:r>
              <a:rPr lang="en-US" sz="44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is used to describe the direction where an action is taking place.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4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506311" y="-32071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591459" y="1157675"/>
            <a:ext cx="2072861" cy="13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33"/>
          <p:cNvGrpSpPr/>
          <p:nvPr/>
        </p:nvGrpSpPr>
        <p:grpSpPr>
          <a:xfrm>
            <a:off x="1418121" y="350075"/>
            <a:ext cx="15408692" cy="1981714"/>
            <a:chOff x="0" y="0"/>
            <a:chExt cx="47364712" cy="6091581"/>
          </a:xfrm>
        </p:grpSpPr>
        <p:sp>
          <p:nvSpPr>
            <p:cNvPr id="640" name="Google Shape;640;p33"/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 extrusionOk="0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 extrusionOk="0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p33"/>
          <p:cNvSpPr txBox="1"/>
          <p:nvPr/>
        </p:nvSpPr>
        <p:spPr>
          <a:xfrm>
            <a:off x="2105773" y="1198414"/>
            <a:ext cx="11600034" cy="71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8000"/>
              <a:buFont typeface="Arial"/>
              <a:buNone/>
            </a:pP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  prep. </a:t>
            </a:r>
            <a:r>
              <a:rPr lang="en-US" sz="54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80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towards</a:t>
            </a:r>
            <a:endParaRPr sz="80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43" name="Google Shape;64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3348697" y="1364662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82303" y="40942"/>
            <a:ext cx="3121006" cy="203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3" descr="A picture containing text, envelop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163800" y="7243772"/>
            <a:ext cx="2700773" cy="27007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6" name="Google Shape;646;p33"/>
          <p:cNvGrpSpPr/>
          <p:nvPr/>
        </p:nvGrpSpPr>
        <p:grpSpPr>
          <a:xfrm>
            <a:off x="3924258" y="2628900"/>
            <a:ext cx="11041723" cy="2112351"/>
            <a:chOff x="0" y="0"/>
            <a:chExt cx="23364949" cy="14896719"/>
          </a:xfrm>
        </p:grpSpPr>
        <p:sp>
          <p:nvSpPr>
            <p:cNvPr id="647" name="Google Shape;647;p33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33"/>
          <p:cNvSpPr txBox="1"/>
          <p:nvPr/>
        </p:nvSpPr>
        <p:spPr>
          <a:xfrm>
            <a:off x="4211362" y="3267005"/>
            <a:ext cx="10328024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Subject + </a:t>
            </a:r>
            <a:r>
              <a:rPr lang="en-US" sz="60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</a:t>
            </a:r>
            <a:r>
              <a:rPr lang="en-US" sz="6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+ Direction Word + Verb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1629278" y="4802408"/>
            <a:ext cx="7743322" cy="250252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3"/>
          <p:cNvSpPr txBox="1"/>
          <p:nvPr/>
        </p:nvSpPr>
        <p:spPr>
          <a:xfrm>
            <a:off x="2360474" y="5091439"/>
            <a:ext cx="6633623" cy="177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一直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1" i="0" u="sng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 东 走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Please 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head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towards the East.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52" name="Google Shape;652;p33"/>
          <p:cNvSpPr/>
          <p:nvPr/>
        </p:nvSpPr>
        <p:spPr>
          <a:xfrm>
            <a:off x="6470282" y="7424075"/>
            <a:ext cx="8069104" cy="282198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3"/>
          <p:cNvSpPr txBox="1"/>
          <p:nvPr/>
        </p:nvSpPr>
        <p:spPr>
          <a:xfrm>
            <a:off x="7454470" y="7662367"/>
            <a:ext cx="6914100" cy="237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bówùɡuǎn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zuǒ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到 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博物馆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sng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往 左 拐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Once you arrive at the museum, turn left.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506311" y="-32071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591459" y="1157675"/>
            <a:ext cx="2072861" cy="134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61124">
            <a:off x="12164206" y="682162"/>
            <a:ext cx="2530199" cy="119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82303" y="40942"/>
            <a:ext cx="3121006" cy="2031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6" name="Google Shape;666;p34"/>
          <p:cNvGrpSpPr/>
          <p:nvPr/>
        </p:nvGrpSpPr>
        <p:grpSpPr>
          <a:xfrm>
            <a:off x="2284920" y="2705100"/>
            <a:ext cx="15018389" cy="5149746"/>
            <a:chOff x="0" y="0"/>
            <a:chExt cx="23364949" cy="14896719"/>
          </a:xfrm>
        </p:grpSpPr>
        <p:sp>
          <p:nvSpPr>
            <p:cNvPr id="667" name="Google Shape;667;p34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9" name="Google Shape;669;p34"/>
          <p:cNvSpPr txBox="1"/>
          <p:nvPr/>
        </p:nvSpPr>
        <p:spPr>
          <a:xfrm>
            <a:off x="2838764" y="2949141"/>
            <a:ext cx="14464545" cy="486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怎么+Verb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的用法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Usage of “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怎么+Verb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endParaRPr sz="48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endParaRPr sz="48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用来询问动作进行的方式</a:t>
            </a: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8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Used to ask the manner in which something is done.</a:t>
            </a:r>
            <a:endParaRPr sz="4800" b="0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56" y="9124009"/>
            <a:ext cx="1518944" cy="118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2757"/>
            <a:ext cx="2042766" cy="270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32389">
            <a:off x="506311" y="-320715"/>
            <a:ext cx="2109107" cy="137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9820163">
            <a:off x="-591459" y="1157675"/>
            <a:ext cx="2072861" cy="134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82303" y="40942"/>
            <a:ext cx="3121006" cy="2031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9" name="Google Shape;679;p35"/>
          <p:cNvGrpSpPr/>
          <p:nvPr/>
        </p:nvGrpSpPr>
        <p:grpSpPr>
          <a:xfrm>
            <a:off x="6992812" y="952500"/>
            <a:ext cx="5101597" cy="1631611"/>
            <a:chOff x="0" y="0"/>
            <a:chExt cx="23364949" cy="14896719"/>
          </a:xfrm>
        </p:grpSpPr>
        <p:sp>
          <p:nvSpPr>
            <p:cNvPr id="680" name="Google Shape;680;p35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35"/>
          <p:cNvSpPr txBox="1"/>
          <p:nvPr/>
        </p:nvSpPr>
        <p:spPr>
          <a:xfrm>
            <a:off x="6096000" y="1590605"/>
            <a:ext cx="661181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6000"/>
              <a:buFont typeface="Arial"/>
              <a:buNone/>
            </a:pPr>
            <a:r>
              <a:rPr lang="en-US" sz="60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</a:t>
            </a:r>
            <a:r>
              <a:rPr lang="en-US" sz="6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+ Verb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1772424" y="3154140"/>
            <a:ext cx="6285513" cy="353147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5"/>
          <p:cNvSpPr txBox="1"/>
          <p:nvPr/>
        </p:nvSpPr>
        <p:spPr>
          <a:xfrm>
            <a:off x="2319515" y="3500851"/>
            <a:ext cx="6229136" cy="237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pínɡɡuǒ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mài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苹果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卖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much are the apples? </a:t>
            </a: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(How are they sold)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9144000" y="4560130"/>
            <a:ext cx="8769246" cy="270077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 txBox="1"/>
          <p:nvPr/>
        </p:nvSpPr>
        <p:spPr>
          <a:xfrm>
            <a:off x="10329413" y="4795510"/>
            <a:ext cx="7583833" cy="237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ɡè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Hànzì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xiě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这 个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汉字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写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do you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write this Chinese character?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5105398" y="7498542"/>
            <a:ext cx="8415729" cy="251488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 txBox="1"/>
          <p:nvPr/>
        </p:nvSpPr>
        <p:spPr>
          <a:xfrm>
            <a:off x="5616242" y="7817146"/>
            <a:ext cx="9190004" cy="177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dǎsuàn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Yīnɡɡuó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？</a:t>
            </a:r>
            <a:endParaRPr sz="28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打算</a:t>
            </a:r>
            <a:r>
              <a:rPr 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去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英国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do you plan to go to England?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89" name="Google Shape;689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811363">
            <a:off x="13008221" y="920757"/>
            <a:ext cx="2530199" cy="1196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6"/>
          <p:cNvSpPr/>
          <p:nvPr/>
        </p:nvSpPr>
        <p:spPr>
          <a:xfrm>
            <a:off x="4652785" y="4851398"/>
            <a:ext cx="989080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4053874" y="2188794"/>
            <a:ext cx="1165258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6" name="Google Shape;696;p36"/>
          <p:cNvGrpSpPr/>
          <p:nvPr/>
        </p:nvGrpSpPr>
        <p:grpSpPr>
          <a:xfrm>
            <a:off x="14392008" y="4359322"/>
            <a:ext cx="3256616" cy="2960586"/>
            <a:chOff x="0" y="0"/>
            <a:chExt cx="21734321" cy="9100533"/>
          </a:xfrm>
        </p:grpSpPr>
        <p:sp>
          <p:nvSpPr>
            <p:cNvPr id="697" name="Google Shape;697;p36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9" name="Google Shape;69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16574984" y="3378132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79454" y="4348108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39260" y="199387"/>
            <a:ext cx="4808095" cy="1550172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6"/>
          <p:cNvSpPr txBox="1"/>
          <p:nvPr/>
        </p:nvSpPr>
        <p:spPr>
          <a:xfrm>
            <a:off x="6781800" y="207007"/>
            <a:ext cx="53919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p36"/>
          <p:cNvGrpSpPr/>
          <p:nvPr/>
        </p:nvGrpSpPr>
        <p:grpSpPr>
          <a:xfrm>
            <a:off x="914400" y="1749559"/>
            <a:ext cx="3256616" cy="2960586"/>
            <a:chOff x="0" y="0"/>
            <a:chExt cx="21734321" cy="9100533"/>
          </a:xfrm>
        </p:grpSpPr>
        <p:sp>
          <p:nvSpPr>
            <p:cNvPr id="704" name="Google Shape;704;p36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06" name="Google Shape;706;p36" descr="A picture containing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2019" y="1738441"/>
            <a:ext cx="2961375" cy="29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132685">
            <a:off x="314666" y="1300034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779287">
            <a:off x="3632016" y="3908101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36"/>
          <p:cNvSpPr txBox="1"/>
          <p:nvPr/>
        </p:nvSpPr>
        <p:spPr>
          <a:xfrm>
            <a:off x="4309119" y="2406248"/>
            <a:ext cx="11230675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Qǐnɡwèn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Wánɡ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bànɡōnɡshì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nǎr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平：请问，王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老师的办公室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在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哪儿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10" name="Google Shape;710;p36"/>
          <p:cNvSpPr txBox="1"/>
          <p:nvPr/>
        </p:nvSpPr>
        <p:spPr>
          <a:xfrm>
            <a:off x="5029199" y="5068851"/>
            <a:ext cx="9328053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E-</a:t>
            </a:r>
            <a:r>
              <a:rPr lang="en-US" altLang="zh-CN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è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lóu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ǔ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jiǔ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 雅： 在 E2 楼 4 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楼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1 5 9  号。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4063128" y="7446439"/>
            <a:ext cx="561873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2" name="Google Shape;712;p36"/>
          <p:cNvGrpSpPr/>
          <p:nvPr/>
        </p:nvGrpSpPr>
        <p:grpSpPr>
          <a:xfrm>
            <a:off x="923654" y="7007204"/>
            <a:ext cx="3256616" cy="2960586"/>
            <a:chOff x="0" y="0"/>
            <a:chExt cx="21734321" cy="9100533"/>
          </a:xfrm>
        </p:grpSpPr>
        <p:sp>
          <p:nvSpPr>
            <p:cNvPr id="713" name="Google Shape;713;p36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5" name="Google Shape;715;p36" descr="A picture containing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1273" y="6996086"/>
            <a:ext cx="2961375" cy="29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779287">
            <a:off x="3641270" y="9165746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6"/>
          <p:cNvSpPr txBox="1"/>
          <p:nvPr/>
        </p:nvSpPr>
        <p:spPr>
          <a:xfrm>
            <a:off x="4318373" y="7663892"/>
            <a:ext cx="5889929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ne？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平：怎么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走 呢？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18" name="Google Shape;718;p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951268" y="6497857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132685">
            <a:off x="314665" y="6557681"/>
            <a:ext cx="1945531" cy="919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"/>
          <p:cNvSpPr/>
          <p:nvPr/>
        </p:nvSpPr>
        <p:spPr>
          <a:xfrm>
            <a:off x="3917163" y="2185260"/>
            <a:ext cx="12246963" cy="3569411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5" name="Google Shape;725;p37"/>
          <p:cNvGrpSpPr/>
          <p:nvPr/>
        </p:nvGrpSpPr>
        <p:grpSpPr>
          <a:xfrm>
            <a:off x="904360" y="1763709"/>
            <a:ext cx="3256616" cy="2960586"/>
            <a:chOff x="0" y="0"/>
            <a:chExt cx="21734321" cy="9100533"/>
          </a:xfrm>
        </p:grpSpPr>
        <p:sp>
          <p:nvSpPr>
            <p:cNvPr id="726" name="Google Shape;726;p37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8" name="Google Shape;72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3087336" y="78251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1806" y="1752495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47708" y="22324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7"/>
          <p:cNvSpPr txBox="1"/>
          <p:nvPr/>
        </p:nvSpPr>
        <p:spPr>
          <a:xfrm>
            <a:off x="13800108" y="230866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7"/>
          <p:cNvSpPr txBox="1"/>
          <p:nvPr/>
        </p:nvSpPr>
        <p:spPr>
          <a:xfrm>
            <a:off x="4293577" y="2403868"/>
            <a:ext cx="12927597" cy="3730252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雅：你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从	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一直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往前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走 ，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jiàoxuélóu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ɡuǎi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bànɡōnɡshì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túshūɡuǎn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nánbiān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到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教学楼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往 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拐，办公室在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图书馆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南边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10210800" y="7384386"/>
            <a:ext cx="411807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4" name="Google Shape;734;p37"/>
          <p:cNvGrpSpPr/>
          <p:nvPr/>
        </p:nvGrpSpPr>
        <p:grpSpPr>
          <a:xfrm>
            <a:off x="14224066" y="6602418"/>
            <a:ext cx="3256616" cy="2960586"/>
            <a:chOff x="0" y="0"/>
            <a:chExt cx="21734321" cy="9100533"/>
          </a:xfrm>
        </p:grpSpPr>
        <p:sp>
          <p:nvSpPr>
            <p:cNvPr id="735" name="Google Shape;735;p37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7" name="Google Shape;737;p37" descr="A picture containing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71685" y="6591300"/>
            <a:ext cx="2961375" cy="29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79287">
            <a:off x="16941682" y="8760960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7"/>
          <p:cNvSpPr txBox="1"/>
          <p:nvPr/>
        </p:nvSpPr>
        <p:spPr>
          <a:xfrm>
            <a:off x="10210800" y="7601849"/>
            <a:ext cx="4118100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i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Xièxie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平：谢谢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40" name="Google Shape;740;p3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620" y="3902244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3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2132685">
            <a:off x="13615077" y="6258576"/>
            <a:ext cx="1945531" cy="919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8"/>
          <p:cNvSpPr/>
          <p:nvPr/>
        </p:nvSpPr>
        <p:spPr>
          <a:xfrm>
            <a:off x="5410200" y="6428517"/>
            <a:ext cx="913278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8"/>
          <p:cNvSpPr/>
          <p:nvPr/>
        </p:nvSpPr>
        <p:spPr>
          <a:xfrm>
            <a:off x="4053874" y="2851513"/>
            <a:ext cx="8754679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38"/>
          <p:cNvGrpSpPr/>
          <p:nvPr/>
        </p:nvGrpSpPr>
        <p:grpSpPr>
          <a:xfrm>
            <a:off x="14392008" y="5936441"/>
            <a:ext cx="3256616" cy="2960586"/>
            <a:chOff x="0" y="0"/>
            <a:chExt cx="21734321" cy="9100533"/>
          </a:xfrm>
        </p:grpSpPr>
        <p:sp>
          <p:nvSpPr>
            <p:cNvPr id="749" name="Google Shape;749;p38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8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1" name="Google Shape;75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16574984" y="4955251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47708" y="15173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8"/>
          <p:cNvSpPr txBox="1"/>
          <p:nvPr/>
        </p:nvSpPr>
        <p:spPr>
          <a:xfrm>
            <a:off x="13800108" y="15935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38"/>
          <p:cNvGrpSpPr/>
          <p:nvPr/>
        </p:nvGrpSpPr>
        <p:grpSpPr>
          <a:xfrm>
            <a:off x="914400" y="2412278"/>
            <a:ext cx="3256616" cy="2960586"/>
            <a:chOff x="0" y="0"/>
            <a:chExt cx="21734321" cy="9100533"/>
          </a:xfrm>
        </p:grpSpPr>
        <p:sp>
          <p:nvSpPr>
            <p:cNvPr id="755" name="Google Shape;755;p38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7" name="Google Shape;757;p38" descr="A picture containing dol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2019" y="2401160"/>
            <a:ext cx="2961375" cy="29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132685">
            <a:off x="314666" y="1962753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79287">
            <a:off x="3632016" y="4570820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38"/>
          <p:cNvSpPr txBox="1"/>
          <p:nvPr/>
        </p:nvSpPr>
        <p:spPr>
          <a:xfrm>
            <a:off x="4309120" y="3068967"/>
            <a:ext cx="11151162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！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Wánɡ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平：您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好 ！王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老师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在 吗？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61" name="Google Shape;761;p38"/>
          <p:cNvSpPr txBox="1"/>
          <p:nvPr/>
        </p:nvSpPr>
        <p:spPr>
          <a:xfrm>
            <a:off x="4309120" y="6827583"/>
            <a:ext cx="10702880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túshūɡuǎn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秘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书：不在，他去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图书馆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62" name="Google Shape;762;p38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17169" y="5982985"/>
            <a:ext cx="2881890" cy="288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3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951268" y="8074976"/>
            <a:ext cx="1060826" cy="110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"/>
          <p:cNvSpPr/>
          <p:nvPr/>
        </p:nvSpPr>
        <p:spPr>
          <a:xfrm>
            <a:off x="8305800" y="6133095"/>
            <a:ext cx="463341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9"/>
          <p:cNvSpPr/>
          <p:nvPr/>
        </p:nvSpPr>
        <p:spPr>
          <a:xfrm>
            <a:off x="5349274" y="2851513"/>
            <a:ext cx="402652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0" name="Google Shape;770;p39"/>
          <p:cNvGrpSpPr/>
          <p:nvPr/>
        </p:nvGrpSpPr>
        <p:grpSpPr>
          <a:xfrm>
            <a:off x="12791808" y="5641019"/>
            <a:ext cx="3256616" cy="2960586"/>
            <a:chOff x="0" y="0"/>
            <a:chExt cx="21734321" cy="9100533"/>
          </a:xfrm>
        </p:grpSpPr>
        <p:sp>
          <p:nvSpPr>
            <p:cNvPr id="771" name="Google Shape;771;p39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3" name="Google Shape;77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14974784" y="465982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47708" y="15173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9"/>
          <p:cNvSpPr txBox="1"/>
          <p:nvPr/>
        </p:nvSpPr>
        <p:spPr>
          <a:xfrm>
            <a:off x="13800108" y="15935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p39"/>
          <p:cNvGrpSpPr/>
          <p:nvPr/>
        </p:nvGrpSpPr>
        <p:grpSpPr>
          <a:xfrm>
            <a:off x="2209800" y="2412278"/>
            <a:ext cx="3256616" cy="2960586"/>
            <a:chOff x="0" y="0"/>
            <a:chExt cx="21734321" cy="9100533"/>
          </a:xfrm>
        </p:grpSpPr>
        <p:sp>
          <p:nvSpPr>
            <p:cNvPr id="777" name="Google Shape;777;p39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9" name="Google Shape;779;p39" descr="A picture containing dol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57419" y="2401160"/>
            <a:ext cx="2961375" cy="29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132685">
            <a:off x="1382276" y="2118117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79287">
            <a:off x="4927416" y="4570820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9"/>
          <p:cNvSpPr txBox="1"/>
          <p:nvPr/>
        </p:nvSpPr>
        <p:spPr>
          <a:xfrm>
            <a:off x="5604526" y="3068975"/>
            <a:ext cx="4564318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Xièxie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平：谢谢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83" name="Google Shape;783;p39"/>
          <p:cNvSpPr txBox="1"/>
          <p:nvPr/>
        </p:nvSpPr>
        <p:spPr>
          <a:xfrm>
            <a:off x="8174604" y="6350550"/>
            <a:ext cx="5069496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qi.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秘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书：不客气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84" name="Google Shape;784;p39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016969" y="5687563"/>
            <a:ext cx="2881890" cy="288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51068" y="7779554"/>
            <a:ext cx="1060826" cy="110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0"/>
          <p:cNvSpPr/>
          <p:nvPr/>
        </p:nvSpPr>
        <p:spPr>
          <a:xfrm>
            <a:off x="3954546" y="2634736"/>
            <a:ext cx="10645491" cy="192503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1" name="Google Shape;791;p40"/>
          <p:cNvGrpSpPr/>
          <p:nvPr/>
        </p:nvGrpSpPr>
        <p:grpSpPr>
          <a:xfrm>
            <a:off x="941743" y="2212019"/>
            <a:ext cx="3256616" cy="2960586"/>
            <a:chOff x="0" y="0"/>
            <a:chExt cx="21734321" cy="9100533"/>
          </a:xfrm>
        </p:grpSpPr>
        <p:sp>
          <p:nvSpPr>
            <p:cNvPr id="792" name="Google Shape;792;p40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4" name="Google Shape;79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3124719" y="123082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189" y="2200805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2800" y="371693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40"/>
          <p:cNvSpPr txBox="1"/>
          <p:nvPr/>
        </p:nvSpPr>
        <p:spPr>
          <a:xfrm>
            <a:off x="7315200" y="379313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0"/>
          <p:cNvSpPr txBox="1"/>
          <p:nvPr/>
        </p:nvSpPr>
        <p:spPr>
          <a:xfrm>
            <a:off x="4330960" y="2852178"/>
            <a:ext cx="12219489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Qǐnɡwèn，Zhōnɡɡuó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i</a:t>
            </a:r>
            <a:r>
              <a:rPr lang="en-US" altLang="zh-CN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ǎ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？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菲雅：请问，中国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大使馆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在哪儿？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99" name="Google Shape;799;p40"/>
          <p:cNvSpPr/>
          <p:nvPr/>
        </p:nvSpPr>
        <p:spPr>
          <a:xfrm>
            <a:off x="2399583" y="5651542"/>
            <a:ext cx="12018181" cy="3523219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0" name="Google Shape;800;p40"/>
          <p:cNvGrpSpPr/>
          <p:nvPr/>
        </p:nvGrpSpPr>
        <p:grpSpPr>
          <a:xfrm>
            <a:off x="14306686" y="4870694"/>
            <a:ext cx="3256616" cy="2960586"/>
            <a:chOff x="0" y="0"/>
            <a:chExt cx="21734321" cy="9100533"/>
          </a:xfrm>
        </p:grpSpPr>
        <p:sp>
          <p:nvSpPr>
            <p:cNvPr id="801" name="Google Shape;801;p40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3" name="Google Shape;803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79287">
            <a:off x="17024302" y="7029236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0"/>
          <p:cNvSpPr txBox="1"/>
          <p:nvPr/>
        </p:nvSpPr>
        <p:spPr>
          <a:xfrm>
            <a:off x="2897498" y="6480588"/>
            <a:ext cx="11065490" cy="208307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lù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Zhōnɡɡuó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bówùɡuǎn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dōnɡbiān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路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人：中国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大使馆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在 </a:t>
            </a:r>
            <a:r>
              <a:rPr lang="en-US" sz="4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博物馆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东边</a:t>
            </a:r>
            <a:r>
              <a:rPr lang="zh-CN" altLang="en-US" sz="4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805" name="Google Shape;805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03" y="4350554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2132685">
            <a:off x="13697697" y="4526852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40" descr="A picture containing doll, toy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491570" y="4901538"/>
            <a:ext cx="2919413" cy="291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1"/>
          <p:cNvSpPr/>
          <p:nvPr/>
        </p:nvSpPr>
        <p:spPr>
          <a:xfrm>
            <a:off x="3954547" y="2634736"/>
            <a:ext cx="7176353" cy="192503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3" name="Google Shape;813;p41"/>
          <p:cNvGrpSpPr/>
          <p:nvPr/>
        </p:nvGrpSpPr>
        <p:grpSpPr>
          <a:xfrm>
            <a:off x="941743" y="2212019"/>
            <a:ext cx="3256616" cy="2960586"/>
            <a:chOff x="0" y="0"/>
            <a:chExt cx="21734321" cy="9100533"/>
          </a:xfrm>
        </p:grpSpPr>
        <p:sp>
          <p:nvSpPr>
            <p:cNvPr id="814" name="Google Shape;814;p41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1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6" name="Google Shape;81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3124719" y="123082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189" y="2200805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25787" y="22883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1"/>
          <p:cNvSpPr txBox="1"/>
          <p:nvPr/>
        </p:nvSpPr>
        <p:spPr>
          <a:xfrm>
            <a:off x="13678187" y="23645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1"/>
          <p:cNvSpPr txBox="1"/>
          <p:nvPr/>
        </p:nvSpPr>
        <p:spPr>
          <a:xfrm>
            <a:off x="4246651" y="2719146"/>
            <a:ext cx="10559596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Zhōnɡɡuó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í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菲雅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中国大使馆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离这儿有多远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21" name="Google Shape;821;p41"/>
          <p:cNvSpPr/>
          <p:nvPr/>
        </p:nvSpPr>
        <p:spPr>
          <a:xfrm>
            <a:off x="2399583" y="5652673"/>
            <a:ext cx="12018181" cy="192724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2" name="Google Shape;822;p41"/>
          <p:cNvGrpSpPr/>
          <p:nvPr/>
        </p:nvGrpSpPr>
        <p:grpSpPr>
          <a:xfrm>
            <a:off x="14306686" y="4870694"/>
            <a:ext cx="3256616" cy="2960586"/>
            <a:chOff x="0" y="0"/>
            <a:chExt cx="21734321" cy="9100533"/>
          </a:xfrm>
        </p:grpSpPr>
        <p:sp>
          <p:nvSpPr>
            <p:cNvPr id="823" name="Google Shape;823;p41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1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5" name="Google Shape;825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79287">
            <a:off x="17024302" y="7029236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1"/>
          <p:cNvSpPr txBox="1"/>
          <p:nvPr/>
        </p:nvSpPr>
        <p:spPr>
          <a:xfrm>
            <a:off x="2633471" y="5870116"/>
            <a:ext cx="11469949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dàɡài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路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人：从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这儿到</a:t>
            </a:r>
            <a:r>
              <a:rPr lang="zh-CN" alt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大使馆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大概七八百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米。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827" name="Google Shape;827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03" y="4350554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2132685">
            <a:off x="13697697" y="4526852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41" descr="A picture containing doll, toy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491570" y="4901538"/>
            <a:ext cx="2919413" cy="291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2"/>
          <p:cNvSpPr/>
          <p:nvPr/>
        </p:nvSpPr>
        <p:spPr>
          <a:xfrm>
            <a:off x="3954547" y="1000414"/>
            <a:ext cx="5651141" cy="192503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5" name="Google Shape;835;p42"/>
          <p:cNvGrpSpPr/>
          <p:nvPr/>
        </p:nvGrpSpPr>
        <p:grpSpPr>
          <a:xfrm>
            <a:off x="941743" y="577697"/>
            <a:ext cx="3256616" cy="2960586"/>
            <a:chOff x="0" y="0"/>
            <a:chExt cx="21734321" cy="9100533"/>
          </a:xfrm>
        </p:grpSpPr>
        <p:sp>
          <p:nvSpPr>
            <p:cNvPr id="836" name="Google Shape;836;p42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8" name="Google Shape;83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3124719" y="1162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189" y="566483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25787" y="22883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2"/>
          <p:cNvSpPr txBox="1"/>
          <p:nvPr/>
        </p:nvSpPr>
        <p:spPr>
          <a:xfrm>
            <a:off x="13678187" y="23645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2"/>
          <p:cNvSpPr txBox="1"/>
          <p:nvPr/>
        </p:nvSpPr>
        <p:spPr>
          <a:xfrm>
            <a:off x="4330961" y="1217856"/>
            <a:ext cx="5651141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ne?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雅：怎么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走 呢？ 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43" name="Google Shape;843;p42"/>
          <p:cNvSpPr/>
          <p:nvPr/>
        </p:nvSpPr>
        <p:spPr>
          <a:xfrm>
            <a:off x="1119364" y="3745396"/>
            <a:ext cx="13309598" cy="6713311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4" name="Google Shape;844;p42"/>
          <p:cNvGrpSpPr/>
          <p:nvPr/>
        </p:nvGrpSpPr>
        <p:grpSpPr>
          <a:xfrm>
            <a:off x="15188690" y="4214561"/>
            <a:ext cx="3256616" cy="2960586"/>
            <a:chOff x="0" y="0"/>
            <a:chExt cx="21734321" cy="9100533"/>
          </a:xfrm>
        </p:grpSpPr>
        <p:sp>
          <p:nvSpPr>
            <p:cNvPr id="845" name="Google Shape;845;p42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7" name="Google Shape;847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79287">
            <a:off x="17024302" y="6373103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42"/>
          <p:cNvSpPr txBox="1"/>
          <p:nvPr/>
        </p:nvSpPr>
        <p:spPr>
          <a:xfrm>
            <a:off x="1229189" y="4685115"/>
            <a:ext cx="13309599" cy="295465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lù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dōnɡzǒu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shízìlùkǒu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wǎnɡ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zuǒ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ɡuǎi</a:t>
            </a:r>
            <a:endParaRPr sz="2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路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人：你从这儿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一直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往东走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，到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十字路口往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左  拐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>
              <a:lnSpc>
                <a:spcPct val="150000"/>
              </a:lnSpc>
              <a:buClr>
                <a:srgbClr val="2E2F30"/>
              </a:buClr>
              <a:buSzPts val="2800"/>
            </a:pP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</a:t>
            </a:r>
            <a:r>
              <a:rPr lang="en-US" altLang="zh-CN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wǎnɡ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qián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zǒu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dàɡài</a:t>
            </a:r>
            <a:r>
              <a:rPr lang="en-US" sz="24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sānbǎi</a:t>
            </a:r>
            <a:r>
              <a:rPr lang="en-US" sz="240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mǐ</a:t>
            </a:r>
            <a:r>
              <a:rPr lang="en-US" sz="1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,     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báisè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dàlóu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jiù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shì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Zhōnɡɡuó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dàshǐɡuǎn</a:t>
            </a:r>
            <a:r>
              <a:rPr lang="en-US" sz="2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lang="en-US"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lvl="0">
              <a:lnSpc>
                <a:spcPct val="150000"/>
              </a:lnSpc>
              <a:buClr>
                <a:srgbClr val="2E2F30"/>
              </a:buClr>
              <a:buSzPts val="2800"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zh-CN" alt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往前走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大概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三百米</a:t>
            </a:r>
            <a:r>
              <a:rPr lang="zh-CN" alt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0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白色大楼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就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是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中国大使馆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849" name="Google Shape;849;p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03" y="2716232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4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2132685">
            <a:off x="14169419" y="3873231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2" descr="A picture containing doll, toy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184213" y="4214561"/>
            <a:ext cx="2919413" cy="291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3"/>
          <p:cNvSpPr/>
          <p:nvPr/>
        </p:nvSpPr>
        <p:spPr>
          <a:xfrm>
            <a:off x="3954547" y="2743105"/>
            <a:ext cx="5041056" cy="192503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7" name="Google Shape;857;p43"/>
          <p:cNvGrpSpPr/>
          <p:nvPr/>
        </p:nvGrpSpPr>
        <p:grpSpPr>
          <a:xfrm>
            <a:off x="941743" y="2320388"/>
            <a:ext cx="3256616" cy="2960586"/>
            <a:chOff x="0" y="0"/>
            <a:chExt cx="21734321" cy="9100533"/>
          </a:xfrm>
        </p:grpSpPr>
        <p:sp>
          <p:nvSpPr>
            <p:cNvPr id="858" name="Google Shape;858;p43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0" name="Google Shape;86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141530">
            <a:off x="3124719" y="1230829"/>
            <a:ext cx="1516275" cy="16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189" y="2309174"/>
            <a:ext cx="2983706" cy="298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25787" y="22883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3"/>
          <p:cNvSpPr txBox="1"/>
          <p:nvPr/>
        </p:nvSpPr>
        <p:spPr>
          <a:xfrm>
            <a:off x="13678187" y="23645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4330961" y="2960547"/>
            <a:ext cx="5303893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Xièxie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菲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雅：谢谢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你！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5" name="Google Shape;865;p43"/>
          <p:cNvSpPr/>
          <p:nvPr/>
        </p:nvSpPr>
        <p:spPr>
          <a:xfrm>
            <a:off x="9996527" y="5761042"/>
            <a:ext cx="4415199" cy="192724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43"/>
          <p:cNvGrpSpPr/>
          <p:nvPr/>
        </p:nvGrpSpPr>
        <p:grpSpPr>
          <a:xfrm>
            <a:off x="14306686" y="4979063"/>
            <a:ext cx="3256616" cy="2960586"/>
            <a:chOff x="0" y="0"/>
            <a:chExt cx="21734321" cy="9100533"/>
          </a:xfrm>
        </p:grpSpPr>
        <p:sp>
          <p:nvSpPr>
            <p:cNvPr id="867" name="Google Shape;867;p43"/>
            <p:cNvSpPr/>
            <p:nvPr/>
          </p:nvSpPr>
          <p:spPr>
            <a:xfrm>
              <a:off x="31750" y="31750"/>
              <a:ext cx="21670821" cy="9037033"/>
            </a:xfrm>
            <a:custGeom>
              <a:avLst/>
              <a:gdLst/>
              <a:ahLst/>
              <a:cxnLst/>
              <a:rect l="l" t="t" r="r" b="b"/>
              <a:pathLst>
                <a:path w="21670821" h="9037033" extrusionOk="0">
                  <a:moveTo>
                    <a:pt x="21578111" y="9037033"/>
                  </a:moveTo>
                  <a:lnTo>
                    <a:pt x="92710" y="9037033"/>
                  </a:lnTo>
                  <a:cubicBezTo>
                    <a:pt x="41910" y="9037033"/>
                    <a:pt x="0" y="8995123"/>
                    <a:pt x="0" y="894432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76841" y="0"/>
                  </a:lnTo>
                  <a:cubicBezTo>
                    <a:pt x="21627641" y="0"/>
                    <a:pt x="21669552" y="41910"/>
                    <a:pt x="21669552" y="92710"/>
                  </a:cubicBezTo>
                  <a:lnTo>
                    <a:pt x="21669552" y="8943053"/>
                  </a:lnTo>
                  <a:cubicBezTo>
                    <a:pt x="21670821" y="8995123"/>
                    <a:pt x="21628911" y="9037033"/>
                    <a:pt x="21578111" y="9037033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0" y="0"/>
              <a:ext cx="21734321" cy="9100533"/>
            </a:xfrm>
            <a:custGeom>
              <a:avLst/>
              <a:gdLst/>
              <a:ahLst/>
              <a:cxnLst/>
              <a:rect l="l" t="t" r="r" b="b"/>
              <a:pathLst>
                <a:path w="21734321" h="9100533" extrusionOk="0">
                  <a:moveTo>
                    <a:pt x="21609861" y="59690"/>
                  </a:moveTo>
                  <a:cubicBezTo>
                    <a:pt x="21645421" y="59690"/>
                    <a:pt x="21674632" y="88900"/>
                    <a:pt x="21674632" y="124460"/>
                  </a:cubicBezTo>
                  <a:lnTo>
                    <a:pt x="21674632" y="8976073"/>
                  </a:lnTo>
                  <a:cubicBezTo>
                    <a:pt x="21674632" y="9011633"/>
                    <a:pt x="21645421" y="9040843"/>
                    <a:pt x="21609861" y="9040843"/>
                  </a:cubicBezTo>
                  <a:lnTo>
                    <a:pt x="124460" y="9040843"/>
                  </a:lnTo>
                  <a:cubicBezTo>
                    <a:pt x="88900" y="9040843"/>
                    <a:pt x="59690" y="9011633"/>
                    <a:pt x="59690" y="89760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609861" y="59690"/>
                  </a:lnTo>
                  <a:moveTo>
                    <a:pt x="2160986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76073"/>
                  </a:lnTo>
                  <a:cubicBezTo>
                    <a:pt x="0" y="9044653"/>
                    <a:pt x="55880" y="9100533"/>
                    <a:pt x="124460" y="9100533"/>
                  </a:cubicBezTo>
                  <a:lnTo>
                    <a:pt x="21609861" y="9100533"/>
                  </a:lnTo>
                  <a:cubicBezTo>
                    <a:pt x="21678441" y="9100533"/>
                    <a:pt x="21734321" y="9044653"/>
                    <a:pt x="21734321" y="8976073"/>
                  </a:cubicBezTo>
                  <a:lnTo>
                    <a:pt x="21734321" y="124460"/>
                  </a:lnTo>
                  <a:cubicBezTo>
                    <a:pt x="21734321" y="55880"/>
                    <a:pt x="21678441" y="0"/>
                    <a:pt x="21609861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9" name="Google Shape;869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79287">
            <a:off x="17024302" y="7137605"/>
            <a:ext cx="782758" cy="978448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43"/>
          <p:cNvSpPr txBox="1"/>
          <p:nvPr/>
        </p:nvSpPr>
        <p:spPr>
          <a:xfrm>
            <a:off x="9834201" y="5978485"/>
            <a:ext cx="4415199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qi.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路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人：不客气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871" name="Google Shape;871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03" y="4458923"/>
            <a:ext cx="1060826" cy="110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4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2132685">
            <a:off x="13697697" y="4635221"/>
            <a:ext cx="1945531" cy="91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43" descr="A picture containing doll, toy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491570" y="5009907"/>
            <a:ext cx="2919413" cy="291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8FA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15103">
            <a:off x="16835506" y="101732"/>
            <a:ext cx="1431242" cy="9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194286">
            <a:off x="14926749" y="3347706"/>
            <a:ext cx="2213151" cy="144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112012">
            <a:off x="1060174" y="3205198"/>
            <a:ext cx="1680529" cy="1570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893489">
            <a:off x="8689011" y="3418608"/>
            <a:ext cx="1315116" cy="13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44"/>
          <p:cNvSpPr txBox="1"/>
          <p:nvPr/>
        </p:nvSpPr>
        <p:spPr>
          <a:xfrm>
            <a:off x="13809911" y="392683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4"/>
          <p:cNvSpPr txBox="1"/>
          <p:nvPr/>
        </p:nvSpPr>
        <p:spPr>
          <a:xfrm>
            <a:off x="6277097" y="1214378"/>
            <a:ext cx="5583582" cy="186358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</a:t>
            </a: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4" name="Google Shape;884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048687">
            <a:off x="9770995" y="1117527"/>
            <a:ext cx="2309052" cy="499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10200" y="1178528"/>
            <a:ext cx="1273432" cy="1989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6" name="Google Shape;886;p44"/>
          <p:cNvGraphicFramePr/>
          <p:nvPr>
            <p:extLst>
              <p:ext uri="{D42A27DB-BD31-4B8C-83A1-F6EECF244321}">
                <p14:modId xmlns:p14="http://schemas.microsoft.com/office/powerpoint/2010/main" val="2463227407"/>
              </p:ext>
            </p:extLst>
          </p:nvPr>
        </p:nvGraphicFramePr>
        <p:xfrm>
          <a:off x="1714499" y="4591516"/>
          <a:ext cx="14859000" cy="4313075"/>
        </p:xfrm>
        <a:graphic>
          <a:graphicData uri="http://schemas.openxmlformats.org/drawingml/2006/table">
            <a:tbl>
              <a:tblPr>
                <a:noFill/>
                <a:tableStyleId>{3DEB9D19-92FF-4CFB-9B93-1A25CCB658F4}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4625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zěnme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怎么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zěnme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mài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怎么  卖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zěnme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qù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怎么  去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zěnme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dú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怎么  读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9225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qián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 前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dōnɡ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东  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nán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南 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xī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西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9225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běi</a:t>
                      </a:r>
                      <a:r>
                        <a:rPr 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3600" u="none" strike="noStrike" cap="none" dirty="0"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北   走</a:t>
                      </a: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zuǒ</a:t>
                      </a:r>
                      <a:r>
                        <a:rPr 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TW" alt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左  走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wǎnɡ</a:t>
                      </a:r>
                      <a:r>
                        <a:rPr 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yòu</a:t>
                      </a:r>
                      <a:r>
                        <a:rPr 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r>
                        <a:rPr lang="en-US" sz="36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zǒu</a:t>
                      </a:r>
                      <a:endParaRPr lang="en-US" sz="36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TW" altLang="en-US" sz="36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往    右  走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24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87" name="Google Shape;887;p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74739" y="7282606"/>
            <a:ext cx="2113261" cy="2659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4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2748" y="8260593"/>
            <a:ext cx="1250590" cy="1681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8FA"/>
        </a:solidFill>
        <a:effectLst/>
      </p:bgPr>
    </p:bg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15103">
            <a:off x="16835506" y="101732"/>
            <a:ext cx="1431242" cy="9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194286">
            <a:off x="12703335" y="3625301"/>
            <a:ext cx="2213151" cy="144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112012">
            <a:off x="3356993" y="2638505"/>
            <a:ext cx="1680529" cy="1570531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45"/>
          <p:cNvSpPr txBox="1"/>
          <p:nvPr/>
        </p:nvSpPr>
        <p:spPr>
          <a:xfrm>
            <a:off x="13809911" y="392683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7" name="Google Shape;897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9204" y="8097560"/>
            <a:ext cx="1250590" cy="1681723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45"/>
          <p:cNvSpPr txBox="1"/>
          <p:nvPr/>
        </p:nvSpPr>
        <p:spPr>
          <a:xfrm>
            <a:off x="6629399" y="1637595"/>
            <a:ext cx="5756325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</a:t>
            </a: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Substitutions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9" name="Google Shape;899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98715" y="1153459"/>
            <a:ext cx="1041995" cy="162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2048687">
            <a:off x="10642402" y="1504542"/>
            <a:ext cx="1622709" cy="4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45"/>
          <p:cNvSpPr/>
          <p:nvPr/>
        </p:nvSpPr>
        <p:spPr>
          <a:xfrm>
            <a:off x="4427812" y="3051276"/>
            <a:ext cx="90750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5"/>
          <p:cNvSpPr txBox="1"/>
          <p:nvPr/>
        </p:nvSpPr>
        <p:spPr>
          <a:xfrm>
            <a:off x="4808812" y="3248028"/>
            <a:ext cx="9506652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yìzhí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zǒu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 从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这儿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一直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往 </a:t>
            </a:r>
            <a:r>
              <a:rPr lang="en-US" sz="4800" b="0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前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走。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03" name="Google Shape;903;p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893489">
            <a:off x="12457054" y="2228428"/>
            <a:ext cx="1315116" cy="13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45"/>
          <p:cNvSpPr/>
          <p:nvPr/>
        </p:nvSpPr>
        <p:spPr>
          <a:xfrm>
            <a:off x="3808655" y="6331991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5"/>
          <p:cNvSpPr/>
          <p:nvPr/>
        </p:nvSpPr>
        <p:spPr>
          <a:xfrm>
            <a:off x="1905000" y="633113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5"/>
          <p:cNvSpPr txBox="1"/>
          <p:nvPr/>
        </p:nvSpPr>
        <p:spPr>
          <a:xfrm>
            <a:off x="2140244" y="6527889"/>
            <a:ext cx="1852214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nàr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那儿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07" name="Google Shape;907;p45"/>
          <p:cNvSpPr txBox="1"/>
          <p:nvPr/>
        </p:nvSpPr>
        <p:spPr>
          <a:xfrm>
            <a:off x="4043899" y="6528743"/>
            <a:ext cx="185221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zuǒ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左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08" name="Google Shape;908;p45"/>
          <p:cNvSpPr/>
          <p:nvPr/>
        </p:nvSpPr>
        <p:spPr>
          <a:xfrm>
            <a:off x="9119308" y="6326094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45"/>
          <p:cNvSpPr/>
          <p:nvPr/>
        </p:nvSpPr>
        <p:spPr>
          <a:xfrm>
            <a:off x="6784555" y="6325240"/>
            <a:ext cx="251518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5"/>
          <p:cNvSpPr txBox="1"/>
          <p:nvPr/>
        </p:nvSpPr>
        <p:spPr>
          <a:xfrm>
            <a:off x="6955884" y="6521992"/>
            <a:ext cx="2418796" cy="1551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túshūɡuǎn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图书馆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11" name="Google Shape;911;p45"/>
          <p:cNvSpPr txBox="1"/>
          <p:nvPr/>
        </p:nvSpPr>
        <p:spPr>
          <a:xfrm>
            <a:off x="9354552" y="6522846"/>
            <a:ext cx="185221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东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12" name="Google Shape;912;p45"/>
          <p:cNvSpPr/>
          <p:nvPr/>
        </p:nvSpPr>
        <p:spPr>
          <a:xfrm>
            <a:off x="14402233" y="6332845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5"/>
          <p:cNvSpPr/>
          <p:nvPr/>
        </p:nvSpPr>
        <p:spPr>
          <a:xfrm>
            <a:off x="12067480" y="6331991"/>
            <a:ext cx="251518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5"/>
          <p:cNvSpPr txBox="1"/>
          <p:nvPr/>
        </p:nvSpPr>
        <p:spPr>
          <a:xfrm>
            <a:off x="12238809" y="6528743"/>
            <a:ext cx="241879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xuéxiào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学校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15" name="Google Shape;915;p45"/>
          <p:cNvSpPr txBox="1"/>
          <p:nvPr/>
        </p:nvSpPr>
        <p:spPr>
          <a:xfrm>
            <a:off x="14637477" y="6529597"/>
            <a:ext cx="185221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nán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南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16" name="Google Shape;916;p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516869" y="7282606"/>
            <a:ext cx="2113261" cy="265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8FA"/>
        </a:solidFill>
        <a:effectLst/>
      </p:bgPr>
    </p:bg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15103">
            <a:off x="16835506" y="101732"/>
            <a:ext cx="1431242" cy="9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194286">
            <a:off x="11683386" y="3680074"/>
            <a:ext cx="2213151" cy="144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112012">
            <a:off x="4423792" y="2638505"/>
            <a:ext cx="1680529" cy="1570531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6"/>
          <p:cNvSpPr txBox="1"/>
          <p:nvPr/>
        </p:nvSpPr>
        <p:spPr>
          <a:xfrm>
            <a:off x="13809911" y="392683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9204" y="8097560"/>
            <a:ext cx="1250590" cy="168172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46"/>
          <p:cNvSpPr txBox="1"/>
          <p:nvPr/>
        </p:nvSpPr>
        <p:spPr>
          <a:xfrm>
            <a:off x="6629400" y="1637596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7" name="Google Shape;927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98715" y="1153459"/>
            <a:ext cx="1041995" cy="162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2048687">
            <a:off x="10642402" y="1504542"/>
            <a:ext cx="1622709" cy="4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46"/>
          <p:cNvSpPr/>
          <p:nvPr/>
        </p:nvSpPr>
        <p:spPr>
          <a:xfrm>
            <a:off x="5494612" y="3051276"/>
            <a:ext cx="708401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6"/>
          <p:cNvSpPr txBox="1"/>
          <p:nvPr/>
        </p:nvSpPr>
        <p:spPr>
          <a:xfrm>
            <a:off x="5454845" y="3248028"/>
            <a:ext cx="7123782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shítánɡ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wǎnɡ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 到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食堂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往 </a:t>
            </a:r>
            <a:r>
              <a:rPr lang="en-US" sz="4800" b="0" i="0" u="sng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右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拐。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31" name="Google Shape;931;p4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893489">
            <a:off x="11813211" y="2210607"/>
            <a:ext cx="1315116" cy="13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46"/>
          <p:cNvSpPr/>
          <p:nvPr/>
        </p:nvSpPr>
        <p:spPr>
          <a:xfrm>
            <a:off x="3808655" y="6331991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6"/>
          <p:cNvSpPr/>
          <p:nvPr/>
        </p:nvSpPr>
        <p:spPr>
          <a:xfrm>
            <a:off x="1905000" y="633113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6"/>
          <p:cNvSpPr txBox="1"/>
          <p:nvPr/>
        </p:nvSpPr>
        <p:spPr>
          <a:xfrm>
            <a:off x="2038662" y="6527889"/>
            <a:ext cx="1719830" cy="1551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Yóujú</a:t>
            </a:r>
            <a:endParaRPr lang="en-US"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邮局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35" name="Google Shape;935;p46"/>
          <p:cNvSpPr txBox="1"/>
          <p:nvPr/>
        </p:nvSpPr>
        <p:spPr>
          <a:xfrm>
            <a:off x="3942317" y="6528743"/>
            <a:ext cx="171983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zuǒ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左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36" name="Google Shape;936;p46"/>
          <p:cNvSpPr/>
          <p:nvPr/>
        </p:nvSpPr>
        <p:spPr>
          <a:xfrm>
            <a:off x="9119308" y="6326094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46"/>
          <p:cNvSpPr/>
          <p:nvPr/>
        </p:nvSpPr>
        <p:spPr>
          <a:xfrm>
            <a:off x="6784555" y="6325240"/>
            <a:ext cx="251518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6"/>
          <p:cNvSpPr txBox="1"/>
          <p:nvPr/>
        </p:nvSpPr>
        <p:spPr>
          <a:xfrm>
            <a:off x="6823230" y="6521992"/>
            <a:ext cx="224591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Jiàoxuélóu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教学楼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39" name="Google Shape;939;p46"/>
          <p:cNvSpPr txBox="1"/>
          <p:nvPr/>
        </p:nvSpPr>
        <p:spPr>
          <a:xfrm>
            <a:off x="9252970" y="6522846"/>
            <a:ext cx="171983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dōnɡ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东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40" name="Google Shape;940;p46"/>
          <p:cNvSpPr/>
          <p:nvPr/>
        </p:nvSpPr>
        <p:spPr>
          <a:xfrm>
            <a:off x="14402233" y="6332845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46"/>
          <p:cNvSpPr/>
          <p:nvPr/>
        </p:nvSpPr>
        <p:spPr>
          <a:xfrm>
            <a:off x="12067480" y="6331991"/>
            <a:ext cx="251518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46"/>
          <p:cNvSpPr txBox="1"/>
          <p:nvPr/>
        </p:nvSpPr>
        <p:spPr>
          <a:xfrm>
            <a:off x="12106155" y="6528743"/>
            <a:ext cx="224591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bànɡōnɡshì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办公室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43" name="Google Shape;943;p46"/>
          <p:cNvSpPr txBox="1"/>
          <p:nvPr/>
        </p:nvSpPr>
        <p:spPr>
          <a:xfrm>
            <a:off x="14535895" y="6529597"/>
            <a:ext cx="171983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Xī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西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44" name="Google Shape;944;p4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516869" y="7282606"/>
            <a:ext cx="2113261" cy="265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8FA"/>
        </a:solidFill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7"/>
          <p:cNvSpPr/>
          <p:nvPr/>
        </p:nvSpPr>
        <p:spPr>
          <a:xfrm>
            <a:off x="5145399" y="5803004"/>
            <a:ext cx="28582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2D5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0" name="Google Shape;95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15103">
            <a:off x="16835506" y="101732"/>
            <a:ext cx="1431242" cy="9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112012">
            <a:off x="1149977" y="1149700"/>
            <a:ext cx="1680529" cy="1570531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47"/>
          <p:cNvSpPr txBox="1"/>
          <p:nvPr/>
        </p:nvSpPr>
        <p:spPr>
          <a:xfrm>
            <a:off x="13809911" y="392683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3" name="Google Shape;953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9204" y="8097560"/>
            <a:ext cx="1250590" cy="1681723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47"/>
          <p:cNvSpPr txBox="1"/>
          <p:nvPr/>
        </p:nvSpPr>
        <p:spPr>
          <a:xfrm>
            <a:off x="6629400" y="591465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5" name="Google Shape;955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8715" y="107328"/>
            <a:ext cx="1041995" cy="162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048687">
            <a:off x="10642402" y="458411"/>
            <a:ext cx="1622709" cy="4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47"/>
          <p:cNvSpPr/>
          <p:nvPr/>
        </p:nvSpPr>
        <p:spPr>
          <a:xfrm>
            <a:off x="4172447" y="1724520"/>
            <a:ext cx="990565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7"/>
          <p:cNvSpPr txBox="1"/>
          <p:nvPr/>
        </p:nvSpPr>
        <p:spPr>
          <a:xfrm>
            <a:off x="4553446" y="1921271"/>
            <a:ext cx="9665464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yǒu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从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这儿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8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到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那儿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有 多 远？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59" name="Google Shape;959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93489">
            <a:off x="12571439" y="64464"/>
            <a:ext cx="1315116" cy="13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47"/>
          <p:cNvSpPr/>
          <p:nvPr/>
        </p:nvSpPr>
        <p:spPr>
          <a:xfrm>
            <a:off x="3204279" y="5790593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1300624" y="5789739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7"/>
          <p:cNvSpPr txBox="1"/>
          <p:nvPr/>
        </p:nvSpPr>
        <p:spPr>
          <a:xfrm>
            <a:off x="1535867" y="5986491"/>
            <a:ext cx="1683959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Sùshè</a:t>
            </a:r>
            <a:endParaRPr sz="1400" b="0" i="0" u="none" strike="noStrike" cap="none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宿舍</a:t>
            </a:r>
            <a:endParaRPr sz="4800" b="0" i="0" u="none" strike="noStrike" cap="none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63" name="Google Shape;963;p47"/>
          <p:cNvSpPr txBox="1"/>
          <p:nvPr/>
        </p:nvSpPr>
        <p:spPr>
          <a:xfrm>
            <a:off x="3439522" y="5987345"/>
            <a:ext cx="168395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yínhánɡ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银行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64" name="Google Shape;964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516869" y="7282606"/>
            <a:ext cx="2113261" cy="265971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47"/>
          <p:cNvSpPr/>
          <p:nvPr/>
        </p:nvSpPr>
        <p:spPr>
          <a:xfrm>
            <a:off x="3867647" y="3648833"/>
            <a:ext cx="1061878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7"/>
          <p:cNvSpPr txBox="1"/>
          <p:nvPr/>
        </p:nvSpPr>
        <p:spPr>
          <a:xfrm>
            <a:off x="4248649" y="3845574"/>
            <a:ext cx="11168307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Cónɡ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dàɡài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qī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B:从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这儿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到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那儿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大概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0" i="0" u="sng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七百米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67" name="Google Shape;967;p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4194286">
            <a:off x="15367011" y="2008636"/>
            <a:ext cx="2213151" cy="144056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47"/>
          <p:cNvSpPr txBox="1"/>
          <p:nvPr/>
        </p:nvSpPr>
        <p:spPr>
          <a:xfrm>
            <a:off x="5380642" y="5999756"/>
            <a:ext cx="2409583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wǔbǎi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mǐ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五百米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13655755" y="5846023"/>
            <a:ext cx="28582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2D5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11334002" y="5833612"/>
            <a:ext cx="246468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8915400" y="5832758"/>
            <a:ext cx="257304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7"/>
          <p:cNvSpPr txBox="1"/>
          <p:nvPr/>
        </p:nvSpPr>
        <p:spPr>
          <a:xfrm>
            <a:off x="9049939" y="6029510"/>
            <a:ext cx="2297515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yóuyǒnɡchí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游泳池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73" name="Google Shape;973;p47"/>
          <p:cNvSpPr txBox="1"/>
          <p:nvPr/>
        </p:nvSpPr>
        <p:spPr>
          <a:xfrm>
            <a:off x="11484380" y="6030364"/>
            <a:ext cx="216836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tǐyùɡuǎn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体育馆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74" name="Google Shape;974;p47"/>
          <p:cNvSpPr txBox="1"/>
          <p:nvPr/>
        </p:nvSpPr>
        <p:spPr>
          <a:xfrm>
            <a:off x="13890998" y="6042775"/>
            <a:ext cx="2409583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bābǎi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mǐ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八百米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75" name="Google Shape;975;p47"/>
          <p:cNvSpPr/>
          <p:nvPr/>
        </p:nvSpPr>
        <p:spPr>
          <a:xfrm>
            <a:off x="10363200" y="8001310"/>
            <a:ext cx="28582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2D5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7"/>
          <p:cNvSpPr/>
          <p:nvPr/>
        </p:nvSpPr>
        <p:spPr>
          <a:xfrm>
            <a:off x="8041447" y="7988899"/>
            <a:ext cx="246468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47"/>
          <p:cNvSpPr/>
          <p:nvPr/>
        </p:nvSpPr>
        <p:spPr>
          <a:xfrm>
            <a:off x="5622845" y="7988045"/>
            <a:ext cx="257304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47"/>
          <p:cNvSpPr txBox="1"/>
          <p:nvPr/>
        </p:nvSpPr>
        <p:spPr>
          <a:xfrm>
            <a:off x="5757384" y="8184797"/>
            <a:ext cx="2297515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bànɡōnɡshì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办公室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79" name="Google Shape;979;p47"/>
          <p:cNvSpPr txBox="1"/>
          <p:nvPr/>
        </p:nvSpPr>
        <p:spPr>
          <a:xfrm>
            <a:off x="8191825" y="8185651"/>
            <a:ext cx="216836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dàshǐ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ɡuǎn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大使馆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80" name="Google Shape;980;p47"/>
          <p:cNvSpPr txBox="1"/>
          <p:nvPr/>
        </p:nvSpPr>
        <p:spPr>
          <a:xfrm>
            <a:off x="10598443" y="8198062"/>
            <a:ext cx="2409583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jiǔbǎi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mǐ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九百米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8"/>
          <p:cNvSpPr txBox="1"/>
          <p:nvPr/>
        </p:nvSpPr>
        <p:spPr>
          <a:xfrm>
            <a:off x="816527" y="803942"/>
            <a:ext cx="10669867" cy="110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forget to 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6" name="Google Shape;98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0001" y="6652091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3111" y="21918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2032" y="277389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407296" y="2029970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48"/>
          <p:cNvSpPr txBox="1"/>
          <p:nvPr/>
        </p:nvSpPr>
        <p:spPr>
          <a:xfrm>
            <a:off x="1208607" y="2904025"/>
            <a:ext cx="5280441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8"/>
          <p:cNvSpPr txBox="1"/>
          <p:nvPr/>
        </p:nvSpPr>
        <p:spPr>
          <a:xfrm>
            <a:off x="6782818" y="3560424"/>
            <a:ext cx="4741124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8"/>
          <p:cNvSpPr txBox="1"/>
          <p:nvPr/>
        </p:nvSpPr>
        <p:spPr>
          <a:xfrm>
            <a:off x="11777671" y="3120952"/>
            <a:ext cx="4741124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8"/>
          <p:cNvSpPr txBox="1"/>
          <p:nvPr/>
        </p:nvSpPr>
        <p:spPr>
          <a:xfrm>
            <a:off x="800073" y="7701927"/>
            <a:ext cx="8453696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4" name="Google Shape;994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02524" y="6321778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48"/>
          <p:cNvSpPr txBox="1"/>
          <p:nvPr/>
        </p:nvSpPr>
        <p:spPr>
          <a:xfrm>
            <a:off x="9353862" y="7256594"/>
            <a:ext cx="8453696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skills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6" name="Google Shape;996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1804199">
            <a:off x="2076267" y="3694758"/>
            <a:ext cx="1372436" cy="1599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2132685">
            <a:off x="9060660" y="4255179"/>
            <a:ext cx="2100439" cy="99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40546" y="5570172"/>
            <a:ext cx="2863125" cy="231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779287">
            <a:off x="15407666" y="2756014"/>
            <a:ext cx="1259656" cy="1574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958634" y="7911958"/>
            <a:ext cx="1526114" cy="125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1282</Words>
  <Application>Microsoft Office PowerPoint</Application>
  <PresentationFormat>自定义</PresentationFormat>
  <Paragraphs>355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Arial</vt:lpstr>
      <vt:lpstr>Calibri</vt:lpstr>
      <vt:lpstr>Varela Round</vt:lpstr>
      <vt:lpstr>Times New Roman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Peng Liu</cp:lastModifiedBy>
  <cp:revision>19</cp:revision>
  <dcterms:created xsi:type="dcterms:W3CDTF">2006-08-16T00:00:00Z</dcterms:created>
  <dcterms:modified xsi:type="dcterms:W3CDTF">2026-07-31T02:34:48Z</dcterms:modified>
</cp:coreProperties>
</file>