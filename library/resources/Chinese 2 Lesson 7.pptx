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4"/>
  </p:notesMasterIdLst>
  <p:sldIdLst>
    <p:sldId id="262" r:id="rId2"/>
    <p:sldId id="263" r:id="rId3"/>
    <p:sldId id="264" r:id="rId4"/>
    <p:sldId id="265" r:id="rId5"/>
    <p:sldId id="266" r:id="rId6"/>
    <p:sldId id="276" r:id="rId7"/>
    <p:sldId id="267" r:id="rId8"/>
    <p:sldId id="268" r:id="rId9"/>
    <p:sldId id="270" r:id="rId10"/>
    <p:sldId id="269" r:id="rId11"/>
    <p:sldId id="271" r:id="rId12"/>
    <p:sldId id="272" r:id="rId13"/>
    <p:sldId id="273" r:id="rId14"/>
    <p:sldId id="274" r:id="rId15"/>
    <p:sldId id="275" r:id="rId16"/>
    <p:sldId id="277" r:id="rId17"/>
    <p:sldId id="278" r:id="rId18"/>
    <p:sldId id="279" r:id="rId19"/>
    <p:sldId id="280" r:id="rId20"/>
    <p:sldId id="296" r:id="rId21"/>
    <p:sldId id="297" r:id="rId22"/>
    <p:sldId id="298" r:id="rId23"/>
    <p:sldId id="299" r:id="rId24"/>
    <p:sldId id="300" r:id="rId25"/>
    <p:sldId id="301" r:id="rId26"/>
    <p:sldId id="281" r:id="rId27"/>
    <p:sldId id="282" r:id="rId28"/>
    <p:sldId id="283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302" r:id="rId39"/>
    <p:sldId id="303" r:id="rId40"/>
    <p:sldId id="305" r:id="rId41"/>
    <p:sldId id="306" r:id="rId42"/>
    <p:sldId id="307" r:id="rId4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gjqAhJXmsMTejOilWlzJRa/QQh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054581-EB71-4656-A6EB-0049154A706A}">
  <a:tblStyle styleId="{C7054581-EB71-4656-A6EB-0049154A70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FE1DDB1-1B3B-423C-8B4D-BBF1822EBA1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78" y="3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5" name="Google Shape;3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1329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4" name="Google Shape;2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2" name="Google Shape;2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1" name="Google Shape;33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7" name="Google Shape;3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7" name="Google Shape;3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5" name="Google Shape;37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7" name="Google Shape;3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9" name="Google Shape;3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0" name="Google Shape;4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9" name="Google Shape;60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3" name="Google Shape;63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7" name="Google Shape;65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5" name="Google Shape;67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3" name="Google Shape;69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7" name="Google Shape;71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03058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1" name="Google Shape;43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12838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0" name="Google Shape;45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57403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67312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1" name="Google Shape;5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3410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8" name="Google Shape;52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65488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9" name="Google Shape;53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90390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0" name="Google Shape;55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63480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4" name="Google Shape;56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10944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8" name="Google Shape;57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91483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9" name="Google Shape;58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99618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0" name="Google Shape;60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293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9" name="Google Shape;7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5" name="Google Shape;76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1" name="Google Shape;82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6" name="Google Shape;84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1" name="Google Shape;87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8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50.png"/><Relationship Id="rId3" Type="http://schemas.openxmlformats.org/officeDocument/2006/relationships/image" Target="../media/image1.png"/><Relationship Id="rId21" Type="http://schemas.openxmlformats.org/officeDocument/2006/relationships/image" Target="../media/image68.png"/><Relationship Id="rId7" Type="http://schemas.openxmlformats.org/officeDocument/2006/relationships/image" Target="../media/image46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200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7"/>
          <p:cNvPicPr preferRelativeResize="0"/>
          <p:nvPr/>
        </p:nvPicPr>
        <p:blipFill rotWithShape="1">
          <a:blip r:embed="rId3">
            <a:alphaModFix/>
          </a:blip>
          <a:srcRect r="16017"/>
          <a:stretch/>
        </p:blipFill>
        <p:spPr>
          <a:xfrm rot="5266926">
            <a:off x="4924662" y="-1675803"/>
            <a:ext cx="8267769" cy="13638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7"/>
          <p:cNvGrpSpPr/>
          <p:nvPr/>
        </p:nvGrpSpPr>
        <p:grpSpPr>
          <a:xfrm>
            <a:off x="3549553" y="2867105"/>
            <a:ext cx="12477287" cy="5656685"/>
            <a:chOff x="-1054182" y="1346552"/>
            <a:chExt cx="16636384" cy="7542246"/>
          </a:xfrm>
        </p:grpSpPr>
        <p:sp>
          <p:nvSpPr>
            <p:cNvPr id="222" name="Google Shape;222;p7"/>
            <p:cNvSpPr txBox="1"/>
            <p:nvPr/>
          </p:nvSpPr>
          <p:spPr>
            <a:xfrm>
              <a:off x="0" y="1346552"/>
              <a:ext cx="12380371" cy="27015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00"/>
                <a:buFont typeface="Arial"/>
                <a:buNone/>
              </a:pPr>
              <a:r>
                <a:rPr lang="en-US" sz="14400" b="0" i="0" u="none" strike="noStrike" cap="none">
                  <a:solidFill>
                    <a:srgbClr val="073A64"/>
                  </a:solidFill>
                  <a:latin typeface="Arial"/>
                  <a:ea typeface="Arial"/>
                  <a:cs typeface="Arial"/>
                  <a:sym typeface="Arial"/>
                </a:rPr>
                <a:t>Lesson 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-1054182" y="6128641"/>
              <a:ext cx="16636384" cy="27601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66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b="0" i="0" u="none" strike="noStrike" cap="none" dirty="0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            </a:t>
              </a:r>
              <a:r>
                <a:rPr lang="en-US" sz="3600" b="0" i="0" u="none" strike="noStrike" cap="none" dirty="0" err="1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Dì</a:t>
              </a:r>
              <a:r>
                <a:rPr lang="en-US" sz="3600" b="0" i="0" u="none" strike="noStrike" cap="none" dirty="0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 </a:t>
              </a:r>
              <a:r>
                <a:rPr lang="en-US" sz="3600" b="0" i="0" u="none" strike="noStrike" cap="none" dirty="0" err="1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qī</a:t>
              </a:r>
              <a:r>
                <a:rPr lang="en-US" sz="3600" b="0" i="0" u="none" strike="noStrike" cap="none" dirty="0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 </a:t>
              </a:r>
              <a:r>
                <a:rPr lang="en-US" sz="3600" b="0" i="0" u="none" strike="noStrike" cap="none" dirty="0" err="1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kè</a:t>
              </a:r>
              <a:r>
                <a:rPr lang="en-US" sz="3600" b="0" i="0" u="none" strike="noStrike" cap="none" dirty="0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     </a:t>
              </a:r>
              <a:r>
                <a:rPr lang="en-US" sz="3600" b="0" i="0" u="none" strike="noStrike" cap="none" dirty="0" err="1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wǒ</a:t>
              </a:r>
              <a:r>
                <a:rPr lang="en-US" sz="3600" b="0" i="0" u="none" strike="noStrike" cap="none" dirty="0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 </a:t>
              </a:r>
              <a:r>
                <a:rPr lang="en-US" sz="3600" b="0" i="0" u="none" strike="noStrike" cap="none" dirty="0" err="1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shēnɡbìnɡ</a:t>
              </a:r>
              <a:r>
                <a:rPr lang="en-US" sz="3600" b="0" i="0" u="none" strike="noStrike" cap="none" dirty="0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Calibri"/>
                  <a:sym typeface="Calibri"/>
                </a:rPr>
                <a:t>   le</a:t>
              </a:r>
              <a:endParaRPr sz="1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  <a:p>
              <a:pPr marL="0" marR="0" lvl="0" indent="0" algn="ctr" rtl="0">
                <a:lnSpc>
                  <a:spcPct val="1119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-US" sz="6000" b="0" i="0" u="none" strike="noStrike" cap="none" dirty="0" err="1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sym typeface="Arial"/>
                </a:rPr>
                <a:t>第七课</a:t>
              </a:r>
              <a:r>
                <a:rPr lang="en-US" sz="6000" b="0" i="0" u="none" strike="noStrike" cap="none" dirty="0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sym typeface="Arial"/>
                </a:rPr>
                <a:t>  我 </a:t>
              </a:r>
              <a:r>
                <a:rPr lang="en-US" sz="6000" b="0" i="0" u="none" strike="noStrike" cap="none" dirty="0" err="1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sym typeface="Arial"/>
                </a:rPr>
                <a:t>生病</a:t>
              </a:r>
              <a:r>
                <a:rPr lang="en-US" sz="6000" b="0" i="0" u="none" strike="noStrike" cap="none" dirty="0">
                  <a:solidFill>
                    <a:srgbClr val="073A64"/>
                  </a:solidFill>
                  <a:latin typeface="SimSun" panose="02010600030101010101" pitchFamily="2" charset="-122"/>
                  <a:ea typeface="SimSun" panose="02010600030101010101" pitchFamily="2" charset="-122"/>
                  <a:sym typeface="Arial"/>
                </a:rPr>
                <a:t> 了</a:t>
              </a:r>
              <a:endParaRPr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-5423" y="4358125"/>
              <a:ext cx="12380371" cy="1128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0" i="0" u="none" strike="noStrike" cap="none">
                  <a:solidFill>
                    <a:srgbClr val="073A64"/>
                  </a:solidFill>
                  <a:latin typeface="Arial"/>
                  <a:ea typeface="Arial"/>
                  <a:cs typeface="Arial"/>
                  <a:sym typeface="Arial"/>
                </a:rPr>
                <a:t>I am sick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7"/>
          <p:cNvGrpSpPr/>
          <p:nvPr/>
        </p:nvGrpSpPr>
        <p:grpSpPr>
          <a:xfrm rot="-478870">
            <a:off x="589575" y="3679286"/>
            <a:ext cx="2989594" cy="3249639"/>
            <a:chOff x="0" y="1"/>
            <a:chExt cx="3986126" cy="4332853"/>
          </a:xfrm>
        </p:grpSpPr>
        <p:pic>
          <p:nvPicPr>
            <p:cNvPr id="226" name="Google Shape;226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520180">
              <a:off x="271082" y="237528"/>
              <a:ext cx="3443962" cy="3857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520180">
              <a:off x="562007" y="1290698"/>
              <a:ext cx="2583726" cy="930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-520180">
              <a:off x="1271942" y="2708351"/>
              <a:ext cx="1431860" cy="6951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9" name="Google Shape;229;p7"/>
          <p:cNvGrpSpPr/>
          <p:nvPr/>
        </p:nvGrpSpPr>
        <p:grpSpPr>
          <a:xfrm rot="-923913">
            <a:off x="14400680" y="5285137"/>
            <a:ext cx="2993354" cy="2383798"/>
            <a:chOff x="0" y="0"/>
            <a:chExt cx="3991139" cy="3178398"/>
          </a:xfrm>
        </p:grpSpPr>
        <p:pic>
          <p:nvPicPr>
            <p:cNvPr id="230" name="Google Shape;230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0" y="0"/>
              <a:ext cx="3991139" cy="31783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80587" y="1150719"/>
              <a:ext cx="2229966" cy="4905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01858" y="1448447"/>
              <a:ext cx="987423" cy="66426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" name="Google Shape;233;p7"/>
          <p:cNvGrpSpPr/>
          <p:nvPr/>
        </p:nvGrpSpPr>
        <p:grpSpPr>
          <a:xfrm rot="312685">
            <a:off x="2260355" y="6477036"/>
            <a:ext cx="3059877" cy="2742763"/>
            <a:chOff x="0" y="0"/>
            <a:chExt cx="4079836" cy="3657017"/>
          </a:xfrm>
        </p:grpSpPr>
        <p:pic>
          <p:nvPicPr>
            <p:cNvPr id="234" name="Google Shape;234;p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0" y="0"/>
              <a:ext cx="4079836" cy="36570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83908" y="1176930"/>
              <a:ext cx="1926710" cy="651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508460" y="2042576"/>
              <a:ext cx="935941" cy="6381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7" name="Google Shape;237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10680161">
            <a:off x="13841442" y="2245621"/>
            <a:ext cx="2912497" cy="810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FE2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685269">
            <a:off x="559012" y="-2250571"/>
            <a:ext cx="17025174" cy="13492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8"/>
          <p:cNvGrpSpPr/>
          <p:nvPr/>
        </p:nvGrpSpPr>
        <p:grpSpPr>
          <a:xfrm rot="-751563">
            <a:off x="-1379442" y="7690509"/>
            <a:ext cx="3415839" cy="2544525"/>
            <a:chOff x="0" y="0"/>
            <a:chExt cx="4816613" cy="4492587"/>
          </a:xfrm>
        </p:grpSpPr>
        <p:pic>
          <p:nvPicPr>
            <p:cNvPr id="244" name="Google Shape;244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4816613" cy="4492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84795" y="1536028"/>
              <a:ext cx="2830045" cy="11062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000318" y="2642319"/>
              <a:ext cx="1199000" cy="14090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7" name="Google Shape;247;p8"/>
          <p:cNvGrpSpPr/>
          <p:nvPr/>
        </p:nvGrpSpPr>
        <p:grpSpPr>
          <a:xfrm rot="469776">
            <a:off x="1135692" y="8706607"/>
            <a:ext cx="2081292" cy="1642968"/>
            <a:chOff x="0" y="0"/>
            <a:chExt cx="3897525" cy="4251420"/>
          </a:xfrm>
        </p:grpSpPr>
        <p:pic>
          <p:nvPicPr>
            <p:cNvPr id="248" name="Google Shape;248;p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-452327">
              <a:off x="236797" y="208029"/>
              <a:ext cx="3423932" cy="38353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-452327">
              <a:off x="561489" y="1253690"/>
              <a:ext cx="2529843" cy="818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 rot="-452327">
              <a:off x="1506133" y="2304090"/>
              <a:ext cx="1121097" cy="996757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51" name="Google Shape;251;p8"/>
          <p:cNvGraphicFramePr/>
          <p:nvPr/>
        </p:nvGraphicFramePr>
        <p:xfrm>
          <a:off x="990600" y="1483743"/>
          <a:ext cx="16970550" cy="7164750"/>
        </p:xfrm>
        <a:graphic>
          <a:graphicData uri="http://schemas.openxmlformats.org/drawingml/2006/table">
            <a:tbl>
              <a:tblPr firstRow="1" bandRow="1">
                <a:noFill/>
                <a:tableStyleId>{C7054581-EB71-4656-A6EB-0049154A706A}</a:tableStyleId>
              </a:tblPr>
              <a:tblGrid>
                <a:gridCol w="79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74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3800" b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头疼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headache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38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帮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help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3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疼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pain; ache 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3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打针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</a:t>
                      </a:r>
                      <a:r>
                        <a:rPr lang="en-US" sz="3800" b="1" u="none" strike="noStrike" cap="none" dirty="0" err="1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ɡive</a:t>
                      </a:r>
                      <a:r>
                        <a:rPr lang="en-US" sz="3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 injection</a:t>
                      </a:r>
                      <a:endParaRPr sz="25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3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嗓子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2575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throat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3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发烧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fever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3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看病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see a doctor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3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如果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case; if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3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药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medicine</a:t>
                      </a:r>
                      <a:endParaRPr sz="25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3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小时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hour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3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可是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but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3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住院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be hospitalized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3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还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also;  still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3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一定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certainly; surely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3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咱们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 </a:t>
                      </a:r>
                      <a:r>
                        <a:rPr lang="en-US" sz="3800" b="1" i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(include listeners)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3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手续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procedure; process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7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3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700"/>
                        <a:buFont typeface="Arial"/>
                        <a:buNone/>
                      </a:pPr>
                      <a:r>
                        <a:rPr lang="en-US" sz="47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医院 </a:t>
                      </a:r>
                      <a:endParaRPr sz="34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r>
                        <a:rPr lang="en-US" sz="3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hospital</a:t>
                      </a:r>
                      <a:endParaRPr sz="25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800"/>
                        <a:buFont typeface="Arial"/>
                        <a:buNone/>
                      </a:pPr>
                      <a:endParaRPr sz="3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6750" marR="96750" marT="48375" marB="48375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endParaRPr sz="3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52" name="Google Shape;252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880421">
            <a:off x="14128053" y="414198"/>
            <a:ext cx="3384330" cy="8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5960" y="568973"/>
            <a:ext cx="13574754" cy="150271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 txBox="1"/>
          <p:nvPr/>
        </p:nvSpPr>
        <p:spPr>
          <a:xfrm>
            <a:off x="4038600" y="695224"/>
            <a:ext cx="102108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疼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n.	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ténɡ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pain; ache 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96400" y="1658888"/>
            <a:ext cx="44196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9" descr="A picture containing doll, toy, vector graphic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3619500"/>
            <a:ext cx="4595812" cy="4595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9" descr="A picture containing vector graphic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22294" y="3619500"/>
            <a:ext cx="4595812" cy="4595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62" name="Google Shape;262;p9" descr="Icon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573000" y="3619500"/>
            <a:ext cx="4595812" cy="4595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495300"/>
            <a:ext cx="13574754" cy="150271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 txBox="1"/>
          <p:nvPr/>
        </p:nvSpPr>
        <p:spPr>
          <a:xfrm>
            <a:off x="3542089" y="640384"/>
            <a:ext cx="1124071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头疼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n.	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Calibri"/>
                <a:ea typeface="Calibri"/>
                <a:cs typeface="Calibri"/>
                <a:sym typeface="Calibri"/>
              </a:rPr>
              <a:t>tóuténɡ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headache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4814" y="1615290"/>
            <a:ext cx="39624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0" descr="A picture containing vector graphic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1986" y="2476500"/>
            <a:ext cx="6984028" cy="69840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495300"/>
            <a:ext cx="13574754" cy="150271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1"/>
          <p:cNvSpPr txBox="1"/>
          <p:nvPr/>
        </p:nvSpPr>
        <p:spPr>
          <a:xfrm>
            <a:off x="4038600" y="540923"/>
            <a:ext cx="102108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嗓子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n.	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sǎnɡzi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throat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55625" y="1610897"/>
            <a:ext cx="2617575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1" descr="Ic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7000" y="2713763"/>
            <a:ext cx="5510212" cy="55102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9" name="Google Shape;279;p11" descr="Ico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15600" y="2713763"/>
            <a:ext cx="5613187" cy="5613187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/>
          <p:nvPr/>
        </p:nvSpPr>
        <p:spPr>
          <a:xfrm>
            <a:off x="13792200" y="7252784"/>
            <a:ext cx="2739588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13470467" y="7226427"/>
            <a:ext cx="3793066" cy="2792111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sǎnɡzi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ténɡ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嗓子</a:t>
            </a: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疼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sore throat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114300"/>
            <a:ext cx="103632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0"/>
          <p:cNvSpPr txBox="1"/>
          <p:nvPr/>
        </p:nvSpPr>
        <p:spPr>
          <a:xfrm>
            <a:off x="4267200" y="331466"/>
            <a:ext cx="97536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发烧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  n.	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fāshāo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fever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4200" y="1335252"/>
            <a:ext cx="32766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0" descr="A picture containing wall, controller, remote, pers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70695" y="2400300"/>
            <a:ext cx="6729412" cy="6729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71" name="Google Shape;371;p20"/>
          <p:cNvSpPr/>
          <p:nvPr/>
        </p:nvSpPr>
        <p:spPr>
          <a:xfrm>
            <a:off x="10363200" y="4227171"/>
            <a:ext cx="5033197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10668000" y="4445178"/>
            <a:ext cx="5231980" cy="262963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fāshāo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en-US" sz="44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还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发烧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still have a fever.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537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495300"/>
            <a:ext cx="15773400" cy="150271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2"/>
          <p:cNvSpPr txBox="1"/>
          <p:nvPr/>
        </p:nvSpPr>
        <p:spPr>
          <a:xfrm>
            <a:off x="2286000" y="695224"/>
            <a:ext cx="13792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看病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v.	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kànbìnɡ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to see a doctor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0" y="1658888"/>
            <a:ext cx="64770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2" descr="A picture containing doll, toy, vector graphic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65494" y="2636329"/>
            <a:ext cx="6196012" cy="6196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372;p20">
            <a:extLst>
              <a:ext uri="{FF2B5EF4-FFF2-40B4-BE49-F238E27FC236}">
                <a16:creationId xmlns:a16="http://schemas.microsoft.com/office/drawing/2014/main" id="{0E067F14-D166-2AAF-7215-32F88B4B2097}"/>
              </a:ext>
            </a:extLst>
          </p:cNvPr>
          <p:cNvSpPr txBox="1"/>
          <p:nvPr/>
        </p:nvSpPr>
        <p:spPr>
          <a:xfrm>
            <a:off x="1788160" y="3327578"/>
            <a:ext cx="7736840" cy="209288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E2F30"/>
              </a:buClr>
              <a:buSzPts val="2800"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yīyuàn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kàn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bìnɡ</a:t>
            </a:r>
            <a:endParaRPr lang="en-US" sz="2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lvl="0">
              <a:buClr>
                <a:srgbClr val="2E2F30"/>
              </a:buClr>
              <a:buSzPts val="2800"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zh-CN" altLang="en-US" sz="44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去医院 </a:t>
            </a:r>
            <a:r>
              <a:rPr lang="zh-CN" altLang="en-US" sz="4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看病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。</a:t>
            </a:r>
            <a:b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</a:b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went to the hospital for a medical appointment.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3" name="Google Shape;372;p20">
            <a:extLst>
              <a:ext uri="{FF2B5EF4-FFF2-40B4-BE49-F238E27FC236}">
                <a16:creationId xmlns:a16="http://schemas.microsoft.com/office/drawing/2014/main" id="{FEE73597-915B-02DF-1B55-429597BB909A}"/>
              </a:ext>
            </a:extLst>
          </p:cNvPr>
          <p:cNvSpPr txBox="1"/>
          <p:nvPr/>
        </p:nvSpPr>
        <p:spPr>
          <a:xfrm>
            <a:off x="1788160" y="7096938"/>
            <a:ext cx="7355840" cy="209288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E2F30"/>
              </a:buClr>
              <a:buSzPts val="2800"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yīyuàn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kàn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yīshēnɡ</a:t>
            </a:r>
            <a:endParaRPr lang="en-US" sz="28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lvl="0">
              <a:buClr>
                <a:srgbClr val="2E2F30"/>
              </a:buClr>
              <a:buSzPts val="2800"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zh-CN" altLang="en-US" sz="44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去医院 看 医生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。</a:t>
            </a:r>
            <a:r>
              <a:rPr 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</a:p>
          <a:p>
            <a:pPr lvl="0">
              <a:buClr>
                <a:srgbClr val="2E2F30"/>
              </a:buClr>
              <a:buSzPts val="4400"/>
            </a:pP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went to the hospital to see a doctor.</a:t>
            </a:r>
            <a:endParaRPr sz="32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2400" y="295376"/>
            <a:ext cx="10134600" cy="150271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 txBox="1"/>
          <p:nvPr/>
        </p:nvSpPr>
        <p:spPr>
          <a:xfrm>
            <a:off x="5029200" y="495300"/>
            <a:ext cx="8382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药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n.	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yào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medicine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8800" y="1458964"/>
            <a:ext cx="36576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3" descr="Ic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7542" y="3141509"/>
            <a:ext cx="6049716" cy="58807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98" name="Google Shape;298;p13"/>
          <p:cNvSpPr/>
          <p:nvPr/>
        </p:nvSpPr>
        <p:spPr>
          <a:xfrm>
            <a:off x="8759613" y="2951835"/>
            <a:ext cx="3813028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9064412" y="3169842"/>
            <a:ext cx="4326468" cy="1785104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吃 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药</a:t>
            </a:r>
            <a:endParaRPr sz="4400" b="1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Take medicine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2" name="Google Shape;299;p13">
            <a:extLst>
              <a:ext uri="{FF2B5EF4-FFF2-40B4-BE49-F238E27FC236}">
                <a16:creationId xmlns:a16="http://schemas.microsoft.com/office/drawing/2014/main" id="{4553469B-68BB-3A67-CA6C-C707530F2B78}"/>
              </a:ext>
            </a:extLst>
          </p:cNvPr>
          <p:cNvSpPr txBox="1"/>
          <p:nvPr/>
        </p:nvSpPr>
        <p:spPr>
          <a:xfrm>
            <a:off x="8779932" y="6744702"/>
            <a:ext cx="7537028" cy="1723549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E2F30"/>
              </a:buClr>
              <a:buSzPts val="2800"/>
            </a:pPr>
            <a:r>
              <a:rPr lang="en-US" altLang="zh-CN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altLang="zh-CN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altLang="zh-CN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bù</a:t>
            </a:r>
            <a:r>
              <a:rPr lang="en-US" altLang="zh-CN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altLang="zh-CN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xǐhuan</a:t>
            </a:r>
            <a:r>
              <a:rPr lang="en-US" altLang="zh-CN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altLang="zh-CN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chī</a:t>
            </a:r>
            <a:r>
              <a:rPr lang="en-US" altLang="zh-CN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altLang="zh-CN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yào</a:t>
            </a:r>
            <a:endParaRPr lang="en-US" altLang="zh-CN" sz="32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lvl="0">
              <a:buClr>
                <a:srgbClr val="2E2F30"/>
              </a:buClr>
              <a:buSzPts val="2800"/>
            </a:pP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我不喜欢 吃 药</a:t>
            </a:r>
            <a:endParaRPr lang="en-US" altLang="zh-CN"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lvl="0">
              <a:buClr>
                <a:srgbClr val="2E2F30"/>
              </a:buClr>
              <a:buSzPts val="2800"/>
            </a:pP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don't like </a:t>
            </a:r>
            <a:r>
              <a:rPr lang="en-US" sz="36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takinɡ</a:t>
            </a:r>
            <a:r>
              <a:rPr lang="en-US" sz="36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medicine</a:t>
            </a:r>
            <a:endParaRPr sz="36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2400" y="295376"/>
            <a:ext cx="11049000" cy="150271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5"/>
          <p:cNvSpPr txBox="1"/>
          <p:nvPr/>
        </p:nvSpPr>
        <p:spPr>
          <a:xfrm>
            <a:off x="4648200" y="495300"/>
            <a:ext cx="105156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还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 adv.	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hái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also;  still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0" y="1419734"/>
            <a:ext cx="44958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5" descr="A picture containing text, envelop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554200" y="6622632"/>
            <a:ext cx="3376612" cy="337661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>
            <a:off x="3733800" y="4053431"/>
            <a:ext cx="5033197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1928896" y="4273367"/>
            <a:ext cx="6914242" cy="1785104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fāshāo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还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发烧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still have a fever.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10058400" y="4055360"/>
            <a:ext cx="3507986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9830951" y="4273367"/>
            <a:ext cx="5924864" cy="1661993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méi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还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没 好。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don’t feel better yet.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2400" y="295376"/>
            <a:ext cx="10134600" cy="150271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4"/>
          <p:cNvSpPr txBox="1"/>
          <p:nvPr/>
        </p:nvSpPr>
        <p:spPr>
          <a:xfrm>
            <a:off x="4648200" y="495300"/>
            <a:ext cx="96774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可是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conj.	 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kěshì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but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9425" y="1598166"/>
            <a:ext cx="2617575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4" descr="A picture containing tex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515100"/>
            <a:ext cx="3200400" cy="320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8" name="Google Shape;308;p14"/>
          <p:cNvSpPr/>
          <p:nvPr/>
        </p:nvSpPr>
        <p:spPr>
          <a:xfrm>
            <a:off x="2971800" y="2899029"/>
            <a:ext cx="12735514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2080846" y="3118060"/>
            <a:ext cx="15468600" cy="2284921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 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yě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le,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kěshì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méi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  药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也吃了，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可是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还 没 好。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I’ve taken my medicine, but I don’t feel better yet.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14299"/>
            <a:ext cx="12139513" cy="364681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6"/>
          <p:cNvSpPr txBox="1"/>
          <p:nvPr/>
        </p:nvSpPr>
        <p:spPr>
          <a:xfrm>
            <a:off x="1336897" y="1051311"/>
            <a:ext cx="1084143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48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咱们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pron.	</a:t>
            </a:r>
            <a:r>
              <a:rPr lang="en-US" sz="48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zánmen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we, us (includes the all the people who are there)</a:t>
            </a:r>
            <a:endParaRPr sz="48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16" descr="A picture containing doll, vector graphic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6781" y="3313578"/>
            <a:ext cx="6424612" cy="64246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114300"/>
            <a:ext cx="110490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7"/>
          <p:cNvSpPr txBox="1"/>
          <p:nvPr/>
        </p:nvSpPr>
        <p:spPr>
          <a:xfrm>
            <a:off x="4636477" y="320512"/>
            <a:ext cx="11787554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医院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n.	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yīyuàn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hospital</a:t>
            </a:r>
            <a:endParaRPr sz="7200" b="0" i="0" u="none" strike="noStrike" cap="none" dirty="0">
              <a:solidFill>
                <a:srgbClr val="073A64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335" name="Google Shape;33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99918" y="1856318"/>
            <a:ext cx="2617575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 descr="A picture containing text, sky, outdoor, ligh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9293" y="2740781"/>
            <a:ext cx="6729412" cy="6729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81996"/>
            <a:ext cx="158496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3"/>
          <p:cNvSpPr txBox="1"/>
          <p:nvPr/>
        </p:nvSpPr>
        <p:spPr>
          <a:xfrm>
            <a:off x="2057400" y="375362"/>
            <a:ext cx="155448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住院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  v.	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zhùyuàn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 	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to be hospitalized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64460" y="1497234"/>
            <a:ext cx="69342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3" descr="A picture containing tex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5494" y="2748746"/>
            <a:ext cx="6577012" cy="6577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114300"/>
            <a:ext cx="110490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8"/>
          <p:cNvSpPr txBox="1"/>
          <p:nvPr/>
        </p:nvSpPr>
        <p:spPr>
          <a:xfrm>
            <a:off x="4665785" y="349564"/>
            <a:ext cx="1028113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帮   v.	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bānɡ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	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to help</a:t>
            </a:r>
            <a:endParaRPr sz="7200" b="0" i="0" u="none" strike="noStrike" cap="none" dirty="0">
              <a:solidFill>
                <a:srgbClr val="073A64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351" name="Google Shape;3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97889" y="1617172"/>
            <a:ext cx="2617575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8" descr="A person and a child playing in the woods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100" y="2562860"/>
            <a:ext cx="8470900" cy="635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53" name="Google Shape;353;p18"/>
          <p:cNvSpPr/>
          <p:nvPr/>
        </p:nvSpPr>
        <p:spPr>
          <a:xfrm>
            <a:off x="11101876" y="2946767"/>
            <a:ext cx="3182129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11406676" y="3164774"/>
            <a:ext cx="2722402" cy="2799549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bānɡ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帮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他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Help him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Google Shape;354;p18">
            <a:extLst>
              <a:ext uri="{FF2B5EF4-FFF2-40B4-BE49-F238E27FC236}">
                <a16:creationId xmlns:a16="http://schemas.microsoft.com/office/drawing/2014/main" id="{2FBD7EDB-75AB-8762-46B1-82271D333AD1}"/>
              </a:ext>
            </a:extLst>
          </p:cNvPr>
          <p:cNvSpPr txBox="1"/>
          <p:nvPr/>
        </p:nvSpPr>
        <p:spPr>
          <a:xfrm>
            <a:off x="11561603" y="6884724"/>
            <a:ext cx="2722402" cy="267765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rgbClr val="2E2F30"/>
              </a:buClr>
              <a:buSzPts val="2800"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bānɡ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mā</a:t>
            </a:r>
            <a:r>
              <a:rPr lang="en-US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m</a:t>
            </a:r>
            <a:r>
              <a:rPr lang="en-US" altLang="zh-CN" sz="28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a</a:t>
            </a:r>
          </a:p>
          <a:p>
            <a:pPr lvl="0">
              <a:lnSpc>
                <a:spcPct val="150000"/>
              </a:lnSpc>
              <a:buClr>
                <a:srgbClr val="2E2F30"/>
              </a:buClr>
              <a:buSzPts val="2800"/>
            </a:pP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帮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Help </a:t>
            </a:r>
            <a:r>
              <a:rPr lang="en-US" altLang="zh-CN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Mom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14300"/>
            <a:ext cx="150876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9"/>
          <p:cNvSpPr txBox="1"/>
          <p:nvPr/>
        </p:nvSpPr>
        <p:spPr>
          <a:xfrm>
            <a:off x="1905000" y="495300"/>
            <a:ext cx="147828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打针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  v.	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dǎzhēn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	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ɡive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an injection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6800" y="1575298"/>
            <a:ext cx="71628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9" descr="Diagram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3018" y="2704640"/>
            <a:ext cx="6786764" cy="678676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800" y="38100"/>
            <a:ext cx="126492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1"/>
          <p:cNvSpPr txBox="1"/>
          <p:nvPr/>
        </p:nvSpPr>
        <p:spPr>
          <a:xfrm>
            <a:off x="2819400" y="331466"/>
            <a:ext cx="12649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如果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  conj.	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rúɡuǒ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 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if, 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in case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06145" y="1520186"/>
            <a:ext cx="32766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1" descr="A picture containing tex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73708" y="2409374"/>
            <a:ext cx="2722984" cy="272298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1"/>
          <p:cNvSpPr/>
          <p:nvPr/>
        </p:nvSpPr>
        <p:spPr>
          <a:xfrm>
            <a:off x="5943600" y="2469484"/>
            <a:ext cx="6100845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5398477" y="2687491"/>
            <a:ext cx="6645969" cy="2496709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Rúɡuǒ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xiǎnɡ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jiù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ba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如果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想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去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就去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吧。</a:t>
            </a:r>
            <a:endParaRPr lang="en-US" sz="40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ɡo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if you want to.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2286000" y="5343294"/>
            <a:ext cx="14284556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1389001" y="6044955"/>
            <a:ext cx="15052797" cy="241175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Rúɡuǒ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ɡè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xiǎoshí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yǐhòu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fāshāo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altLang="zh-CN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ù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zhùyuàn</a:t>
            </a:r>
            <a:r>
              <a:rPr lang="en-US" sz="2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如果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一个小时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以后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还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发烧，你</a:t>
            </a:r>
            <a:r>
              <a:rPr lang="zh-CN" alt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就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要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住院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了。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If you still have a fever after an hour, you may be hospitalized.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800" y="38100"/>
            <a:ext cx="126492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2"/>
          <p:cNvSpPr txBox="1"/>
          <p:nvPr/>
        </p:nvSpPr>
        <p:spPr>
          <a:xfrm>
            <a:off x="3962400" y="331466"/>
            <a:ext cx="9982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小时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  n.	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xiǎoshí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 	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hour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0" y="1297152"/>
            <a:ext cx="25146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2" descr="Ic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6400" y="2476500"/>
            <a:ext cx="6805612" cy="680561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2"/>
          <p:cNvSpPr/>
          <p:nvPr/>
        </p:nvSpPr>
        <p:spPr>
          <a:xfrm>
            <a:off x="8839200" y="2486840"/>
            <a:ext cx="3303035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9091611" y="2704847"/>
            <a:ext cx="3096357" cy="2799549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ɡè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xiǎoshí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 个 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小时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endParaRPr sz="4400" b="1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One hour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11734800" y="5719331"/>
            <a:ext cx="3836859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11987211" y="5937338"/>
            <a:ext cx="4085128" cy="2799549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liǎnɡ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ɡè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xiǎoshí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两 个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小时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endParaRPr lang="en-US" sz="44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Two hours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81996"/>
            <a:ext cx="158496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 txBox="1"/>
          <p:nvPr/>
        </p:nvSpPr>
        <p:spPr>
          <a:xfrm>
            <a:off x="1676400" y="375362"/>
            <a:ext cx="155448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一定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  adv.	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yídìnɡ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 	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certainly; surely</a:t>
            </a:r>
            <a:endParaRPr sz="7200" b="0" i="0" u="none" strike="noStrike" cap="none" dirty="0">
              <a:solidFill>
                <a:srgbClr val="073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0" y="1341048"/>
            <a:ext cx="69342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4" descr="A picture containing tex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611226"/>
            <a:ext cx="3300412" cy="3300412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4"/>
          <p:cNvSpPr/>
          <p:nvPr/>
        </p:nvSpPr>
        <p:spPr>
          <a:xfrm>
            <a:off x="11163300" y="4608171"/>
            <a:ext cx="5567021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4"/>
          <p:cNvSpPr txBox="1"/>
          <p:nvPr/>
        </p:nvSpPr>
        <p:spPr>
          <a:xfrm>
            <a:off x="11415711" y="4826178"/>
            <a:ext cx="5451042" cy="339785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yídìnɡ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zhùyuàn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一定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要 </a:t>
            </a:r>
            <a:r>
              <a:rPr lang="en-US" sz="44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住院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了。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Will definitely be hospitalized.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407" name="Google Shape;407;p24" descr="A picture containing 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3400" y="2443914"/>
            <a:ext cx="6577012" cy="6577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81996"/>
            <a:ext cx="15849600" cy="180012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5"/>
          <p:cNvSpPr txBox="1"/>
          <p:nvPr/>
        </p:nvSpPr>
        <p:spPr>
          <a:xfrm>
            <a:off x="2220754" y="480125"/>
            <a:ext cx="155448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手续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n.	 </a:t>
            </a:r>
            <a:r>
              <a:rPr lang="en-US" sz="48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shǒuxù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	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procedure; process</a:t>
            </a:r>
            <a:endParaRPr sz="6000" b="0" i="0" u="none" strike="noStrike" cap="none" dirty="0">
              <a:solidFill>
                <a:srgbClr val="073A64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414" name="Google Shape;41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3046" y="1478228"/>
            <a:ext cx="6934200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5" descr="A picture containing tex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6934" y="2135644"/>
            <a:ext cx="6577012" cy="6577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16" name="Google Shape;416;p25"/>
          <p:cNvSpPr/>
          <p:nvPr/>
        </p:nvSpPr>
        <p:spPr>
          <a:xfrm>
            <a:off x="2834639" y="7163377"/>
            <a:ext cx="12888035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5"/>
          <p:cNvSpPr txBox="1"/>
          <p:nvPr/>
        </p:nvSpPr>
        <p:spPr>
          <a:xfrm>
            <a:off x="2834639" y="7312881"/>
            <a:ext cx="14837899" cy="254223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       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zhùyuàn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shǒuxù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			先 去 </a:t>
            </a:r>
            <a:r>
              <a:rPr lang="en-US" sz="4400" b="0" i="0" u="sng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办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住院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手续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吧。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Let's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ɡo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throuɡh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the hospitalization procedure first.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FE2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1"/>
          <p:cNvSpPr/>
          <p:nvPr/>
        </p:nvSpPr>
        <p:spPr>
          <a:xfrm>
            <a:off x="6568378" y="4306407"/>
            <a:ext cx="787880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1"/>
          <p:cNvSpPr/>
          <p:nvPr/>
        </p:nvSpPr>
        <p:spPr>
          <a:xfrm>
            <a:off x="3813196" y="1941462"/>
            <a:ext cx="1279870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1"/>
          <p:cNvSpPr/>
          <p:nvPr/>
        </p:nvSpPr>
        <p:spPr>
          <a:xfrm>
            <a:off x="1285749" y="1485043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" name="Google Shape;61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267" y="1405664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7542" y="3753175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6600" y="143093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1"/>
          <p:cNvSpPr txBox="1"/>
          <p:nvPr/>
        </p:nvSpPr>
        <p:spPr>
          <a:xfrm>
            <a:off x="7239000" y="150713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86265" y="1595763"/>
            <a:ext cx="2157412" cy="2157412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1"/>
          <p:cNvSpPr txBox="1"/>
          <p:nvPr/>
        </p:nvSpPr>
        <p:spPr>
          <a:xfrm>
            <a:off x="4362314" y="2112549"/>
            <a:ext cx="13080298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jīntiān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xīnɡqīyī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shànɡkè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妈妈：叮叮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今天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星期一，你不去上课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吗？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20" name="Google Shape;620;p41"/>
          <p:cNvSpPr/>
          <p:nvPr/>
        </p:nvSpPr>
        <p:spPr>
          <a:xfrm>
            <a:off x="14979978" y="4135547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1" name="Google Shape;62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22496" y="4056168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61771" y="6403679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1" descr="A person wearing a red shirt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346748" y="4210375"/>
            <a:ext cx="2224903" cy="2224903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1"/>
          <p:cNvSpPr txBox="1"/>
          <p:nvPr/>
        </p:nvSpPr>
        <p:spPr>
          <a:xfrm>
            <a:off x="6732208" y="4339741"/>
            <a:ext cx="8205281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Mā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ma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xiànzài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diǎn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叮：妈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现在几点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了？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25" name="Google Shape;625;p41"/>
          <p:cNvSpPr/>
          <p:nvPr/>
        </p:nvSpPr>
        <p:spPr>
          <a:xfrm>
            <a:off x="3782715" y="7069623"/>
            <a:ext cx="902605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1"/>
          <p:cNvSpPr/>
          <p:nvPr/>
        </p:nvSpPr>
        <p:spPr>
          <a:xfrm>
            <a:off x="1255268" y="6613204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7786" y="6533825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55784" y="6723924"/>
            <a:ext cx="2157412" cy="2157412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1"/>
          <p:cNvSpPr txBox="1"/>
          <p:nvPr/>
        </p:nvSpPr>
        <p:spPr>
          <a:xfrm>
            <a:off x="4331833" y="7240710"/>
            <a:ext cx="10508431" cy="1921535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	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diǎn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le?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妈：七点半了，你怎么了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30" name="Google Shape;630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4286" y="9038177"/>
            <a:ext cx="239485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FE2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2"/>
          <p:cNvSpPr/>
          <p:nvPr/>
        </p:nvSpPr>
        <p:spPr>
          <a:xfrm>
            <a:off x="5562600" y="4439828"/>
            <a:ext cx="1001410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2"/>
          <p:cNvSpPr/>
          <p:nvPr/>
        </p:nvSpPr>
        <p:spPr>
          <a:xfrm>
            <a:off x="3813197" y="1941462"/>
            <a:ext cx="952937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2"/>
          <p:cNvSpPr/>
          <p:nvPr/>
        </p:nvSpPr>
        <p:spPr>
          <a:xfrm>
            <a:off x="1285749" y="1485043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8" name="Google Shape;63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267" y="1405664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7542" y="3753175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39800" y="157105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2"/>
          <p:cNvSpPr txBox="1"/>
          <p:nvPr/>
        </p:nvSpPr>
        <p:spPr>
          <a:xfrm>
            <a:off x="13792200" y="164725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2"/>
          <p:cNvSpPr txBox="1"/>
          <p:nvPr/>
        </p:nvSpPr>
        <p:spPr>
          <a:xfrm>
            <a:off x="4362314" y="2112549"/>
            <a:ext cx="9277486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yòu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tóuténɡ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sǎnɡzi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yě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ténɡ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叮：我又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头疼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了,嗓子也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疼。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43" name="Google Shape;643;p42"/>
          <p:cNvSpPr/>
          <p:nvPr/>
        </p:nvSpPr>
        <p:spPr>
          <a:xfrm>
            <a:off x="14979978" y="4135547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22496" y="4056168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61771" y="6403679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2" descr="A person wearing a red shirt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0578" y="1594552"/>
            <a:ext cx="2224903" cy="2224903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2"/>
          <p:cNvSpPr txBox="1"/>
          <p:nvPr/>
        </p:nvSpPr>
        <p:spPr>
          <a:xfrm>
            <a:off x="4999897" y="4657282"/>
            <a:ext cx="9895104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zuótiān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kànbìnɡ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妈：你昨天去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看病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 吗？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48" name="Google Shape;648;p42"/>
          <p:cNvSpPr/>
          <p:nvPr/>
        </p:nvSpPr>
        <p:spPr>
          <a:xfrm>
            <a:off x="3782715" y="7069623"/>
            <a:ext cx="1131387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2"/>
          <p:cNvSpPr/>
          <p:nvPr/>
        </p:nvSpPr>
        <p:spPr>
          <a:xfrm>
            <a:off x="1255268" y="6613204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0" name="Google Shape;65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7786" y="6533825"/>
            <a:ext cx="2434133" cy="385036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2"/>
          <p:cNvSpPr txBox="1"/>
          <p:nvPr/>
        </p:nvSpPr>
        <p:spPr>
          <a:xfrm>
            <a:off x="4331824" y="7240699"/>
            <a:ext cx="11313870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le,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yě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le,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kěshì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méi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叮叮：去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了，药也吃了，可是还没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好。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52" name="Google Shape;652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4286" y="9038177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380494" y="4260156"/>
            <a:ext cx="2157412" cy="215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42" descr="A person wearing a red shirt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0" y="6880997"/>
            <a:ext cx="2224903" cy="2224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FE2"/>
        </a:solidFill>
        <a:effectLst/>
      </p:bgPr>
    </p:bg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3"/>
          <p:cNvSpPr/>
          <p:nvPr/>
        </p:nvSpPr>
        <p:spPr>
          <a:xfrm>
            <a:off x="10520995" y="5586864"/>
            <a:ext cx="467586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3"/>
          <p:cNvSpPr/>
          <p:nvPr/>
        </p:nvSpPr>
        <p:spPr>
          <a:xfrm>
            <a:off x="3437592" y="3088498"/>
            <a:ext cx="9033228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3"/>
          <p:cNvSpPr/>
          <p:nvPr/>
        </p:nvSpPr>
        <p:spPr>
          <a:xfrm>
            <a:off x="910144" y="2632079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2" name="Google Shape;66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662" y="2552700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1937" y="4900211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716000" y="121548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3"/>
          <p:cNvSpPr txBox="1"/>
          <p:nvPr/>
        </p:nvSpPr>
        <p:spPr>
          <a:xfrm>
            <a:off x="13868400" y="129168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6" name="Google Shape;666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10660" y="2742799"/>
            <a:ext cx="2157412" cy="2157412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3"/>
          <p:cNvSpPr txBox="1"/>
          <p:nvPr/>
        </p:nvSpPr>
        <p:spPr>
          <a:xfrm>
            <a:off x="3986697" y="3259574"/>
            <a:ext cx="10706239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	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Zánmen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yīyuàn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ba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妈妈：咱们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再去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医院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吧。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68" name="Google Shape;668;p43"/>
          <p:cNvSpPr/>
          <p:nvPr/>
        </p:nvSpPr>
        <p:spPr>
          <a:xfrm>
            <a:off x="14604373" y="5282583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46891" y="5203204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86166" y="7550715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43" descr="A person wearing a red shirt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971143" y="5357411"/>
            <a:ext cx="2224903" cy="2224903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3"/>
          <p:cNvSpPr txBox="1"/>
          <p:nvPr/>
        </p:nvSpPr>
        <p:spPr>
          <a:xfrm>
            <a:off x="10646415" y="5804324"/>
            <a:ext cx="4591186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Hǎo de.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叮叮：好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的。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FE2"/>
        </a:solid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4"/>
          <p:cNvSpPr/>
          <p:nvPr/>
        </p:nvSpPr>
        <p:spPr>
          <a:xfrm>
            <a:off x="6553200" y="5851910"/>
            <a:ext cx="9022715" cy="347597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4"/>
          <p:cNvSpPr/>
          <p:nvPr/>
        </p:nvSpPr>
        <p:spPr>
          <a:xfrm>
            <a:off x="3813197" y="1635840"/>
            <a:ext cx="9529372" cy="3471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4"/>
          <p:cNvSpPr/>
          <p:nvPr/>
        </p:nvSpPr>
        <p:spPr>
          <a:xfrm>
            <a:off x="1285749" y="2098679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0" name="Google Shape;68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267" y="2019300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7542" y="4366811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1953" y="160731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4"/>
          <p:cNvSpPr txBox="1"/>
          <p:nvPr/>
        </p:nvSpPr>
        <p:spPr>
          <a:xfrm>
            <a:off x="7014353" y="168351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4"/>
          <p:cNvSpPr txBox="1"/>
          <p:nvPr/>
        </p:nvSpPr>
        <p:spPr>
          <a:xfrm>
            <a:off x="4362314" y="1808011"/>
            <a:ext cx="10291670" cy="3730252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Yīshēnɡ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méi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叮：医生，我还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没 好，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lvl="0">
              <a:lnSpc>
                <a:spcPct val="216249"/>
              </a:lnSpc>
              <a:buClr>
                <a:srgbClr val="2E2F30"/>
              </a:buClr>
              <a:buSzPts val="2800"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nénɡ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bānɡ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yíxiàr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altLang="zh-CN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ma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lvl="0">
              <a:lnSpc>
                <a:spcPct val="137613"/>
              </a:lnSpc>
              <a:buClr>
                <a:srgbClr val="2E2F30"/>
              </a:buClr>
              <a:buSzPts val="4400"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能 帮 我 </a:t>
            </a:r>
            <a:r>
              <a:rPr lang="en-US" sz="44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再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看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一下儿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吗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85" name="Google Shape;685;p44"/>
          <p:cNvSpPr/>
          <p:nvPr/>
        </p:nvSpPr>
        <p:spPr>
          <a:xfrm>
            <a:off x="14979978" y="6228168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6" name="Google Shape;68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7230" y="6051552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61771" y="8496300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4" descr="A person wearing a red shirt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0578" y="2208188"/>
            <a:ext cx="2224903" cy="2224903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4"/>
          <p:cNvSpPr txBox="1"/>
          <p:nvPr/>
        </p:nvSpPr>
        <p:spPr>
          <a:xfrm>
            <a:off x="6264515" y="6001242"/>
            <a:ext cx="9022715" cy="3730252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shēnɡ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Zuótiān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le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liǎnɡ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zhēn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医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生：昨天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打 了	两	针，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jīntiān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zàiɡěi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zhēn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今天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我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再给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你 打 一 针。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90" name="Google Shape;690;p44" descr="A picture containing doll, toy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82594" y="6488115"/>
            <a:ext cx="2043406" cy="2043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FE2"/>
        </a:solid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5"/>
          <p:cNvSpPr/>
          <p:nvPr/>
        </p:nvSpPr>
        <p:spPr>
          <a:xfrm>
            <a:off x="5257800" y="3769437"/>
            <a:ext cx="10319145" cy="347597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5"/>
          <p:cNvSpPr/>
          <p:nvPr/>
        </p:nvSpPr>
        <p:spPr>
          <a:xfrm>
            <a:off x="4074711" y="1484603"/>
            <a:ext cx="9267650" cy="1830903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5"/>
          <p:cNvSpPr/>
          <p:nvPr/>
        </p:nvSpPr>
        <p:spPr>
          <a:xfrm>
            <a:off x="1285749" y="1108079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267" y="1028700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7542" y="3376211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76307" y="99791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5"/>
          <p:cNvSpPr txBox="1"/>
          <p:nvPr/>
        </p:nvSpPr>
        <p:spPr>
          <a:xfrm>
            <a:off x="14028707" y="107411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5"/>
          <p:cNvSpPr txBox="1"/>
          <p:nvPr/>
        </p:nvSpPr>
        <p:spPr>
          <a:xfrm>
            <a:off x="4362313" y="1655611"/>
            <a:ext cx="10319145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ǎ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ode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Yīshēnɡ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fāshāo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ne.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：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好的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医生，我还发烧呢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703" name="Google Shape;703;p45"/>
          <p:cNvSpPr/>
          <p:nvPr/>
        </p:nvSpPr>
        <p:spPr>
          <a:xfrm>
            <a:off x="14979978" y="4145695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87230" y="3969079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61771" y="6413827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45" descr="A person wearing a red shirt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0578" y="1217588"/>
            <a:ext cx="2224903" cy="2224903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5"/>
          <p:cNvSpPr txBox="1"/>
          <p:nvPr/>
        </p:nvSpPr>
        <p:spPr>
          <a:xfrm>
            <a:off x="5114821" y="3987974"/>
            <a:ext cx="12718431" cy="3730252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shēnɡ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Rúɡuǒ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yíɡè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xiǎoshí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yǐhòu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fāshāo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医生：如果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一个小时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以后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还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发烧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kěnénɡ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zhùyuàn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要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住院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708" name="Google Shape;708;p45" descr="A picture containing doll, toy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82594" y="4405642"/>
            <a:ext cx="2043406" cy="20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5"/>
          <p:cNvSpPr/>
          <p:nvPr/>
        </p:nvSpPr>
        <p:spPr>
          <a:xfrm>
            <a:off x="3962400" y="7653847"/>
            <a:ext cx="4270591" cy="1830903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5"/>
          <p:cNvSpPr/>
          <p:nvPr/>
        </p:nvSpPr>
        <p:spPr>
          <a:xfrm>
            <a:off x="1173438" y="7277323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1" name="Google Shape;71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5956" y="7197944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5231" y="9545455"/>
            <a:ext cx="239485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45"/>
          <p:cNvSpPr txBox="1"/>
          <p:nvPr/>
        </p:nvSpPr>
        <p:spPr>
          <a:xfrm>
            <a:off x="4249999" y="7824849"/>
            <a:ext cx="4846227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Hǎo de.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叮：好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的。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714" name="Google Shape;714;p45" descr="A person wearing a red shirt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8267" y="7386832"/>
            <a:ext cx="2224903" cy="2224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AFE2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6"/>
          <p:cNvSpPr/>
          <p:nvPr/>
        </p:nvSpPr>
        <p:spPr>
          <a:xfrm>
            <a:off x="8347306" y="2887516"/>
            <a:ext cx="6887420" cy="1983478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6"/>
          <p:cNvSpPr/>
          <p:nvPr/>
        </p:nvSpPr>
        <p:spPr>
          <a:xfrm>
            <a:off x="3735216" y="875003"/>
            <a:ext cx="9725212" cy="1830903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6"/>
          <p:cNvSpPr/>
          <p:nvPr/>
        </p:nvSpPr>
        <p:spPr>
          <a:xfrm>
            <a:off x="946255" y="498479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773" y="419100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8048" y="2766611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76307" y="99791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6"/>
          <p:cNvSpPr txBox="1"/>
          <p:nvPr/>
        </p:nvSpPr>
        <p:spPr>
          <a:xfrm>
            <a:off x="14028707" y="107411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3710370" y="1042348"/>
            <a:ext cx="11070211" cy="1529073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shēnɡ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fāshāo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zhùyuàn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医生：你还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发烧</a:t>
            </a:r>
            <a:r>
              <a:rPr lang="zh-CN" alt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要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住院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727" name="Google Shape;727;p46"/>
          <p:cNvSpPr/>
          <p:nvPr/>
        </p:nvSpPr>
        <p:spPr>
          <a:xfrm>
            <a:off x="14640484" y="2247043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8" name="Google Shape;728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29972" y="2110748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22277" y="4515175"/>
            <a:ext cx="239485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6"/>
          <p:cNvSpPr txBox="1"/>
          <p:nvPr/>
        </p:nvSpPr>
        <p:spPr>
          <a:xfrm>
            <a:off x="7173838" y="2923389"/>
            <a:ext cx="7222723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à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à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i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：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大概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要  住  几 天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731" name="Google Shape;731;p46" descr="A picture containing doll, toy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1319033" y="740849"/>
            <a:ext cx="2043406" cy="20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6"/>
          <p:cNvSpPr/>
          <p:nvPr/>
        </p:nvSpPr>
        <p:spPr>
          <a:xfrm>
            <a:off x="3622906" y="5066003"/>
            <a:ext cx="13345598" cy="1830903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6"/>
          <p:cNvSpPr/>
          <p:nvPr/>
        </p:nvSpPr>
        <p:spPr>
          <a:xfrm>
            <a:off x="833944" y="4689479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4" name="Google Shape;73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462" y="4610100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737" y="6957611"/>
            <a:ext cx="239485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6"/>
          <p:cNvSpPr txBox="1"/>
          <p:nvPr/>
        </p:nvSpPr>
        <p:spPr>
          <a:xfrm>
            <a:off x="3910509" y="5237011"/>
            <a:ext cx="13406626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shēnɡ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	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à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à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i</a:t>
            </a:r>
            <a:r>
              <a:rPr lang="en-US" altLang="zh-CN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liǎnɡ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zhùyuàn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shǒuxù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ba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医 生：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大概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两 三 天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吧。先去办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住院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手续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吧。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737" name="Google Shape;737;p46" descr="A person wearing a red shirt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007254" y="2314553"/>
            <a:ext cx="2224903" cy="2224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46" descr="A picture containing doll, toy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1319033" y="4968783"/>
            <a:ext cx="2043406" cy="204340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6"/>
          <p:cNvSpPr/>
          <p:nvPr/>
        </p:nvSpPr>
        <p:spPr>
          <a:xfrm>
            <a:off x="8205610" y="7783041"/>
            <a:ext cx="6887420" cy="1983478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6"/>
          <p:cNvSpPr/>
          <p:nvPr/>
        </p:nvSpPr>
        <p:spPr>
          <a:xfrm>
            <a:off x="14498788" y="7142568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1" name="Google Shape;74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88276" y="7006273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780581" y="9410700"/>
            <a:ext cx="239485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6"/>
          <p:cNvSpPr txBox="1"/>
          <p:nvPr/>
        </p:nvSpPr>
        <p:spPr>
          <a:xfrm>
            <a:off x="8244625" y="7878294"/>
            <a:ext cx="6169185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dīnɡ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Xiè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shēnɡ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叮：谢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谢，医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生。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744" name="Google Shape;744;p46" descr="A person wearing a red shirt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65558" y="7210078"/>
            <a:ext cx="2224903" cy="2224903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46"/>
          <p:cNvSpPr/>
          <p:nvPr/>
        </p:nvSpPr>
        <p:spPr>
          <a:xfrm>
            <a:off x="6656925" y="99134"/>
            <a:ext cx="3709915" cy="92781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6"/>
          <p:cNvSpPr txBox="1"/>
          <p:nvPr/>
        </p:nvSpPr>
        <p:spPr>
          <a:xfrm>
            <a:off x="6743658" y="269336"/>
            <a:ext cx="3471907" cy="525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34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  <a:r>
              <a:rPr lang="en-US" sz="2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 hour later)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61150"/>
            <a:ext cx="12039600" cy="292790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6"/>
          <p:cNvSpPr txBox="1"/>
          <p:nvPr/>
        </p:nvSpPr>
        <p:spPr>
          <a:xfrm>
            <a:off x="1752600" y="354516"/>
            <a:ext cx="94488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怎么了”的用法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Usaɡe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of “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怎么了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2826012"/>
            <a:ext cx="9525000" cy="678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5" name="Google Shape;425;p26"/>
          <p:cNvGrpSpPr/>
          <p:nvPr/>
        </p:nvGrpSpPr>
        <p:grpSpPr>
          <a:xfrm>
            <a:off x="2133600" y="3848100"/>
            <a:ext cx="14250481" cy="4419600"/>
            <a:chOff x="0" y="0"/>
            <a:chExt cx="23364949" cy="14896719"/>
          </a:xfrm>
        </p:grpSpPr>
        <p:sp>
          <p:nvSpPr>
            <p:cNvPr id="426" name="Google Shape;426;p26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427" name="Google Shape;427;p26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6"/>
          <p:cNvSpPr txBox="1"/>
          <p:nvPr/>
        </p:nvSpPr>
        <p:spPr>
          <a:xfrm>
            <a:off x="2668080" y="4510833"/>
            <a:ext cx="13335000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怎么了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 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可以用来询问事情所发生的原因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怎么了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 is used to ask about the reason or the cause of 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somethinɡ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that has happened.</a:t>
            </a:r>
            <a:b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</a:b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(What happened?)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8479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61150"/>
            <a:ext cx="12039600" cy="292790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7"/>
          <p:cNvSpPr txBox="1"/>
          <p:nvPr/>
        </p:nvSpPr>
        <p:spPr>
          <a:xfrm>
            <a:off x="1752599" y="354516"/>
            <a:ext cx="11102194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怎么了”的用法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Usaɡe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of “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怎么了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35" name="Google Shape;43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3163" y="2831203"/>
            <a:ext cx="9525000" cy="67825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/>
          <p:nvPr/>
        </p:nvSpPr>
        <p:spPr>
          <a:xfrm>
            <a:off x="4341221" y="3388973"/>
            <a:ext cx="6865631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1813774" y="3354179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6292" y="3274800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95567" y="5622311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14290" y="3464899"/>
            <a:ext cx="2157412" cy="2157412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7"/>
          <p:cNvSpPr txBox="1"/>
          <p:nvPr/>
        </p:nvSpPr>
        <p:spPr>
          <a:xfrm>
            <a:off x="5016141" y="3770574"/>
            <a:ext cx="9263891" cy="2462213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le？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A：你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怎么了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What's happened to you?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(What’s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wronɡ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?)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8765876" y="6576459"/>
            <a:ext cx="5388354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13405904" y="6232787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48422" y="6153408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687697" y="8500919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7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772674" y="6307615"/>
            <a:ext cx="2224903" cy="2224903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7"/>
          <p:cNvSpPr txBox="1"/>
          <p:nvPr/>
        </p:nvSpPr>
        <p:spPr>
          <a:xfrm>
            <a:off x="7472427" y="6890349"/>
            <a:ext cx="5388354" cy="2542234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tóuténɡ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B：我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头疼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have a headache.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8275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61150"/>
            <a:ext cx="12039600" cy="2927904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8"/>
          <p:cNvSpPr txBox="1"/>
          <p:nvPr/>
        </p:nvSpPr>
        <p:spPr>
          <a:xfrm>
            <a:off x="1752600" y="354516"/>
            <a:ext cx="10697308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怎么了”的用法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Usaɡe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of “</a:t>
            </a:r>
            <a:r>
              <a:rPr lang="en-US" sz="72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怎么了</a:t>
            </a:r>
            <a:r>
              <a:rPr lang="en-US" sz="72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54" name="Google Shape;45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3163" y="2801210"/>
            <a:ext cx="9525000" cy="678252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8"/>
          <p:cNvSpPr/>
          <p:nvPr/>
        </p:nvSpPr>
        <p:spPr>
          <a:xfrm>
            <a:off x="4341221" y="3388973"/>
            <a:ext cx="9839793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1813774" y="3354179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6292" y="3274800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95567" y="5622311"/>
            <a:ext cx="239485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8"/>
          <p:cNvSpPr txBox="1"/>
          <p:nvPr/>
        </p:nvSpPr>
        <p:spPr>
          <a:xfrm>
            <a:off x="4772217" y="3416740"/>
            <a:ext cx="11744707" cy="262963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A：你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的手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怎么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What’s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wronɡ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with your hand?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8610600" y="6536515"/>
            <a:ext cx="5388354" cy="272298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13405904" y="6232787"/>
            <a:ext cx="2920574" cy="2653573"/>
          </a:xfrm>
          <a:custGeom>
            <a:avLst/>
            <a:gdLst/>
            <a:ahLst/>
            <a:cxnLst/>
            <a:rect l="l" t="t" r="r" b="b"/>
            <a:pathLst>
              <a:path w="7843520" h="3934460" extrusionOk="0">
                <a:moveTo>
                  <a:pt x="7797800" y="1043940"/>
                </a:moveTo>
                <a:cubicBezTo>
                  <a:pt x="7791450" y="952500"/>
                  <a:pt x="7766050" y="863600"/>
                  <a:pt x="7727950" y="777240"/>
                </a:cubicBezTo>
                <a:cubicBezTo>
                  <a:pt x="7592060" y="478790"/>
                  <a:pt x="7280910" y="233680"/>
                  <a:pt x="6954519" y="189230"/>
                </a:cubicBezTo>
                <a:cubicBezTo>
                  <a:pt x="6681469" y="156210"/>
                  <a:pt x="6409689" y="127000"/>
                  <a:pt x="6139179" y="102870"/>
                </a:cubicBezTo>
                <a:cubicBezTo>
                  <a:pt x="5712459" y="64770"/>
                  <a:pt x="5287009" y="36830"/>
                  <a:pt x="4864099" y="20320"/>
                </a:cubicBezTo>
                <a:cubicBezTo>
                  <a:pt x="4464049" y="5080"/>
                  <a:pt x="4065269" y="0"/>
                  <a:pt x="3665219" y="3810"/>
                </a:cubicBezTo>
                <a:cubicBezTo>
                  <a:pt x="2744470" y="12700"/>
                  <a:pt x="1823720" y="74930"/>
                  <a:pt x="889000" y="189230"/>
                </a:cubicBezTo>
                <a:cubicBezTo>
                  <a:pt x="469900" y="246380"/>
                  <a:pt x="76200" y="635000"/>
                  <a:pt x="45720" y="1042670"/>
                </a:cubicBezTo>
                <a:cubicBezTo>
                  <a:pt x="0" y="1657350"/>
                  <a:pt x="0" y="2274570"/>
                  <a:pt x="45720" y="2890520"/>
                </a:cubicBezTo>
                <a:cubicBezTo>
                  <a:pt x="76200" y="3299460"/>
                  <a:pt x="468630" y="3688080"/>
                  <a:pt x="889000" y="3743960"/>
                </a:cubicBezTo>
                <a:cubicBezTo>
                  <a:pt x="1336040" y="3798570"/>
                  <a:pt x="1780540" y="3841750"/>
                  <a:pt x="2223770" y="3872230"/>
                </a:cubicBezTo>
                <a:cubicBezTo>
                  <a:pt x="2600960" y="3898900"/>
                  <a:pt x="2978150" y="3916680"/>
                  <a:pt x="3352800" y="3924300"/>
                </a:cubicBezTo>
                <a:cubicBezTo>
                  <a:pt x="3804920" y="3934460"/>
                  <a:pt x="4258310" y="3933190"/>
                  <a:pt x="4710430" y="3917950"/>
                </a:cubicBezTo>
                <a:cubicBezTo>
                  <a:pt x="5030470" y="3907790"/>
                  <a:pt x="5350510" y="3891280"/>
                  <a:pt x="5670550" y="3867150"/>
                </a:cubicBezTo>
                <a:cubicBezTo>
                  <a:pt x="5797550" y="3858260"/>
                  <a:pt x="5925820" y="3848100"/>
                  <a:pt x="6052820" y="3836670"/>
                </a:cubicBezTo>
                <a:cubicBezTo>
                  <a:pt x="6245860" y="3820161"/>
                  <a:pt x="6438900" y="3801111"/>
                  <a:pt x="6631940" y="3779520"/>
                </a:cubicBezTo>
                <a:cubicBezTo>
                  <a:pt x="6738620" y="3768090"/>
                  <a:pt x="6845300" y="3755390"/>
                  <a:pt x="6951980" y="3742690"/>
                </a:cubicBezTo>
                <a:cubicBezTo>
                  <a:pt x="7372350" y="3685540"/>
                  <a:pt x="7764780" y="3296920"/>
                  <a:pt x="7796530" y="2889251"/>
                </a:cubicBezTo>
                <a:cubicBezTo>
                  <a:pt x="7843520" y="2275840"/>
                  <a:pt x="7843520" y="1658620"/>
                  <a:pt x="7797800" y="1043940"/>
                </a:cubicBezTo>
                <a:close/>
              </a:path>
            </a:pathLst>
          </a:custGeom>
          <a:solidFill>
            <a:srgbClr val="FFFA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48422" y="6153408"/>
            <a:ext cx="2434133" cy="385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687697" y="8500919"/>
            <a:ext cx="239485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8" descr="A person wearing a red shirt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80544" y="3451997"/>
            <a:ext cx="2224903" cy="222490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8"/>
          <p:cNvSpPr txBox="1"/>
          <p:nvPr/>
        </p:nvSpPr>
        <p:spPr>
          <a:xfrm>
            <a:off x="7174523" y="6703655"/>
            <a:ext cx="6231381" cy="2083071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7613"/>
              </a:lnSpc>
              <a:buClr>
                <a:srgbClr val="2E2F30"/>
              </a:buClr>
              <a:buSzPts val="4400"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de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shòu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shānɡ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altLang="zh-CN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le</a:t>
            </a:r>
            <a:endParaRPr lang="en-US"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>
              <a:lnSpc>
                <a:spcPct val="137613"/>
              </a:lnSpc>
              <a:buClr>
                <a:srgbClr val="2E2F30"/>
              </a:buClr>
              <a:buSzPts val="4400"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B：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我的手 </a:t>
            </a:r>
            <a:r>
              <a:rPr lang="zh-TW" alt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受 伤 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了。</a:t>
            </a:r>
          </a:p>
          <a:p>
            <a:pPr>
              <a:buClr>
                <a:srgbClr val="2E2F30"/>
              </a:buClr>
              <a:buSzPts val="4400"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my hand is injured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466" name="Google Shape;466;p28" descr="A picture containing doll, toy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944600" y="6529094"/>
            <a:ext cx="2043406" cy="20434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2944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493101"/>
            <a:ext cx="10287000" cy="1856669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2"/>
          <p:cNvSpPr txBox="1"/>
          <p:nvPr/>
        </p:nvSpPr>
        <p:spPr>
          <a:xfrm>
            <a:off x="914400" y="340701"/>
            <a:ext cx="100584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助词“了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The modal particle “了”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10811"/>
            <a:ext cx="10439400" cy="678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5" name="Google Shape;505;p32"/>
          <p:cNvGrpSpPr/>
          <p:nvPr/>
        </p:nvGrpSpPr>
        <p:grpSpPr>
          <a:xfrm>
            <a:off x="2132520" y="4457700"/>
            <a:ext cx="14250481" cy="2819400"/>
            <a:chOff x="0" y="0"/>
            <a:chExt cx="23364949" cy="14896719"/>
          </a:xfrm>
        </p:grpSpPr>
        <p:sp>
          <p:nvSpPr>
            <p:cNvPr id="506" name="Google Shape;506;p32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2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8" name="Google Shape;508;p32"/>
          <p:cNvSpPr txBox="1"/>
          <p:nvPr/>
        </p:nvSpPr>
        <p:spPr>
          <a:xfrm>
            <a:off x="2475420" y="4820840"/>
            <a:ext cx="136779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“了” </a:t>
            </a:r>
            <a:r>
              <a:rPr lang="en-US" sz="44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放在动词后面，表示动作已经完成</a:t>
            </a:r>
            <a:r>
              <a:rPr lang="en-US" sz="44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“了” is often placed after a verb, </a:t>
            </a:r>
            <a:r>
              <a:rPr lang="en-US" sz="44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indicatinɡ</a:t>
            </a:r>
            <a:r>
              <a:rPr lang="en-US" sz="44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that an action has been completed.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5937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493101"/>
            <a:ext cx="10287000" cy="1856669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3"/>
          <p:cNvSpPr txBox="1"/>
          <p:nvPr/>
        </p:nvSpPr>
        <p:spPr>
          <a:xfrm>
            <a:off x="914400" y="340701"/>
            <a:ext cx="100584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助词“了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modal particle “了” 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15" name="Google Shape;51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731987"/>
            <a:ext cx="10439400" cy="678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" name="Google Shape;516;p33"/>
          <p:cNvGrpSpPr/>
          <p:nvPr/>
        </p:nvGrpSpPr>
        <p:grpSpPr>
          <a:xfrm>
            <a:off x="5715000" y="3130889"/>
            <a:ext cx="7391399" cy="1631611"/>
            <a:chOff x="0" y="0"/>
            <a:chExt cx="23364949" cy="14896719"/>
          </a:xfrm>
        </p:grpSpPr>
        <p:sp>
          <p:nvSpPr>
            <p:cNvPr id="517" name="Google Shape;517;p33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p33"/>
          <p:cNvSpPr txBox="1"/>
          <p:nvPr/>
        </p:nvSpPr>
        <p:spPr>
          <a:xfrm>
            <a:off x="5370340" y="3754596"/>
            <a:ext cx="8040859" cy="66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253140"/>
                </a:solidFill>
                <a:latin typeface="Arial"/>
                <a:ea typeface="Arial"/>
                <a:cs typeface="Arial"/>
                <a:sym typeface="Arial"/>
              </a:rPr>
              <a:t>Subject + Verb + 了</a:t>
            </a:r>
            <a:endParaRPr sz="6000" b="1" i="0" u="none" strike="noStrike" cap="none">
              <a:solidFill>
                <a:srgbClr val="2531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3"/>
          <p:cNvSpPr/>
          <p:nvPr/>
        </p:nvSpPr>
        <p:spPr>
          <a:xfrm>
            <a:off x="1540619" y="5472840"/>
            <a:ext cx="5254834" cy="312358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3"/>
          <p:cNvSpPr txBox="1"/>
          <p:nvPr/>
        </p:nvSpPr>
        <p:spPr>
          <a:xfrm>
            <a:off x="1782758" y="5644479"/>
            <a:ext cx="5012695" cy="241912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chī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吃 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have already eaten.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22" name="Google Shape;522;p33"/>
          <p:cNvSpPr/>
          <p:nvPr/>
        </p:nvSpPr>
        <p:spPr>
          <a:xfrm>
            <a:off x="12420600" y="5625241"/>
            <a:ext cx="4575634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3"/>
          <p:cNvSpPr txBox="1"/>
          <p:nvPr/>
        </p:nvSpPr>
        <p:spPr>
          <a:xfrm>
            <a:off x="12662739" y="5796879"/>
            <a:ext cx="4744727" cy="2544671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uí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回家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I’m already home.</a:t>
            </a:r>
            <a:endParaRPr sz="32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24" name="Google Shape;524;p33"/>
          <p:cNvSpPr/>
          <p:nvPr/>
        </p:nvSpPr>
        <p:spPr>
          <a:xfrm>
            <a:off x="7328741" y="5625241"/>
            <a:ext cx="3875737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3"/>
          <p:cNvSpPr txBox="1"/>
          <p:nvPr/>
        </p:nvSpPr>
        <p:spPr>
          <a:xfrm>
            <a:off x="7600782" y="5621764"/>
            <a:ext cx="4256627" cy="2400657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ɡǎnmào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他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感冒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lang="th-TH" sz="44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He 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ɡot</a:t>
            </a:r>
            <a:r>
              <a:rPr lang="en-US" sz="32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a cold.</a:t>
            </a:r>
            <a:endParaRPr sz="3200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9792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493101"/>
            <a:ext cx="11582400" cy="208159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4"/>
          <p:cNvSpPr txBox="1"/>
          <p:nvPr/>
        </p:nvSpPr>
        <p:spPr>
          <a:xfrm>
            <a:off x="914400" y="340701"/>
            <a:ext cx="112014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Calibri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再”和“又”的用法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Usaɡe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of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再”and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又”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532" name="Google Shape;53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067" y="2815121"/>
            <a:ext cx="10439400" cy="678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3" name="Google Shape;533;p34"/>
          <p:cNvGrpSpPr/>
          <p:nvPr/>
        </p:nvGrpSpPr>
        <p:grpSpPr>
          <a:xfrm>
            <a:off x="2018760" y="3733799"/>
            <a:ext cx="15663934" cy="3978506"/>
            <a:chOff x="0" y="0"/>
            <a:chExt cx="23364949" cy="14896719"/>
          </a:xfrm>
        </p:grpSpPr>
        <p:sp>
          <p:nvSpPr>
            <p:cNvPr id="534" name="Google Shape;534;p34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6" name="Google Shape;536;p34"/>
          <p:cNvSpPr txBox="1"/>
          <p:nvPr/>
        </p:nvSpPr>
        <p:spPr>
          <a:xfrm>
            <a:off x="2018760" y="4435553"/>
            <a:ext cx="1562136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再”和“又”都可以修饰动词，表示行为动作的重复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endParaRPr sz="4800" b="1" i="0" u="none" strike="noStrike" cap="none" dirty="0">
              <a:solidFill>
                <a:srgbClr val="25314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Both “再” and “又” can modify verbs to indicate the repetition of actions.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1809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0" y="645501"/>
            <a:ext cx="10287000" cy="1856669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5"/>
          <p:cNvSpPr txBox="1"/>
          <p:nvPr/>
        </p:nvSpPr>
        <p:spPr>
          <a:xfrm>
            <a:off x="4724400" y="493101"/>
            <a:ext cx="100584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Calibri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再”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的用法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Usaɡe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再”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5340" y="2864440"/>
            <a:ext cx="10439400" cy="678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4" name="Google Shape;544;p35"/>
          <p:cNvGrpSpPr/>
          <p:nvPr/>
        </p:nvGrpSpPr>
        <p:grpSpPr>
          <a:xfrm>
            <a:off x="2209800" y="3695699"/>
            <a:ext cx="15602069" cy="4671923"/>
            <a:chOff x="0" y="0"/>
            <a:chExt cx="23364949" cy="14896719"/>
          </a:xfrm>
        </p:grpSpPr>
        <p:sp>
          <p:nvSpPr>
            <p:cNvPr id="545" name="Google Shape;545;p35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546" name="Google Shape;546;p35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</p:grpSp>
      <p:sp>
        <p:nvSpPr>
          <p:cNvPr id="547" name="Google Shape;547;p35"/>
          <p:cNvSpPr txBox="1"/>
          <p:nvPr/>
        </p:nvSpPr>
        <p:spPr>
          <a:xfrm>
            <a:off x="2552700" y="4058840"/>
            <a:ext cx="14099962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“再”</a:t>
            </a:r>
            <a:r>
              <a:rPr lang="en-US" sz="40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用于过去已经发生的事情，将在未来再发生一次，句子的重点是在表达未来即将发生</a:t>
            </a:r>
            <a:r>
              <a:rPr lang="en-US" sz="40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。“再” is used to describe an action that has taken place in the past,  that will also take place </a:t>
            </a:r>
            <a:r>
              <a:rPr lang="en-US" sz="40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aɡain</a:t>
            </a:r>
            <a:r>
              <a:rPr lang="en-US" sz="40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in the future. In this context, it is used to indicate that an action will occur </a:t>
            </a:r>
            <a:r>
              <a:rPr lang="en-US" sz="40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aɡain</a:t>
            </a:r>
            <a:r>
              <a:rPr lang="en-US" sz="40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.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(In the possible future)</a:t>
            </a:r>
            <a:endParaRPr sz="4000" b="1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5858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342900"/>
            <a:ext cx="10287000" cy="1856669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6"/>
          <p:cNvSpPr txBox="1"/>
          <p:nvPr/>
        </p:nvSpPr>
        <p:spPr>
          <a:xfrm>
            <a:off x="4152900" y="341703"/>
            <a:ext cx="10058400" cy="212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SimSun"/>
              <a:buNone/>
            </a:pPr>
            <a:r>
              <a:rPr lang="en-US" sz="48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再” </a:t>
            </a:r>
            <a:r>
              <a:rPr lang="en-US" sz="48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的用法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48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Usaɡe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48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再”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4" name="Google Shape;554;p36"/>
          <p:cNvGrpSpPr/>
          <p:nvPr/>
        </p:nvGrpSpPr>
        <p:grpSpPr>
          <a:xfrm>
            <a:off x="4876800" y="2628900"/>
            <a:ext cx="8403956" cy="1631611"/>
            <a:chOff x="0" y="0"/>
            <a:chExt cx="23364949" cy="14896719"/>
          </a:xfrm>
        </p:grpSpPr>
        <p:sp>
          <p:nvSpPr>
            <p:cNvPr id="555" name="Google Shape;555;p36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" name="Google Shape;557;p36"/>
          <p:cNvSpPr txBox="1"/>
          <p:nvPr/>
        </p:nvSpPr>
        <p:spPr>
          <a:xfrm>
            <a:off x="4628270" y="3165022"/>
            <a:ext cx="918386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60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Arial"/>
                <a:ea typeface="Arial"/>
                <a:cs typeface="Arial"/>
                <a:sym typeface="Arial"/>
              </a:rPr>
              <a:t>Subject + 再 + Verb + Object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5105400" y="4406041"/>
            <a:ext cx="8083620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6"/>
          <p:cNvSpPr txBox="1"/>
          <p:nvPr/>
        </p:nvSpPr>
        <p:spPr>
          <a:xfrm>
            <a:off x="2209800" y="4356578"/>
            <a:ext cx="11401348" cy="262963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Lǎoshi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nénɡ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shuō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biàn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老师，你能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再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说  一 遍 吗？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Teacher, can you say that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aɡain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please?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2057400" y="7225441"/>
            <a:ext cx="14489507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6"/>
          <p:cNvSpPr txBox="1"/>
          <p:nvPr/>
        </p:nvSpPr>
        <p:spPr>
          <a:xfrm>
            <a:off x="2209800" y="7397079"/>
            <a:ext cx="14644664" cy="2544671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xiǎnɡ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Zhōnɡɡuó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想 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再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去中国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。(I went to China, and I would like to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ɡo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aɡain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.) </a:t>
            </a:r>
            <a:endParaRPr sz="3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 want to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ɡo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to China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aɡain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6564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2400" y="342900"/>
            <a:ext cx="10287000" cy="185666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7"/>
          <p:cNvSpPr txBox="1"/>
          <p:nvPr/>
        </p:nvSpPr>
        <p:spPr>
          <a:xfrm>
            <a:off x="3103684" y="634165"/>
            <a:ext cx="1208063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SimSun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再”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的用法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Usaɡe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再”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37"/>
          <p:cNvGrpSpPr/>
          <p:nvPr/>
        </p:nvGrpSpPr>
        <p:grpSpPr>
          <a:xfrm>
            <a:off x="3758959" y="2185090"/>
            <a:ext cx="11227279" cy="1318319"/>
            <a:chOff x="0" y="0"/>
            <a:chExt cx="23364949" cy="14896719"/>
          </a:xfrm>
        </p:grpSpPr>
        <p:sp>
          <p:nvSpPr>
            <p:cNvPr id="569" name="Google Shape;569;p37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D6E3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1" name="Google Shape;571;p37"/>
          <p:cNvSpPr txBox="1"/>
          <p:nvPr/>
        </p:nvSpPr>
        <p:spPr>
          <a:xfrm>
            <a:off x="3958198" y="2689271"/>
            <a:ext cx="10828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60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Arial"/>
                <a:ea typeface="Arial"/>
                <a:cs typeface="Arial"/>
                <a:sym typeface="Arial"/>
              </a:rPr>
              <a:t>Subject + 再 + Verb + Object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849923" y="4063736"/>
            <a:ext cx="15404634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7"/>
          <p:cNvSpPr txBox="1"/>
          <p:nvPr/>
        </p:nvSpPr>
        <p:spPr>
          <a:xfrm>
            <a:off x="999066" y="3500599"/>
            <a:ext cx="16213667" cy="2629631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Zuótiān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le,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mínɡtiān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昨天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我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去看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她了</a:t>
            </a:r>
            <a:r>
              <a:rPr lang="zh-CN" altLang="en-US" sz="44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明天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再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	去 看 她 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Yesterday I went to see her, tomorrow I’m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ɡoinɡ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to see her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aɡain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74" name="Google Shape;574;p37"/>
          <p:cNvSpPr/>
          <p:nvPr/>
        </p:nvSpPr>
        <p:spPr>
          <a:xfrm>
            <a:off x="4518096" y="7328937"/>
            <a:ext cx="9259160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7"/>
          <p:cNvSpPr txBox="1"/>
          <p:nvPr/>
        </p:nvSpPr>
        <p:spPr>
          <a:xfrm>
            <a:off x="3309012" y="6701109"/>
            <a:ext cx="10940388" cy="262963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Jīntiān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ɡěi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zhēn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今天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再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给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你打一针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I'll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ɡive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you one more injection today.</a:t>
            </a:r>
            <a:endParaRPr sz="36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2105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645501"/>
            <a:ext cx="10287000" cy="185666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8"/>
          <p:cNvSpPr txBox="1"/>
          <p:nvPr/>
        </p:nvSpPr>
        <p:spPr>
          <a:xfrm>
            <a:off x="4648200" y="419100"/>
            <a:ext cx="100584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SimSun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又”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的用法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Usaɡe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又”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4300" y="2997610"/>
            <a:ext cx="10439400" cy="6782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" name="Google Shape;583;p38"/>
          <p:cNvGrpSpPr/>
          <p:nvPr/>
        </p:nvGrpSpPr>
        <p:grpSpPr>
          <a:xfrm>
            <a:off x="2209800" y="4152899"/>
            <a:ext cx="14250481" cy="3505201"/>
            <a:chOff x="0" y="0"/>
            <a:chExt cx="23364949" cy="14896719"/>
          </a:xfrm>
        </p:grpSpPr>
        <p:sp>
          <p:nvSpPr>
            <p:cNvPr id="584" name="Google Shape;584;p38"/>
            <p:cNvSpPr/>
            <p:nvPr/>
          </p:nvSpPr>
          <p:spPr>
            <a:xfrm>
              <a:off x="31750" y="31750"/>
              <a:ext cx="23301449" cy="14833219"/>
            </a:xfrm>
            <a:custGeom>
              <a:avLst/>
              <a:gdLst/>
              <a:ahLst/>
              <a:cxnLst/>
              <a:rect l="l" t="t" r="r" b="b"/>
              <a:pathLst>
                <a:path w="23301449" h="14833219" extrusionOk="0">
                  <a:moveTo>
                    <a:pt x="23208738" y="14833219"/>
                  </a:moveTo>
                  <a:lnTo>
                    <a:pt x="92710" y="14833219"/>
                  </a:lnTo>
                  <a:cubicBezTo>
                    <a:pt x="41910" y="14833219"/>
                    <a:pt x="0" y="14791308"/>
                    <a:pt x="0" y="14740508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3207469" y="0"/>
                  </a:lnTo>
                  <a:cubicBezTo>
                    <a:pt x="23258269" y="0"/>
                    <a:pt x="23300178" y="41910"/>
                    <a:pt x="23300178" y="92710"/>
                  </a:cubicBezTo>
                  <a:lnTo>
                    <a:pt x="23300178" y="14739238"/>
                  </a:lnTo>
                  <a:cubicBezTo>
                    <a:pt x="23301449" y="14791308"/>
                    <a:pt x="23259538" y="14833219"/>
                    <a:pt x="23208738" y="14833219"/>
                  </a:cubicBezTo>
                  <a:close/>
                </a:path>
              </a:pathLst>
            </a:custGeom>
            <a:solidFill>
              <a:srgbClr val="F5F5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  <p:sp>
          <p:nvSpPr>
            <p:cNvPr id="585" name="Google Shape;585;p38"/>
            <p:cNvSpPr/>
            <p:nvPr/>
          </p:nvSpPr>
          <p:spPr>
            <a:xfrm>
              <a:off x="0" y="0"/>
              <a:ext cx="23364949" cy="14896719"/>
            </a:xfrm>
            <a:custGeom>
              <a:avLst/>
              <a:gdLst/>
              <a:ahLst/>
              <a:cxnLst/>
              <a:rect l="l" t="t" r="r" b="b"/>
              <a:pathLst>
                <a:path w="23364949" h="14896719" extrusionOk="0">
                  <a:moveTo>
                    <a:pt x="23240488" y="59690"/>
                  </a:moveTo>
                  <a:cubicBezTo>
                    <a:pt x="23276049" y="59690"/>
                    <a:pt x="23305258" y="88900"/>
                    <a:pt x="23305258" y="124460"/>
                  </a:cubicBezTo>
                  <a:lnTo>
                    <a:pt x="23305258" y="14772258"/>
                  </a:lnTo>
                  <a:cubicBezTo>
                    <a:pt x="23305258" y="14807819"/>
                    <a:pt x="23276049" y="14837029"/>
                    <a:pt x="23240488" y="14837029"/>
                  </a:cubicBezTo>
                  <a:lnTo>
                    <a:pt x="124460" y="14837029"/>
                  </a:lnTo>
                  <a:cubicBezTo>
                    <a:pt x="88900" y="14837029"/>
                    <a:pt x="59690" y="14807819"/>
                    <a:pt x="59690" y="14772258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3240488" y="59690"/>
                  </a:lnTo>
                  <a:moveTo>
                    <a:pt x="2324048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72258"/>
                  </a:lnTo>
                  <a:cubicBezTo>
                    <a:pt x="0" y="14840838"/>
                    <a:pt x="55880" y="14896719"/>
                    <a:pt x="124460" y="14896719"/>
                  </a:cubicBezTo>
                  <a:lnTo>
                    <a:pt x="23240488" y="14896719"/>
                  </a:lnTo>
                  <a:cubicBezTo>
                    <a:pt x="23309069" y="14896719"/>
                    <a:pt x="23364949" y="14840838"/>
                    <a:pt x="23364949" y="14772258"/>
                  </a:cubicBezTo>
                  <a:lnTo>
                    <a:pt x="23364949" y="124460"/>
                  </a:lnTo>
                  <a:cubicBezTo>
                    <a:pt x="23364949" y="55880"/>
                    <a:pt x="23309069" y="0"/>
                    <a:pt x="23240488" y="0"/>
                  </a:cubicBezTo>
                  <a:close/>
                </a:path>
              </a:pathLst>
            </a:custGeom>
            <a:solidFill>
              <a:srgbClr val="2531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</p:grpSp>
      <p:sp>
        <p:nvSpPr>
          <p:cNvPr id="586" name="Google Shape;586;p38"/>
          <p:cNvSpPr txBox="1"/>
          <p:nvPr/>
        </p:nvSpPr>
        <p:spPr>
          <a:xfrm>
            <a:off x="2552700" y="4516039"/>
            <a:ext cx="1367790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“又” </a:t>
            </a:r>
            <a:r>
              <a:rPr lang="en-US" sz="4800" b="1" i="0" u="none" strike="noStrike" cap="none" dirty="0" err="1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多用于已经发生或正在进行的行为动作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14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“又” is used to describe an action that has already happened in the past and has occurred once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aɡain</a:t>
            </a:r>
            <a:r>
              <a:rPr lang="en-US" sz="4800" b="1" i="0" u="none" strike="noStrike" cap="none" dirty="0">
                <a:solidFill>
                  <a:srgbClr val="25314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. </a:t>
            </a:r>
            <a:r>
              <a:rPr lang="en-US" sz="48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(In the present)</a:t>
            </a:r>
            <a:endParaRPr sz="14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2206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645501"/>
            <a:ext cx="10287000" cy="1856669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9"/>
          <p:cNvSpPr txBox="1"/>
          <p:nvPr/>
        </p:nvSpPr>
        <p:spPr>
          <a:xfrm>
            <a:off x="4648200" y="419100"/>
            <a:ext cx="100584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SimSun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又”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的用法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Usaɡe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又”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3" name="Google Shape;593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5209" y="2794986"/>
            <a:ext cx="10439400" cy="678252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9"/>
          <p:cNvSpPr/>
          <p:nvPr/>
        </p:nvSpPr>
        <p:spPr>
          <a:xfrm>
            <a:off x="7162800" y="3491641"/>
            <a:ext cx="4270591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6601403" y="4070678"/>
            <a:ext cx="5393383" cy="166199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yòu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le！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他 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来 了！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He's here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aɡain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596" name="Google Shape;596;p39"/>
          <p:cNvSpPr/>
          <p:nvPr/>
        </p:nvSpPr>
        <p:spPr>
          <a:xfrm>
            <a:off x="4114800" y="6741773"/>
            <a:ext cx="10600218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9"/>
          <p:cNvSpPr txBox="1"/>
          <p:nvPr/>
        </p:nvSpPr>
        <p:spPr>
          <a:xfrm>
            <a:off x="3983366" y="6401538"/>
            <a:ext cx="11311868" cy="2544671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Jīntiān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yòu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xià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yǔ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le.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今天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又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下雨了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(It rained, and It’s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raininɡ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aɡain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.) It's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raininɡ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aɡain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today.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9449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645501"/>
            <a:ext cx="10287000" cy="185666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0"/>
          <p:cNvSpPr txBox="1"/>
          <p:nvPr/>
        </p:nvSpPr>
        <p:spPr>
          <a:xfrm>
            <a:off x="4648200" y="419100"/>
            <a:ext cx="1005840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SimSun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又”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的用法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73A64"/>
              </a:buClr>
              <a:buSzPts val="60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6000" b="0" i="0" u="none" strike="noStrike" cap="none" dirty="0" err="1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Usaɡe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0" i="0" u="none" strike="noStrike" cap="none" dirty="0">
                <a:solidFill>
                  <a:srgbClr val="073A64"/>
                </a:solidFill>
                <a:latin typeface="Arial"/>
                <a:ea typeface="Arial"/>
                <a:cs typeface="Arial"/>
                <a:sym typeface="Arial"/>
              </a:rPr>
              <a:t>又”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4" name="Google Shape;604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2881162"/>
            <a:ext cx="10439400" cy="678252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0"/>
          <p:cNvSpPr/>
          <p:nvPr/>
        </p:nvSpPr>
        <p:spPr>
          <a:xfrm>
            <a:off x="2057400" y="4406041"/>
            <a:ext cx="14718288" cy="271985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0"/>
          <p:cNvSpPr txBox="1"/>
          <p:nvPr/>
        </p:nvSpPr>
        <p:spPr>
          <a:xfrm>
            <a:off x="2438400" y="4577679"/>
            <a:ext cx="14337288" cy="3733971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zuótiān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méi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shànɡkè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jīntiān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yòu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méi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他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昨天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没有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来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上课，今天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没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有来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He didn't come to class yesterday, and he didn't come today. </a:t>
            </a:r>
            <a:r>
              <a:rPr lang="en-US" sz="44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(</a:t>
            </a:r>
            <a:r>
              <a:rPr lang="en-US" sz="44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aɡain</a:t>
            </a:r>
            <a:r>
              <a:rPr lang="en-US" sz="44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)</a:t>
            </a:r>
            <a:endParaRPr sz="44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263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6767"/>
        </a:solidFill>
        <a:effectLst/>
      </p:bgPr>
    </p:bg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504" y="647700"/>
            <a:ext cx="17259898" cy="9224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49337">
            <a:off x="15663318" y="651996"/>
            <a:ext cx="3339366" cy="3248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49337">
            <a:off x="16216755" y="1696374"/>
            <a:ext cx="2122534" cy="1350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4" name="Google Shape;754;p47"/>
          <p:cNvGrpSpPr/>
          <p:nvPr/>
        </p:nvGrpSpPr>
        <p:grpSpPr>
          <a:xfrm rot="259960">
            <a:off x="-579217" y="8300033"/>
            <a:ext cx="2165897" cy="2307880"/>
            <a:chOff x="0" y="0"/>
            <a:chExt cx="5307818" cy="4757735"/>
          </a:xfrm>
        </p:grpSpPr>
        <p:pic>
          <p:nvPicPr>
            <p:cNvPr id="755" name="Google Shape;755;p4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0"/>
              <a:ext cx="5307818" cy="4757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6" name="Google Shape;756;p4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63798" y="1654564"/>
              <a:ext cx="2380221" cy="856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7" name="Google Shape;757;p4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96033" y="2643600"/>
              <a:ext cx="1293247" cy="6278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58" name="Google Shape;758;p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09800" y="1801145"/>
            <a:ext cx="2617575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4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24355" y="95411"/>
            <a:ext cx="3194480" cy="871222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7"/>
          <p:cNvSpPr txBox="1"/>
          <p:nvPr/>
        </p:nvSpPr>
        <p:spPr>
          <a:xfrm>
            <a:off x="1106995" y="414344"/>
            <a:ext cx="5029200" cy="1539780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拼音练习 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Pinyin practice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1" name="Google Shape;761;p47"/>
          <p:cNvGraphicFramePr/>
          <p:nvPr>
            <p:extLst>
              <p:ext uri="{D42A27DB-BD31-4B8C-83A1-F6EECF244321}">
                <p14:modId xmlns:p14="http://schemas.microsoft.com/office/powerpoint/2010/main" val="3324600493"/>
              </p:ext>
            </p:extLst>
          </p:nvPr>
        </p:nvGraphicFramePr>
        <p:xfrm>
          <a:off x="1201705" y="2972821"/>
          <a:ext cx="16131296" cy="8046720"/>
        </p:xfrm>
        <a:graphic>
          <a:graphicData uri="http://schemas.openxmlformats.org/drawingml/2006/table">
            <a:tbl>
              <a:tblPr>
                <a:tableStyleId>{AFE1DDB1-1B3B-423C-8B4D-BBF1822EBA18}</a:tableStyleId>
              </a:tblPr>
              <a:tblGrid>
                <a:gridCol w="3668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1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2338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ɡǎn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mào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感冒</a:t>
                      </a:r>
                      <a:b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</a:b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Cold</a:t>
                      </a:r>
                      <a:endParaRPr sz="4800" b="0" i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ké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sou</a:t>
                      </a: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咳嗽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couɡh</a:t>
                      </a:r>
                      <a:endParaRPr sz="4800" b="0" i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fā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shāo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发烧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fever</a:t>
                      </a: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60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lā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dù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zi </a:t>
                      </a: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拉肚子 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diarrhea</a:t>
                      </a: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3519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tóu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ténɡ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头疼</a:t>
                      </a:r>
                      <a:endParaRPr lang="en-US" altLang="zh-CN"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/>
                          <a:sym typeface="SimSun"/>
                        </a:rPr>
                        <a:t>Headache</a:t>
                      </a: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tuǐ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ténɡ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腿疼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/>
                          <a:sym typeface="SimSun"/>
                        </a:rPr>
                        <a:t>leɡ</a:t>
                      </a:r>
                      <a:r>
                        <a:rPr lang="en-US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/>
                          <a:sym typeface="SimSun"/>
                        </a:rPr>
                        <a:t> pain</a:t>
                      </a: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794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yá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ténɡ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牙疼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/>
                          <a:sym typeface="SimSun"/>
                        </a:rPr>
                        <a:t>toothache</a:t>
                      </a: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wèi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ténɡ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胃疼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/>
                          <a:sym typeface="SimSun"/>
                        </a:rPr>
                        <a:t>stomachache</a:t>
                      </a: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7037">
                <a:tc>
                  <a:txBody>
                    <a:bodyPr/>
                    <a:lstStyle/>
                    <a:p>
                      <a:pPr marL="6794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dùzǐ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ténɡ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肚子疼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Stomach ache</a:t>
                      </a:r>
                      <a:endParaRPr lang="zh-CN" altLang="en-US"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yǎnjinɡ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ténɡ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zh-CN" altLang="en-US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眼睛疼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eye ache</a:t>
                      </a: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794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sǎnɡzǐ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ténɡ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嗓子疼</a:t>
                      </a:r>
                      <a:endParaRPr lang="en-US" altLang="zh-CN"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throat ache</a:t>
                      </a:r>
                      <a:endParaRPr lang="zh-CN" altLang="en-US"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60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ɡē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bo</a:t>
                      </a:r>
                      <a:r>
                        <a:rPr lang="en-US" altLang="zh-CN" sz="4800" b="0" u="none" strike="noStrike" cap="none" dirty="0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 </a:t>
                      </a:r>
                      <a:r>
                        <a:rPr lang="en-US" altLang="zh-CN" sz="4800" b="0" u="none" strike="noStrike" cap="none" dirty="0" err="1">
                          <a:solidFill>
                            <a:srgbClr val="00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ténɡ</a:t>
                      </a:r>
                      <a:endParaRPr lang="en-US" altLang="zh-CN" sz="4800" b="0" u="none" strike="noStrike" cap="none" dirty="0">
                        <a:solidFill>
                          <a:srgbClr val="00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60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胳膊疼</a:t>
                      </a:r>
                      <a:endParaRPr lang="en-US" altLang="zh-CN"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60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48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sym typeface="SimSun"/>
                        </a:rPr>
                        <a:t>arm ache</a:t>
                      </a:r>
                      <a:endParaRPr lang="zh-CN" altLang="en-US"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endParaRPr sz="48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2" name="Google Shape;762;p47"/>
          <p:cNvSpPr txBox="1"/>
          <p:nvPr/>
        </p:nvSpPr>
        <p:spPr>
          <a:xfrm>
            <a:off x="13258800" y="379155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6767"/>
        </a:solidFill>
        <a:effectLst/>
      </p:bgPr>
    </p:bg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489" y="531022"/>
            <a:ext cx="17259898" cy="9224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49337">
            <a:off x="14979793" y="2527865"/>
            <a:ext cx="3339366" cy="3248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49337">
            <a:off x="15582612" y="3559890"/>
            <a:ext cx="2122534" cy="1350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0" name="Google Shape;770;p48"/>
          <p:cNvGrpSpPr/>
          <p:nvPr/>
        </p:nvGrpSpPr>
        <p:grpSpPr>
          <a:xfrm rot="259960">
            <a:off x="312681" y="7685727"/>
            <a:ext cx="2165897" cy="2307880"/>
            <a:chOff x="0" y="0"/>
            <a:chExt cx="5307818" cy="4757735"/>
          </a:xfrm>
        </p:grpSpPr>
        <p:pic>
          <p:nvPicPr>
            <p:cNvPr id="771" name="Google Shape;771;p4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0"/>
              <a:ext cx="5307818" cy="4757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4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63798" y="1654564"/>
              <a:ext cx="2380221" cy="856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4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96033" y="2643600"/>
              <a:ext cx="1293247" cy="6278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74" name="Google Shape;774;p4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194854" y="978672"/>
            <a:ext cx="2617575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4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36221" y="1191370"/>
            <a:ext cx="3194480" cy="87122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48"/>
          <p:cNvSpPr txBox="1"/>
          <p:nvPr/>
        </p:nvSpPr>
        <p:spPr>
          <a:xfrm>
            <a:off x="12812744" y="376098"/>
            <a:ext cx="4700509" cy="93179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8"/>
          <p:cNvSpPr/>
          <p:nvPr/>
        </p:nvSpPr>
        <p:spPr>
          <a:xfrm>
            <a:off x="5715000" y="2094124"/>
            <a:ext cx="710045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8"/>
          <p:cNvSpPr txBox="1"/>
          <p:nvPr/>
        </p:nvSpPr>
        <p:spPr>
          <a:xfrm>
            <a:off x="5674646" y="2290876"/>
            <a:ext cx="6754166" cy="1667572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māmɑ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zěnmele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A:你的 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妈妈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怎么了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79" name="Google Shape;779;p48"/>
          <p:cNvSpPr/>
          <p:nvPr/>
        </p:nvSpPr>
        <p:spPr>
          <a:xfrm>
            <a:off x="5730240" y="3814899"/>
            <a:ext cx="710045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8"/>
          <p:cNvSpPr txBox="1"/>
          <p:nvPr/>
        </p:nvSpPr>
        <p:spPr>
          <a:xfrm>
            <a:off x="5647349" y="4011650"/>
            <a:ext cx="7100450" cy="153029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māmɑ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fāshāo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sz="2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 </a:t>
            </a:r>
            <a:r>
              <a:rPr lang="en-US" sz="44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我的</a:t>
            </a:r>
            <a:r>
              <a:rPr lang="en-US" sz="4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妈妈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sng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发烧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了。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81" name="Google Shape;781;p48"/>
          <p:cNvSpPr/>
          <p:nvPr/>
        </p:nvSpPr>
        <p:spPr>
          <a:xfrm>
            <a:off x="4044388" y="6361324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8"/>
          <p:cNvSpPr/>
          <p:nvPr/>
        </p:nvSpPr>
        <p:spPr>
          <a:xfrm>
            <a:off x="2140733" y="6360470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8"/>
          <p:cNvSpPr txBox="1"/>
          <p:nvPr/>
        </p:nvSpPr>
        <p:spPr>
          <a:xfrm>
            <a:off x="2268307" y="6557222"/>
            <a:ext cx="1725918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Tuǐ</a:t>
            </a:r>
            <a:endParaRPr sz="1400" b="0" i="0" u="none" strike="noStrike" cap="none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腿</a:t>
            </a:r>
            <a:endParaRPr sz="4800" b="0" i="0" u="none" strike="noStrike" cap="none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84" name="Google Shape;784;p48"/>
          <p:cNvSpPr txBox="1"/>
          <p:nvPr/>
        </p:nvSpPr>
        <p:spPr>
          <a:xfrm>
            <a:off x="4140989" y="6558076"/>
            <a:ext cx="2222389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shòushānɡ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受伤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9578055" y="6361324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8"/>
          <p:cNvSpPr/>
          <p:nvPr/>
        </p:nvSpPr>
        <p:spPr>
          <a:xfrm>
            <a:off x="7674400" y="6360470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8"/>
          <p:cNvSpPr txBox="1"/>
          <p:nvPr/>
        </p:nvSpPr>
        <p:spPr>
          <a:xfrm>
            <a:off x="7801974" y="6557222"/>
            <a:ext cx="1725918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bàbɑ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爸爸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88" name="Google Shape;788;p48"/>
          <p:cNvSpPr txBox="1"/>
          <p:nvPr/>
        </p:nvSpPr>
        <p:spPr>
          <a:xfrm>
            <a:off x="9674656" y="6558076"/>
            <a:ext cx="2222389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ɡǎnmào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感冒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89" name="Google Shape;789;p48"/>
          <p:cNvSpPr/>
          <p:nvPr/>
        </p:nvSpPr>
        <p:spPr>
          <a:xfrm>
            <a:off x="14855955" y="6361324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48"/>
          <p:cNvSpPr/>
          <p:nvPr/>
        </p:nvSpPr>
        <p:spPr>
          <a:xfrm>
            <a:off x="12952300" y="6360470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8"/>
          <p:cNvSpPr txBox="1"/>
          <p:nvPr/>
        </p:nvSpPr>
        <p:spPr>
          <a:xfrm>
            <a:off x="13079874" y="6557222"/>
            <a:ext cx="1725918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Mèimei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妹妹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92" name="Google Shape;792;p48"/>
          <p:cNvSpPr txBox="1"/>
          <p:nvPr/>
        </p:nvSpPr>
        <p:spPr>
          <a:xfrm>
            <a:off x="14952556" y="6558076"/>
            <a:ext cx="2222389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dùzi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ténɡ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肚子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疼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93" name="Google Shape;793;p48"/>
          <p:cNvSpPr txBox="1"/>
          <p:nvPr/>
        </p:nvSpPr>
        <p:spPr>
          <a:xfrm>
            <a:off x="6555194" y="1429078"/>
            <a:ext cx="5426028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6767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0902" y="647700"/>
            <a:ext cx="17259898" cy="9224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49337">
            <a:off x="14979793" y="2527865"/>
            <a:ext cx="3339366" cy="3248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49337">
            <a:off x="15582612" y="3559890"/>
            <a:ext cx="2122534" cy="1350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6" name="Google Shape;826;p50"/>
          <p:cNvGrpSpPr/>
          <p:nvPr/>
        </p:nvGrpSpPr>
        <p:grpSpPr>
          <a:xfrm rot="259960">
            <a:off x="312681" y="7685727"/>
            <a:ext cx="2165897" cy="2307880"/>
            <a:chOff x="0" y="0"/>
            <a:chExt cx="5307818" cy="4757735"/>
          </a:xfrm>
        </p:grpSpPr>
        <p:pic>
          <p:nvPicPr>
            <p:cNvPr id="827" name="Google Shape;827;p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0"/>
              <a:ext cx="5307818" cy="4757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8" name="Google Shape;828;p5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63798" y="1654564"/>
              <a:ext cx="2380221" cy="856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9" name="Google Shape;829;p5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96033" y="2643600"/>
              <a:ext cx="1293247" cy="6278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0" name="Google Shape;830;p5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194854" y="978672"/>
            <a:ext cx="2617575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5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36221" y="1690140"/>
            <a:ext cx="3194480" cy="871222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50"/>
          <p:cNvSpPr txBox="1"/>
          <p:nvPr/>
        </p:nvSpPr>
        <p:spPr>
          <a:xfrm>
            <a:off x="13128057" y="376098"/>
            <a:ext cx="4385196" cy="93179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0"/>
          <p:cNvSpPr/>
          <p:nvPr/>
        </p:nvSpPr>
        <p:spPr>
          <a:xfrm>
            <a:off x="5715000" y="2592894"/>
            <a:ext cx="710045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0"/>
          <p:cNvSpPr txBox="1"/>
          <p:nvPr/>
        </p:nvSpPr>
        <p:spPr>
          <a:xfrm>
            <a:off x="5519361" y="2789646"/>
            <a:ext cx="6909451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yòu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tóuténɡ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又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头疼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了。</a:t>
            </a:r>
            <a:endParaRPr sz="48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35" name="Google Shape;835;p50"/>
          <p:cNvSpPr/>
          <p:nvPr/>
        </p:nvSpPr>
        <p:spPr>
          <a:xfrm>
            <a:off x="6094655" y="5752578"/>
            <a:ext cx="279132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50"/>
          <p:cNvSpPr/>
          <p:nvPr/>
        </p:nvSpPr>
        <p:spPr>
          <a:xfrm>
            <a:off x="2971800" y="5751724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0"/>
          <p:cNvSpPr txBox="1"/>
          <p:nvPr/>
        </p:nvSpPr>
        <p:spPr>
          <a:xfrm>
            <a:off x="3059693" y="5948476"/>
            <a:ext cx="1765599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tuǐténɡ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腿疼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38" name="Google Shape;838;p50"/>
          <p:cNvSpPr txBox="1"/>
          <p:nvPr/>
        </p:nvSpPr>
        <p:spPr>
          <a:xfrm>
            <a:off x="6114998" y="5949330"/>
            <a:ext cx="2574988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yǎnjīnɡténɡ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眼睛疼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39" name="Google Shape;839;p50"/>
          <p:cNvSpPr/>
          <p:nvPr/>
        </p:nvSpPr>
        <p:spPr>
          <a:xfrm>
            <a:off x="13416988" y="5752578"/>
            <a:ext cx="212950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0"/>
          <p:cNvSpPr/>
          <p:nvPr/>
        </p:nvSpPr>
        <p:spPr>
          <a:xfrm>
            <a:off x="9982200" y="5751724"/>
            <a:ext cx="232272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0"/>
          <p:cNvSpPr txBox="1"/>
          <p:nvPr/>
        </p:nvSpPr>
        <p:spPr>
          <a:xfrm>
            <a:off x="9992040" y="5948476"/>
            <a:ext cx="2082436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bíziténɡ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鼻子疼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42" name="Google Shape;842;p50"/>
          <p:cNvSpPr txBox="1"/>
          <p:nvPr/>
        </p:nvSpPr>
        <p:spPr>
          <a:xfrm>
            <a:off x="13500759" y="5949330"/>
            <a:ext cx="181499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yáténɡ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牙疼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43" name="Google Shape;843;p50"/>
          <p:cNvSpPr txBox="1"/>
          <p:nvPr/>
        </p:nvSpPr>
        <p:spPr>
          <a:xfrm>
            <a:off x="6171461" y="2136366"/>
            <a:ext cx="5487139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6767"/>
        </a:solidFill>
        <a:effectLst/>
      </p:bgPr>
    </p:bg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0902" y="647700"/>
            <a:ext cx="17259898" cy="9224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49337">
            <a:off x="14979793" y="2527865"/>
            <a:ext cx="3339366" cy="3248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49337">
            <a:off x="15582612" y="3559890"/>
            <a:ext cx="2122534" cy="1350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1" name="Google Shape;851;p51"/>
          <p:cNvGrpSpPr/>
          <p:nvPr/>
        </p:nvGrpSpPr>
        <p:grpSpPr>
          <a:xfrm rot="259960">
            <a:off x="312681" y="7685727"/>
            <a:ext cx="2165897" cy="2307880"/>
            <a:chOff x="0" y="0"/>
            <a:chExt cx="5307818" cy="4757735"/>
          </a:xfrm>
        </p:grpSpPr>
        <p:pic>
          <p:nvPicPr>
            <p:cNvPr id="852" name="Google Shape;852;p5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0"/>
              <a:ext cx="5307818" cy="4757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3" name="Google Shape;853;p5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63798" y="1654564"/>
              <a:ext cx="2380221" cy="856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" name="Google Shape;854;p5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96033" y="2643600"/>
              <a:ext cx="1293247" cy="6278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5" name="Google Shape;855;p5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090764" y="1446380"/>
            <a:ext cx="2617575" cy="678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36221" y="1690140"/>
            <a:ext cx="3194480" cy="871222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1"/>
          <p:cNvSpPr txBox="1"/>
          <p:nvPr/>
        </p:nvSpPr>
        <p:spPr>
          <a:xfrm>
            <a:off x="13023816" y="376097"/>
            <a:ext cx="4489437" cy="93179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1"/>
          <p:cNvSpPr/>
          <p:nvPr/>
        </p:nvSpPr>
        <p:spPr>
          <a:xfrm>
            <a:off x="5715000" y="2592894"/>
            <a:ext cx="710045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51"/>
          <p:cNvSpPr txBox="1"/>
          <p:nvPr/>
        </p:nvSpPr>
        <p:spPr>
          <a:xfrm>
            <a:off x="5355114" y="2789646"/>
            <a:ext cx="7073698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shí'èr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suì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800" b="0" i="0" u="sng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十二岁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60" name="Google Shape;860;p51"/>
          <p:cNvSpPr/>
          <p:nvPr/>
        </p:nvSpPr>
        <p:spPr>
          <a:xfrm>
            <a:off x="6094655" y="5752578"/>
            <a:ext cx="279132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51"/>
          <p:cNvSpPr/>
          <p:nvPr/>
        </p:nvSpPr>
        <p:spPr>
          <a:xfrm>
            <a:off x="3764059" y="5752578"/>
            <a:ext cx="243899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51"/>
          <p:cNvSpPr txBox="1"/>
          <p:nvPr/>
        </p:nvSpPr>
        <p:spPr>
          <a:xfrm>
            <a:off x="3764059" y="5949330"/>
            <a:ext cx="2246031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Mínɡtiān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明天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63" name="Google Shape;863;p51"/>
          <p:cNvSpPr txBox="1"/>
          <p:nvPr/>
        </p:nvSpPr>
        <p:spPr>
          <a:xfrm>
            <a:off x="6053788" y="5949330"/>
            <a:ext cx="2636100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xīnɡqī</a:t>
            </a:r>
            <a:r>
              <a:rPr lang="en-US" sz="3200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wǔ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星期五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64" name="Google Shape;864;p51"/>
          <p:cNvSpPr/>
          <p:nvPr/>
        </p:nvSpPr>
        <p:spPr>
          <a:xfrm>
            <a:off x="12192000" y="5752578"/>
            <a:ext cx="212950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1"/>
          <p:cNvSpPr/>
          <p:nvPr/>
        </p:nvSpPr>
        <p:spPr>
          <a:xfrm>
            <a:off x="9982200" y="5751724"/>
            <a:ext cx="232272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1"/>
          <p:cNvSpPr txBox="1"/>
          <p:nvPr/>
        </p:nvSpPr>
        <p:spPr>
          <a:xfrm>
            <a:off x="9942538" y="5948476"/>
            <a:ext cx="2131938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Mínɡtiān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明天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67" name="Google Shape;867;p51"/>
          <p:cNvSpPr txBox="1"/>
          <p:nvPr/>
        </p:nvSpPr>
        <p:spPr>
          <a:xfrm>
            <a:off x="12232625" y="5949330"/>
            <a:ext cx="1858139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Qínɡtiān</a:t>
            </a:r>
            <a:endParaRPr sz="32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晴天</a:t>
            </a:r>
            <a:endParaRPr sz="48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68" name="Google Shape;868;p51"/>
          <p:cNvSpPr txBox="1"/>
          <p:nvPr/>
        </p:nvSpPr>
        <p:spPr>
          <a:xfrm>
            <a:off x="6041026" y="2136365"/>
            <a:ext cx="5617574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200"/>
        </a:solidFill>
        <a:effectLst/>
      </p:bgPr>
    </p:bg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52"/>
          <p:cNvPicPr preferRelativeResize="0"/>
          <p:nvPr/>
        </p:nvPicPr>
        <p:blipFill rotWithShape="1">
          <a:blip r:embed="rId3">
            <a:alphaModFix/>
          </a:blip>
          <a:srcRect r="16017"/>
          <a:stretch/>
        </p:blipFill>
        <p:spPr>
          <a:xfrm rot="5487575">
            <a:off x="3979528" y="-3147796"/>
            <a:ext cx="9978189" cy="16460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52"/>
          <p:cNvGrpSpPr/>
          <p:nvPr/>
        </p:nvGrpSpPr>
        <p:grpSpPr>
          <a:xfrm rot="-383192">
            <a:off x="-590218" y="7113295"/>
            <a:ext cx="2715841" cy="3240157"/>
            <a:chOff x="0" y="0"/>
            <a:chExt cx="3621121" cy="4320209"/>
          </a:xfrm>
        </p:grpSpPr>
        <p:pic>
          <p:nvPicPr>
            <p:cNvPr id="875" name="Google Shape;875;p5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3621121" cy="4320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6" name="Google Shape;876;p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00886" y="1834941"/>
              <a:ext cx="1923010" cy="650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7" name="Google Shape;877;p5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27113" y="2770990"/>
              <a:ext cx="1470555" cy="847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8" name="Google Shape;878;p52"/>
          <p:cNvGrpSpPr/>
          <p:nvPr/>
        </p:nvGrpSpPr>
        <p:grpSpPr>
          <a:xfrm rot="496471">
            <a:off x="15748675" y="-117811"/>
            <a:ext cx="3364817" cy="3273050"/>
            <a:chOff x="0" y="0"/>
            <a:chExt cx="4486423" cy="4364066"/>
          </a:xfrm>
        </p:grpSpPr>
        <p:pic>
          <p:nvPicPr>
            <p:cNvPr id="879" name="Google Shape;879;p5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0" y="0"/>
              <a:ext cx="4486423" cy="4364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0" name="Google Shape;880;p5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137372" y="1517086"/>
              <a:ext cx="1988988" cy="6039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1" name="Google Shape;881;p5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1405" y="2711036"/>
              <a:ext cx="1424383" cy="8106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82" name="Google Shape;882;p5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87034" y="9527469"/>
            <a:ext cx="2763175" cy="783737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52"/>
          <p:cNvSpPr txBox="1"/>
          <p:nvPr/>
        </p:nvSpPr>
        <p:spPr>
          <a:xfrm>
            <a:off x="980139" y="1043726"/>
            <a:ext cx="1066986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</a:t>
            </a:r>
            <a:r>
              <a:rPr lang="en-US" sz="9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forɡet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do: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4" name="Google Shape;884;p5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00001" y="6652091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423111" y="2191800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5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72032" y="2773898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5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407296" y="2029970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52"/>
          <p:cNvSpPr txBox="1"/>
          <p:nvPr/>
        </p:nvSpPr>
        <p:spPr>
          <a:xfrm>
            <a:off x="1459849" y="2886901"/>
            <a:ext cx="5203290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2"/>
          <p:cNvSpPr txBox="1"/>
          <p:nvPr/>
        </p:nvSpPr>
        <p:spPr>
          <a:xfrm>
            <a:off x="7008398" y="3543300"/>
            <a:ext cx="4671852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MDL 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2"/>
          <p:cNvSpPr txBox="1"/>
          <p:nvPr/>
        </p:nvSpPr>
        <p:spPr>
          <a:xfrm>
            <a:off x="12003251" y="3103828"/>
            <a:ext cx="4671852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Writinɡ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52"/>
          <p:cNvSpPr txBox="1"/>
          <p:nvPr/>
        </p:nvSpPr>
        <p:spPr>
          <a:xfrm>
            <a:off x="1202297" y="7684803"/>
            <a:ext cx="8330180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Prepare for the next lesson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2" name="Google Shape;892;p52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2202524" y="6321778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52"/>
          <p:cNvSpPr txBox="1"/>
          <p:nvPr/>
        </p:nvSpPr>
        <p:spPr>
          <a:xfrm>
            <a:off x="9756086" y="7239470"/>
            <a:ext cx="8330180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Practice </a:t>
            </a:r>
            <a:r>
              <a:rPr lang="en-US" sz="5046" b="1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speakinɡ</a:t>
            </a: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skill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4" name="Google Shape;894;p52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2205422" y="2286881"/>
            <a:ext cx="1203884" cy="1348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2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2488656" y="2716253"/>
            <a:ext cx="600264" cy="23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2574958" y="3128752"/>
            <a:ext cx="360884" cy="2808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7" name="Google Shape;897;p52"/>
          <p:cNvGrpSpPr/>
          <p:nvPr/>
        </p:nvGrpSpPr>
        <p:grpSpPr>
          <a:xfrm>
            <a:off x="4912062" y="6033126"/>
            <a:ext cx="1642890" cy="1859238"/>
            <a:chOff x="0" y="0"/>
            <a:chExt cx="2190520" cy="2478984"/>
          </a:xfrm>
        </p:grpSpPr>
        <p:pic>
          <p:nvPicPr>
            <p:cNvPr id="898" name="Google Shape;898;p52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0" y="0"/>
              <a:ext cx="2190520" cy="2478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9" name="Google Shape;899;p52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524696" y="826643"/>
              <a:ext cx="1141128" cy="369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0" name="Google Shape;900;p52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748346" y="1318969"/>
              <a:ext cx="708316" cy="4571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1" name="Google Shape;901;p52"/>
          <p:cNvGrpSpPr/>
          <p:nvPr/>
        </p:nvGrpSpPr>
        <p:grpSpPr>
          <a:xfrm>
            <a:off x="9373223" y="4079801"/>
            <a:ext cx="1401485" cy="1672054"/>
            <a:chOff x="0" y="0"/>
            <a:chExt cx="1868647" cy="2229405"/>
          </a:xfrm>
        </p:grpSpPr>
        <p:pic>
          <p:nvPicPr>
            <p:cNvPr id="902" name="Google Shape;902;p52"/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0" y="0"/>
              <a:ext cx="1868647" cy="2229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3" name="Google Shape;903;p52"/>
            <p:cNvPicPr preferRelativeResize="0"/>
            <p:nvPr/>
          </p:nvPicPr>
          <p:blipFill rotWithShape="1">
            <a:blip r:embed="rId23">
              <a:alphaModFix/>
            </a:blip>
            <a:srcRect/>
            <a:stretch/>
          </p:blipFill>
          <p:spPr>
            <a:xfrm>
              <a:off x="412865" y="954122"/>
              <a:ext cx="1042916" cy="663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4" name="Google Shape;904;p52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 rot="10676862">
              <a:off x="602397" y="1497467"/>
              <a:ext cx="663854" cy="3222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5" name="Google Shape;905;p52"/>
          <p:cNvGrpSpPr/>
          <p:nvPr/>
        </p:nvGrpSpPr>
        <p:grpSpPr>
          <a:xfrm>
            <a:off x="3839606" y="3427354"/>
            <a:ext cx="1653813" cy="1672054"/>
            <a:chOff x="0" y="0"/>
            <a:chExt cx="2205085" cy="2229405"/>
          </a:xfrm>
        </p:grpSpPr>
        <p:pic>
          <p:nvPicPr>
            <p:cNvPr id="906" name="Google Shape;906;p52"/>
            <p:cNvPicPr preferRelativeResize="0"/>
            <p:nvPr/>
          </p:nvPicPr>
          <p:blipFill rotWithShape="1">
            <a:blip r:embed="rId25">
              <a:alphaModFix/>
            </a:blip>
            <a:srcRect/>
            <a:stretch/>
          </p:blipFill>
          <p:spPr>
            <a:xfrm>
              <a:off x="0" y="0"/>
              <a:ext cx="2205085" cy="2229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7" name="Google Shape;907;p52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644483" y="939143"/>
              <a:ext cx="992352" cy="3211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8" name="Google Shape;908;p52"/>
            <p:cNvPicPr preferRelativeResize="0"/>
            <p:nvPr/>
          </p:nvPicPr>
          <p:blipFill rotWithShape="1">
            <a:blip r:embed="rId26">
              <a:alphaModFix/>
            </a:blip>
            <a:srcRect/>
            <a:stretch/>
          </p:blipFill>
          <p:spPr>
            <a:xfrm rot="10676862">
              <a:off x="772055" y="1382988"/>
              <a:ext cx="663854" cy="3222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9" name="Google Shape;909;p52"/>
          <p:cNvGrpSpPr/>
          <p:nvPr/>
        </p:nvGrpSpPr>
        <p:grpSpPr>
          <a:xfrm>
            <a:off x="14225084" y="7736920"/>
            <a:ext cx="1525830" cy="1820404"/>
            <a:chOff x="0" y="0"/>
            <a:chExt cx="2034440" cy="2427206"/>
          </a:xfrm>
        </p:grpSpPr>
        <p:pic>
          <p:nvPicPr>
            <p:cNvPr id="910" name="Google Shape;910;p52"/>
            <p:cNvPicPr preferRelativeResize="0"/>
            <p:nvPr/>
          </p:nvPicPr>
          <p:blipFill rotWithShape="1">
            <a:blip r:embed="rId27">
              <a:alphaModFix/>
            </a:blip>
            <a:srcRect/>
            <a:stretch/>
          </p:blipFill>
          <p:spPr>
            <a:xfrm>
              <a:off x="0" y="0"/>
              <a:ext cx="2034440" cy="2427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06141" y="1030918"/>
              <a:ext cx="1080397" cy="3653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2" name="Google Shape;912;p5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33242" y="1556814"/>
              <a:ext cx="826196" cy="47618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1739</Words>
  <Application>Microsoft Office PowerPoint</Application>
  <PresentationFormat>自定义</PresentationFormat>
  <Paragraphs>333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7" baseType="lpstr">
      <vt:lpstr>SimSun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Peng Liu</cp:lastModifiedBy>
  <cp:revision>11</cp:revision>
  <dcterms:created xsi:type="dcterms:W3CDTF">2006-08-16T00:00:00Z</dcterms:created>
  <dcterms:modified xsi:type="dcterms:W3CDTF">2026-07-31T02:32:59Z</dcterms:modified>
</cp:coreProperties>
</file>