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5"/>
  </p:notesMasterIdLst>
  <p:sldIdLst>
    <p:sldId id="262" r:id="rId2"/>
    <p:sldId id="263" r:id="rId3"/>
    <p:sldId id="264" r:id="rId4"/>
    <p:sldId id="265" r:id="rId5"/>
    <p:sldId id="266" r:id="rId6"/>
    <p:sldId id="314" r:id="rId7"/>
    <p:sldId id="267" r:id="rId8"/>
    <p:sldId id="268" r:id="rId9"/>
    <p:sldId id="269" r:id="rId10"/>
    <p:sldId id="270" r:id="rId11"/>
    <p:sldId id="271" r:id="rId12"/>
    <p:sldId id="272" r:id="rId13"/>
    <p:sldId id="313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</p:sldIdLst>
  <p:sldSz cx="18288000" cy="10287000"/>
  <p:notesSz cx="6858000" cy="9144000"/>
  <p:embeddedFontLst>
    <p:embeddedFont>
      <p:font typeface="SimSun" panose="02010600030101010101" pitchFamily="2" charset="-122"/>
      <p:regular r:id="rId56"/>
    </p:embeddedFont>
    <p:embeddedFont>
      <p:font typeface="Gaegu" pitchFamily="2" charset="0"/>
      <p:regular r:id="rId57"/>
      <p:bold r:id="rId58"/>
    </p:embeddedFont>
    <p:embeddedFont>
      <p:font typeface="Shadows Into Light" panose="020B0604020202020204" charset="0"/>
      <p:regular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7" roundtripDataSignature="AMtx7miJdCeLWomAFRzOV4Q3uIQTEF7Y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C63FD2-92DA-41E2-A962-110F0D4679B9}">
  <a:tblStyle styleId="{DFC63FD2-92DA-41E2-A962-110F0D4679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20CB82B-C816-4F17-BBC9-C976DEC53E8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78" y="3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1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4.fntdata"/><Relationship Id="rId67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4" name="Google Shape;2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0EFBB77E-8E34-510D-DCF8-DCB357549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:notes">
            <a:extLst>
              <a:ext uri="{FF2B5EF4-FFF2-40B4-BE49-F238E27FC236}">
                <a16:creationId xmlns:a16="http://schemas.microsoft.com/office/drawing/2014/main" id="{CC104CB8-9841-4D26-FBDD-EB3599D8BC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4" name="Google Shape;224;p11:notes">
            <a:extLst>
              <a:ext uri="{FF2B5EF4-FFF2-40B4-BE49-F238E27FC236}">
                <a16:creationId xmlns:a16="http://schemas.microsoft.com/office/drawing/2014/main" id="{C318C4A7-F944-4666-4D86-E834C1898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0073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2" name="Google Shape;28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>
          <a:extLst>
            <a:ext uri="{FF2B5EF4-FFF2-40B4-BE49-F238E27FC236}">
              <a16:creationId xmlns:a16="http://schemas.microsoft.com/office/drawing/2014/main" id="{1B901FA6-5629-3F8C-31F4-8C55FE58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>
            <a:extLst>
              <a:ext uri="{FF2B5EF4-FFF2-40B4-BE49-F238E27FC236}">
                <a16:creationId xmlns:a16="http://schemas.microsoft.com/office/drawing/2014/main" id="{E34ED45B-46F2-9ADF-F854-01AD13425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5" name="Google Shape;295;p17:notes">
            <a:extLst>
              <a:ext uri="{FF2B5EF4-FFF2-40B4-BE49-F238E27FC236}">
                <a16:creationId xmlns:a16="http://schemas.microsoft.com/office/drawing/2014/main" id="{0FBD78F9-A96E-766A-95F4-CDA2B72B89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7213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1" name="Google Shape;32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5" name="Google Shape;34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7" name="Google Shape;35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8" name="Google Shape;36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9" name="Google Shape;3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1" name="Google Shape;3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7" name="Google Shape;40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1" name="Google Shape;42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62" name="Google Shape;4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4" name="Google Shape;47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5" name="Google Shape;48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9" name="Google Shape;4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0" name="Google Shape;51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3" name="Google Shape;523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4" name="Google Shape;53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5" name="Google Shape;54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8" name="Google Shape;55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9" name="Google Shape;56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3" name="Google Shape;59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4" name="Google Shape;60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6" name="Google Shape;616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7" name="Google Shape;62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9" name="Google Shape;639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5" name="Google Shape;655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1" name="Google Shape;67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9" name="Google Shape;70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5" name="Google Shape;725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41" name="Google Shape;741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57" name="Google Shape;75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3" name="Google Shape;77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7" name="Google Shape;787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0" name="Google Shape;82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3" name="Google Shape;85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0" name="Google Shape;880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6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27.png"/><Relationship Id="rId4" Type="http://schemas.openxmlformats.org/officeDocument/2006/relationships/image" Target="../media/image1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30.png"/><Relationship Id="rId4" Type="http://schemas.openxmlformats.org/officeDocument/2006/relationships/image" Target="../media/image11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34.png"/><Relationship Id="rId4" Type="http://schemas.openxmlformats.org/officeDocument/2006/relationships/image" Target="../media/image11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7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7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7" descr="A red double decker bus on the stree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78956" y="5219700"/>
            <a:ext cx="3346164" cy="5019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7"/>
          <p:cNvPicPr preferRelativeResize="0"/>
          <p:nvPr/>
        </p:nvPicPr>
        <p:blipFill rotWithShape="1">
          <a:blip r:embed="rId4">
            <a:alphaModFix/>
          </a:blip>
          <a:srcRect r="22897" b="25800"/>
          <a:stretch/>
        </p:blipFill>
        <p:spPr>
          <a:xfrm>
            <a:off x="9144000" y="4527202"/>
            <a:ext cx="9144000" cy="5759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7"/>
          <p:cNvPicPr preferRelativeResize="0"/>
          <p:nvPr/>
        </p:nvPicPr>
        <p:blipFill rotWithShape="1">
          <a:blip r:embed="rId5">
            <a:alphaModFix/>
          </a:blip>
          <a:srcRect r="44015"/>
          <a:stretch/>
        </p:blipFill>
        <p:spPr>
          <a:xfrm flipH="1">
            <a:off x="0" y="-147"/>
            <a:ext cx="2769866" cy="293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flipH="1">
            <a:off x="0" y="6533166"/>
            <a:ext cx="4239442" cy="3753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6658" y="7280914"/>
            <a:ext cx="3924746" cy="178397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 txBox="1"/>
          <p:nvPr/>
        </p:nvSpPr>
        <p:spPr>
          <a:xfrm>
            <a:off x="1987403" y="2242368"/>
            <a:ext cx="15697199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Lesson 8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Are you going there by bus or by bike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1600200" y="419100"/>
            <a:ext cx="14379600" cy="2109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4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17365D"/>
                </a:solidFill>
                <a:latin typeface="SimSun"/>
                <a:ea typeface="SimSun"/>
                <a:cs typeface="SimSun"/>
                <a:sym typeface="SimSun"/>
              </a:rPr>
              <a:t>Dì  bā kè  Nǐ yào zuò chē qù  háishi qí zìxínɡchē qù</a:t>
            </a:r>
            <a:endParaRPr sz="3200" b="1" i="0" u="none" strike="noStrike" cap="none">
              <a:solidFill>
                <a:srgbClr val="17365D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70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>
                <a:solidFill>
                  <a:srgbClr val="17365D"/>
                </a:solidFill>
                <a:latin typeface="SimSun"/>
                <a:ea typeface="SimSun"/>
                <a:cs typeface="SimSun"/>
                <a:sym typeface="SimSun"/>
              </a:rPr>
              <a:t>第八课 你要坐车去 还是骑自行车去</a:t>
            </a:r>
            <a:endParaRPr sz="5400" b="1" i="0" u="none" strike="noStrike" cap="none">
              <a:solidFill>
                <a:srgbClr val="17365D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87" name="Google Shape;187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42720" y="2079714"/>
            <a:ext cx="2157877" cy="1435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7" descr="A person riding a bicycle&#10;&#10;Description automatically generated with medium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701436">
            <a:off x="11100702" y="4998104"/>
            <a:ext cx="5230593" cy="3487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678" y="419100"/>
            <a:ext cx="17790645" cy="9057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6746484" y="-495300"/>
            <a:ext cx="4795031" cy="2362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8"/>
          <p:cNvPicPr preferRelativeResize="0"/>
          <p:nvPr/>
        </p:nvPicPr>
        <p:blipFill rotWithShape="1">
          <a:blip r:embed="rId5">
            <a:alphaModFix/>
          </a:blip>
          <a:srcRect r="22897" b="25800"/>
          <a:stretch/>
        </p:blipFill>
        <p:spPr>
          <a:xfrm>
            <a:off x="13843569" y="7478071"/>
            <a:ext cx="4444431" cy="27995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15651616" y="7650616"/>
            <a:ext cx="2607307" cy="266546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8"/>
          <p:cNvGraphicFramePr/>
          <p:nvPr>
            <p:extLst>
              <p:ext uri="{D42A27DB-BD31-4B8C-83A1-F6EECF244321}">
                <p14:modId xmlns:p14="http://schemas.microsoft.com/office/powerpoint/2010/main" val="821243776"/>
              </p:ext>
            </p:extLst>
          </p:nvPr>
        </p:nvGraphicFramePr>
        <p:xfrm>
          <a:off x="857261" y="185237"/>
          <a:ext cx="16573475" cy="9573458"/>
        </p:xfrm>
        <a:graphic>
          <a:graphicData uri="http://schemas.openxmlformats.org/drawingml/2006/table">
            <a:tbl>
              <a:tblPr firstRow="1" bandRow="1">
                <a:noFill/>
                <a:tableStyleId>{DFC63FD2-92DA-41E2-A962-110F0D4679B9}</a:tableStyleId>
              </a:tblPr>
              <a:tblGrid>
                <a:gridCol w="77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3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3600" b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超市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supermarket</a:t>
                      </a:r>
                      <a:endParaRPr lang="en-US"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3600" b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怎么样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about</a:t>
                      </a:r>
                      <a:endParaRPr sz="24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对面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opposite</a:t>
                      </a:r>
                      <a:endParaRPr lang="en-US"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有名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famous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座位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282575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seat</a:t>
                      </a:r>
                      <a:endParaRPr lang="en-US"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苹果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apple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40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路</a:t>
                      </a:r>
                      <a:endParaRPr sz="4000" b="0" i="0" u="none" strike="noStrike" cap="none" dirty="0">
                        <a:solidFill>
                          <a:srgbClr val="000000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altLang="zh-CN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Calibri"/>
                          <a:cs typeface="Times New Roman"/>
                          <a:sym typeface="Calibri"/>
                        </a:rPr>
                        <a:t>No.</a:t>
                      </a:r>
                      <a:endParaRPr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草莓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strawberry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日用品 </a:t>
                      </a:r>
                      <a:endParaRPr lang="zh-TW" altLang="en-US"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commodity; necessary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斤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half a kilogram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一些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some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买</a:t>
                      </a:r>
                      <a:endParaRPr lang="en-US" sz="4000" b="0" i="0" u="none" strike="noStrike" cap="none" dirty="0">
                        <a:solidFill>
                          <a:srgbClr val="000000"/>
                        </a:solidFill>
                        <a:latin typeface="SimSun"/>
                        <a:ea typeface="SimSun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buy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3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让 </a:t>
                      </a:r>
                      <a:endParaRPr lang="zh-TW" altLang="en-US"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let; to allow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快</a:t>
                      </a:r>
                      <a:endParaRPr lang="en-US" sz="4000" b="0" i="0" u="none" strike="noStrike" cap="none" dirty="0">
                        <a:solidFill>
                          <a:srgbClr val="000000"/>
                        </a:solidFill>
                        <a:latin typeface="SimSun"/>
                        <a:ea typeface="SimSun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quick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4596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3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尝尝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taste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4000" b="0" i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比较</a:t>
                      </a:r>
                      <a:endParaRPr sz="4000" b="0" i="0" u="none" strike="noStrike" cap="none" dirty="0">
                        <a:solidFill>
                          <a:srgbClr val="000000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  <a:tabLst/>
                        <a:defRPr/>
                      </a:pPr>
                      <a:r>
                        <a:rPr lang="en-US" sz="32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Relatively, </a:t>
                      </a:r>
                      <a:r>
                        <a:rPr lang="en-US" sz="3200" b="1" i="0" u="none" strike="noStrike" cap="none" dirty="0" err="1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comparitively</a:t>
                      </a:r>
                      <a:endParaRPr lang="en-US" sz="32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164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r>
                        <a:rPr lang="en-US" sz="4000" b="0" i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亲手</a:t>
                      </a:r>
                      <a:endParaRPr sz="4000" b="0" i="0" u="none" strike="noStrike" cap="none" dirty="0">
                        <a:solidFill>
                          <a:srgbClr val="000000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 one’s own hands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36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才</a:t>
                      </a:r>
                      <a:endParaRPr lang="en-US" sz="4000" b="0" i="0" u="none" strike="noStrike" cap="none" dirty="0">
                        <a:solidFill>
                          <a:srgbClr val="000000"/>
                        </a:solidFill>
                        <a:latin typeface="SimSun"/>
                        <a:ea typeface="SimSun"/>
                        <a:sym typeface="Arial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3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i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菜</a:t>
                      </a:r>
                      <a:endParaRPr sz="4000" b="0" i="0" u="none" strike="noStrike" cap="none" dirty="0">
                        <a:solidFill>
                          <a:srgbClr val="000000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meal; vegetables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酸辣虾汤</a:t>
                      </a:r>
                      <a:r>
                        <a:rPr lang="en-US" sz="400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/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zh-CN" altLang="en-US" sz="400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冬阴功</a:t>
                      </a:r>
                      <a:endParaRPr sz="28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Tom Yam Kung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准备</a:t>
                      </a:r>
                      <a:r>
                        <a:rPr lang="en-US" sz="4000" b="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800" b="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i="0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prepare; to get ready</a:t>
                      </a:r>
                      <a:endParaRPr lang="en-US" sz="3600" b="1" i="0" u="none" strike="noStrike" cap="none" dirty="0">
                        <a:solidFill>
                          <a:srgbClr val="5F497A"/>
                        </a:solidFill>
                        <a:latin typeface="Times New Roman"/>
                        <a:ea typeface="Calibri"/>
                        <a:cs typeface="Times New Roman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u="none" strike="noStrike" cap="none" dirty="0" err="1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泰式炒面</a:t>
                      </a:r>
                      <a:r>
                        <a:rPr lang="en-US" sz="400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/</a:t>
                      </a:r>
                      <a:r>
                        <a:rPr lang="zh-CN" altLang="en-US" sz="4000" u="none" strike="noStrike" cap="none" dirty="0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炒河粉</a:t>
                      </a:r>
                      <a:endParaRPr sz="2800" u="none" strike="noStrike" cap="none" dirty="0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Pad Thai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06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味道 </a:t>
                      </a:r>
                      <a:endParaRPr sz="2800" b="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 dirty="0" err="1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flavour</a:t>
                      </a:r>
                      <a:r>
                        <a:rPr lang="en-US" sz="36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; taste</a:t>
                      </a:r>
                      <a:endParaRPr sz="24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9"/>
          <p:cNvSpPr txBox="1"/>
          <p:nvPr/>
        </p:nvSpPr>
        <p:spPr>
          <a:xfrm>
            <a:off x="250806" y="365752"/>
            <a:ext cx="1300799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超市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chāoshì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supermarket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06" name="Google Shape;206;p9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9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 descr="A picture containing text, indoor, vending machin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15276" y="2144574"/>
            <a:ext cx="6805612" cy="68056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255;p13">
            <a:extLst>
              <a:ext uri="{FF2B5EF4-FFF2-40B4-BE49-F238E27FC236}">
                <a16:creationId xmlns:a16="http://schemas.microsoft.com/office/drawing/2014/main" id="{5013CC39-8AED-F7C0-D268-85C78A086132}"/>
              </a:ext>
            </a:extLst>
          </p:cNvPr>
          <p:cNvSpPr txBox="1"/>
          <p:nvPr/>
        </p:nvSpPr>
        <p:spPr>
          <a:xfrm>
            <a:off x="9144000" y="3806791"/>
            <a:ext cx="8595360" cy="2123658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5400"/>
            </a:pPr>
            <a:r>
              <a:rPr lang="en-US" altLang="zh-CN" sz="4400" dirty="0" err="1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Qù</a:t>
            </a:r>
            <a:r>
              <a:rPr lang="en-US" altLang="zh-CN" sz="4400" dirty="0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 </a:t>
            </a:r>
            <a:r>
              <a:rPr lang="en-US" altLang="zh-CN" sz="4400" dirty="0" err="1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chāoshì</a:t>
            </a:r>
            <a:r>
              <a:rPr lang="en-US" altLang="zh-CN" sz="4400" dirty="0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 </a:t>
            </a:r>
            <a:r>
              <a:rPr lang="en-US" altLang="zh-CN" sz="4400" dirty="0" err="1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mǎi</a:t>
            </a:r>
            <a:r>
              <a:rPr lang="en-US" altLang="zh-CN" sz="4400" dirty="0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 </a:t>
            </a:r>
            <a:r>
              <a:rPr lang="en-US" altLang="zh-CN" sz="4400" dirty="0" err="1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dōngxi</a:t>
            </a:r>
            <a:r>
              <a:rPr lang="en-US" altLang="zh-CN" sz="4400" dirty="0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aegu"/>
              <a:buNone/>
            </a:pPr>
            <a:r>
              <a:rPr lang="zh-CN" alt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去 </a:t>
            </a:r>
            <a:r>
              <a:rPr lang="zh-CN" altLang="en-US" sz="54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超市</a:t>
            </a:r>
            <a:r>
              <a:rPr lang="zh-CN" alt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   买   东西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sz="4000" b="1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Go to the supermarket to buy things</a:t>
            </a:r>
            <a:endParaRPr sz="40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250806" y="365752"/>
            <a:ext cx="1300799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对面</a:t>
            </a:r>
            <a:r>
              <a:rPr lang="en-US" sz="80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n. </a:t>
            </a:r>
            <a:r>
              <a:rPr lang="en-US" sz="6000" b="0" i="0" u="none" strike="noStrike" cap="none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duìmiàn</a:t>
            </a:r>
            <a:r>
              <a:rPr lang="en-US" sz="6000" b="0" i="0" u="none" strike="noStrike" cap="none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72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the opposite</a:t>
            </a:r>
            <a:r>
              <a:rPr lang="en-US" sz="6000" b="0" i="0" u="none" strike="noStrike" cap="none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endParaRPr sz="8000" b="0" i="0" u="none" strike="noStrike" cap="none" dirty="0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17" name="Google Shape;217;p10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0" descr="A picture containing text, wall, indoor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115800" y="2499021"/>
            <a:ext cx="4777525" cy="47775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20" name="Google Shape;220;p10" descr="A picture containing text, sign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66962" y="2541373"/>
            <a:ext cx="4777525" cy="47775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21" name="Google Shape;221;p10"/>
          <p:cNvSpPr/>
          <p:nvPr/>
        </p:nvSpPr>
        <p:spPr>
          <a:xfrm>
            <a:off x="6883212" y="4315568"/>
            <a:ext cx="5093863" cy="1025922"/>
          </a:xfrm>
          <a:prstGeom prst="curvedDown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D6E3BC"/>
          </a:solidFill>
          <a:ln w="25400" cap="flat" cmpd="sng">
            <a:solidFill>
              <a:srgbClr val="D6E3B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55;p13">
            <a:extLst>
              <a:ext uri="{FF2B5EF4-FFF2-40B4-BE49-F238E27FC236}">
                <a16:creationId xmlns:a16="http://schemas.microsoft.com/office/drawing/2014/main" id="{FB143C14-F1FC-42FC-A608-C179D2982E1F}"/>
              </a:ext>
            </a:extLst>
          </p:cNvPr>
          <p:cNvSpPr txBox="1"/>
          <p:nvPr/>
        </p:nvSpPr>
        <p:spPr>
          <a:xfrm>
            <a:off x="5018082" y="7745627"/>
            <a:ext cx="11408134" cy="184665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5400"/>
            </a:pPr>
            <a:r>
              <a:rPr lang="en-US" altLang="zh-CN" sz="3600" dirty="0" err="1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kāfēidiàn</a:t>
            </a:r>
            <a:r>
              <a:rPr lang="en-US" altLang="zh-CN" sz="3600" dirty="0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 </a:t>
            </a:r>
            <a:r>
              <a:rPr lang="en-US" altLang="zh-CN" sz="3600" dirty="0" err="1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duìmiàn</a:t>
            </a:r>
            <a:r>
              <a:rPr lang="en-US" altLang="zh-CN" sz="3600" dirty="0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 </a:t>
            </a:r>
            <a:r>
              <a:rPr lang="en-US" altLang="zh-CN" sz="3600" dirty="0" err="1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shì</a:t>
            </a:r>
            <a:r>
              <a:rPr lang="en-US" altLang="zh-CN" sz="3600" dirty="0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 </a:t>
            </a:r>
            <a:r>
              <a:rPr lang="en-US" altLang="zh-CN" sz="3600" dirty="0" err="1">
                <a:solidFill>
                  <a:schemeClr val="dk1"/>
                </a:solidFill>
                <a:latin typeface="+mj-ea"/>
                <a:ea typeface="+mj-ea"/>
                <a:cs typeface="Gaegu"/>
                <a:sym typeface="Gaegu"/>
              </a:rPr>
              <a:t>fàndiàn</a:t>
            </a:r>
            <a:endParaRPr lang="en-US" altLang="zh-CN" sz="3600" dirty="0">
              <a:solidFill>
                <a:schemeClr val="dk1"/>
              </a:solidFill>
              <a:latin typeface="+mj-ea"/>
              <a:ea typeface="+mj-ea"/>
              <a:cs typeface="Gaegu"/>
              <a:sym typeface="Gaegu"/>
            </a:endParaRPr>
          </a:p>
          <a:p>
            <a:pPr lvl="0">
              <a:buClr>
                <a:schemeClr val="dk1"/>
              </a:buClr>
              <a:buSzPts val="5400"/>
            </a:pPr>
            <a:r>
              <a:rPr lang="zh-CN" altLang="en-US" sz="4000" b="1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咖啡店    对面    是  饭店</a:t>
            </a:r>
            <a:br>
              <a:rPr lang="en-US" altLang="zh-CN" sz="4000" b="1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</a:br>
            <a:r>
              <a:rPr lang="en-US" altLang="zh-CN" sz="4400" dirty="0">
                <a:solidFill>
                  <a:srgbClr val="383E56"/>
                </a:solidFill>
                <a:latin typeface="Gaegu"/>
                <a:ea typeface="Gaegu"/>
                <a:sym typeface="Gaegu"/>
              </a:rPr>
              <a:t>The coffee shop is across from the restaurant.</a:t>
            </a:r>
            <a:endParaRPr lang="en-US" altLang="zh-CN" sz="4800" dirty="0">
              <a:solidFill>
                <a:srgbClr val="383E56"/>
              </a:solidFill>
              <a:latin typeface="Gaegu"/>
              <a:ea typeface="Gaegu"/>
              <a:sym typeface="Gaeg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724" y="771601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 txBox="1"/>
          <p:nvPr/>
        </p:nvSpPr>
        <p:spPr>
          <a:xfrm>
            <a:off x="746724" y="812265"/>
            <a:ext cx="912179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座位</a:t>
            </a:r>
            <a:r>
              <a:rPr lang="en-US" sz="80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n. </a:t>
            </a:r>
            <a:r>
              <a:rPr lang="en-US" sz="6000" b="0" i="0" u="none" strike="noStrike" cap="none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zuòwèi</a:t>
            </a:r>
            <a:r>
              <a:rPr lang="en-US" sz="6000" b="0" i="0" u="none" strike="noStrike" cap="none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72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seat</a:t>
            </a:r>
            <a:r>
              <a:rPr lang="en-US" sz="6000" b="0" i="0" u="none" strike="noStrike" cap="none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endParaRPr sz="8000" b="0" i="0" u="none" strike="noStrike" cap="none" dirty="0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30" name="Google Shape;230;p11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1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1" descr="A picture containing furniture, seat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642872" y="2418080"/>
            <a:ext cx="4819395" cy="47352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55;p13">
            <a:extLst>
              <a:ext uri="{FF2B5EF4-FFF2-40B4-BE49-F238E27FC236}">
                <a16:creationId xmlns:a16="http://schemas.microsoft.com/office/drawing/2014/main" id="{087DF281-661B-24DA-C14A-27E1CFE391FA}"/>
              </a:ext>
            </a:extLst>
          </p:cNvPr>
          <p:cNvSpPr txBox="1"/>
          <p:nvPr/>
        </p:nvSpPr>
        <p:spPr>
          <a:xfrm>
            <a:off x="2128059" y="3983621"/>
            <a:ext cx="7721600" cy="1785104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5400"/>
            </a:pPr>
            <a:r>
              <a:rPr lang="en-US" sz="3600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qiánbian</a:t>
            </a:r>
            <a:r>
              <a:rPr lang="en-US" sz="36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yǒu</a:t>
            </a:r>
            <a:r>
              <a:rPr lang="en-US" sz="36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zuòwèi</a:t>
            </a:r>
            <a:endParaRPr lang="en-US" sz="3600" dirty="0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zh-CN" altLang="en-US" sz="4400" b="1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前边    有   座位</a:t>
            </a:r>
            <a:endParaRPr lang="en-US" altLang="zh-CN" sz="4400" b="1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altLang="zh-CN" sz="36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There are seats in front.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25">
          <a:extLst>
            <a:ext uri="{FF2B5EF4-FFF2-40B4-BE49-F238E27FC236}">
              <a16:creationId xmlns:a16="http://schemas.microsoft.com/office/drawing/2014/main" id="{B423A0B4-60D5-E492-7763-C6256566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1">
            <a:extLst>
              <a:ext uri="{FF2B5EF4-FFF2-40B4-BE49-F238E27FC236}">
                <a16:creationId xmlns:a16="http://schemas.microsoft.com/office/drawing/2014/main" id="{4FF068C3-5D22-A730-87F4-9274CA53F0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1">
            <a:extLst>
              <a:ext uri="{FF2B5EF4-FFF2-40B4-BE49-F238E27FC236}">
                <a16:creationId xmlns:a16="http://schemas.microsoft.com/office/drawing/2014/main" id="{C8DB7297-9293-F9EB-8F92-E061C5C0EAE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724" y="771601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1">
            <a:extLst>
              <a:ext uri="{FF2B5EF4-FFF2-40B4-BE49-F238E27FC236}">
                <a16:creationId xmlns:a16="http://schemas.microsoft.com/office/drawing/2014/main" id="{F2E71CFD-9071-7D26-3637-FA435C4D11D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>
            <a:extLst>
              <a:ext uri="{FF2B5EF4-FFF2-40B4-BE49-F238E27FC236}">
                <a16:creationId xmlns:a16="http://schemas.microsoft.com/office/drawing/2014/main" id="{4FD36339-75F6-40A8-F88F-937B42EDCD61}"/>
              </a:ext>
            </a:extLst>
          </p:cNvPr>
          <p:cNvSpPr txBox="1"/>
          <p:nvPr/>
        </p:nvSpPr>
        <p:spPr>
          <a:xfrm>
            <a:off x="839586" y="826298"/>
            <a:ext cx="9121794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8000"/>
            </a:pPr>
            <a:r>
              <a:rPr lang="zh-CN" altLang="en-US" sz="8000" b="1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路</a:t>
            </a:r>
            <a:r>
              <a:rPr lang="en-US" sz="80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sz="3200" dirty="0">
                <a:latin typeface="SimSun" panose="02010600030101010101" pitchFamily="2" charset="-122"/>
                <a:ea typeface="SimSun" panose="02010600030101010101" pitchFamily="2" charset="-122"/>
              </a:rPr>
              <a:t>Measure Words</a:t>
            </a:r>
            <a:r>
              <a:rPr lang="en-US" sz="80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sz="6000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lù</a:t>
            </a:r>
            <a:r>
              <a:rPr lang="en-US" sz="60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72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altLang="zh-CN" sz="7200" b="1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No.</a:t>
            </a:r>
            <a:r>
              <a:rPr lang="en-US" sz="60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  </a:t>
            </a:r>
            <a:endParaRPr sz="8000" b="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</p:txBody>
      </p:sp>
      <p:pic>
        <p:nvPicPr>
          <p:cNvPr id="230" name="Google Shape;230;p11">
            <a:extLst>
              <a:ext uri="{FF2B5EF4-FFF2-40B4-BE49-F238E27FC236}">
                <a16:creationId xmlns:a16="http://schemas.microsoft.com/office/drawing/2014/main" id="{4A929A3E-A436-A5F3-D190-2AF2E27201E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1">
            <a:extLst>
              <a:ext uri="{FF2B5EF4-FFF2-40B4-BE49-F238E27FC236}">
                <a16:creationId xmlns:a16="http://schemas.microsoft.com/office/drawing/2014/main" id="{A3AAFB26-C97F-ABF4-4A91-F258234A728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55;p13">
            <a:extLst>
              <a:ext uri="{FF2B5EF4-FFF2-40B4-BE49-F238E27FC236}">
                <a16:creationId xmlns:a16="http://schemas.microsoft.com/office/drawing/2014/main" id="{E7D6EFC7-8C1E-19F5-9090-696B98E6783A}"/>
              </a:ext>
            </a:extLst>
          </p:cNvPr>
          <p:cNvSpPr txBox="1"/>
          <p:nvPr/>
        </p:nvSpPr>
        <p:spPr>
          <a:xfrm>
            <a:off x="2128059" y="3000583"/>
            <a:ext cx="2423621" cy="1785104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5400"/>
            </a:pP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Wǔ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lù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chē</a:t>
            </a:r>
            <a:endParaRPr 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altLang="zh-TW" sz="44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5</a:t>
            </a:r>
            <a:r>
              <a:rPr lang="zh-TW" altLang="en-US" sz="44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路车   </a:t>
            </a:r>
            <a:endParaRPr lang="en-US" altLang="zh-TW" sz="4400" dirty="0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altLang="zh-TW" sz="36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Bus No. 5</a:t>
            </a:r>
          </a:p>
        </p:txBody>
      </p:sp>
      <p:sp>
        <p:nvSpPr>
          <p:cNvPr id="3" name="Google Shape;255;p13">
            <a:extLst>
              <a:ext uri="{FF2B5EF4-FFF2-40B4-BE49-F238E27FC236}">
                <a16:creationId xmlns:a16="http://schemas.microsoft.com/office/drawing/2014/main" id="{6D3060CA-727A-5A2B-199A-27852A721D50}"/>
              </a:ext>
            </a:extLst>
          </p:cNvPr>
          <p:cNvSpPr txBox="1"/>
          <p:nvPr/>
        </p:nvSpPr>
        <p:spPr>
          <a:xfrm>
            <a:off x="3911189" y="5728866"/>
            <a:ext cx="5467879" cy="1785104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5400"/>
            </a:pP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yāo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líng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sān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lù</a:t>
            </a:r>
            <a:r>
              <a:rPr lang="en-US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chē</a:t>
            </a:r>
            <a:endParaRPr lang="en-US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altLang="zh-TW" sz="44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103        </a:t>
            </a:r>
            <a:r>
              <a:rPr lang="zh-TW" altLang="en-US" sz="44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路 车   </a:t>
            </a:r>
            <a:endParaRPr lang="en-US" altLang="zh-TW" sz="4400" dirty="0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altLang="zh-TW" sz="36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Bus No. 103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A88AD1-EB1C-BF7C-7B36-FD6705F578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35447" y="5686930"/>
            <a:ext cx="7512967" cy="46000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BD0E60-708C-10DE-FBF1-DC140B39A4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9068" y="1533398"/>
            <a:ext cx="5020376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979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2"/>
          <p:cNvSpPr txBox="1"/>
          <p:nvPr/>
        </p:nvSpPr>
        <p:spPr>
          <a:xfrm>
            <a:off x="381000" y="266700"/>
            <a:ext cx="11759266" cy="205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日用品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rìyònɡpǐn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commodity; necessary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41" name="Google Shape;241;p12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2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2" descr="Graphical user interfac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80320" y="2528888"/>
            <a:ext cx="6729412" cy="6729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255;p13">
            <a:extLst>
              <a:ext uri="{FF2B5EF4-FFF2-40B4-BE49-F238E27FC236}">
                <a16:creationId xmlns:a16="http://schemas.microsoft.com/office/drawing/2014/main" id="{1CD420DF-0E77-34EA-6A30-55A645CEAE57}"/>
              </a:ext>
            </a:extLst>
          </p:cNvPr>
          <p:cNvSpPr txBox="1"/>
          <p:nvPr/>
        </p:nvSpPr>
        <p:spPr>
          <a:xfrm>
            <a:off x="2413773" y="4548631"/>
            <a:ext cx="6929120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5400"/>
            </a:pPr>
            <a:r>
              <a:rPr lang="en-US" altLang="zh-CN" sz="3600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mǎi</a:t>
            </a:r>
            <a:r>
              <a:rPr lang="en-US" altLang="zh-CN" sz="36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 </a:t>
            </a:r>
            <a:r>
              <a:rPr lang="en-US" altLang="zh-CN" sz="3600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rìyòngpǐn</a:t>
            </a:r>
            <a:endParaRPr lang="en-US" altLang="zh-CN" sz="3600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zh-CN" altLang="en-US" sz="4400" b="1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买   日用品</a:t>
            </a:r>
            <a:endParaRPr lang="en-US" altLang="zh-CN" sz="4400" b="1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altLang="zh-CN" sz="3200" dirty="0">
                <a:solidFill>
                  <a:srgbClr val="383E56"/>
                </a:solidFill>
                <a:latin typeface="+mn-ea"/>
                <a:ea typeface="+mn-ea"/>
                <a:sym typeface="Gaegu"/>
              </a:rPr>
              <a:t>Buy daily necessities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8202866"/>
            <a:ext cx="2905760" cy="2084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284" y="87853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 txBox="1"/>
          <p:nvPr/>
        </p:nvSpPr>
        <p:spPr>
          <a:xfrm>
            <a:off x="250806" y="365752"/>
            <a:ext cx="1300799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一些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yìxiē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some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52" name="Google Shape;252;p13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3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3" descr="Graphical user interfac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70029" y="2084134"/>
            <a:ext cx="3594362" cy="336892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55" name="Google Shape;255;p13"/>
          <p:cNvSpPr txBox="1"/>
          <p:nvPr/>
        </p:nvSpPr>
        <p:spPr>
          <a:xfrm>
            <a:off x="6754803" y="2347328"/>
            <a:ext cx="10945126" cy="1938992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mǎi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le  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yìxiē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rìyònɡpǐn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买 了 </a:t>
            </a:r>
            <a:r>
              <a:rPr lang="en-US" sz="5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一些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sz="5400" b="1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日用品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。</a:t>
            </a:r>
            <a:endParaRPr sz="5400" b="1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40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I bought some daily necessities.</a:t>
            </a:r>
            <a:endParaRPr sz="4000" b="1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  <p:sp>
        <p:nvSpPr>
          <p:cNvPr id="3" name="Google Shape;255;p13">
            <a:extLst>
              <a:ext uri="{FF2B5EF4-FFF2-40B4-BE49-F238E27FC236}">
                <a16:creationId xmlns:a16="http://schemas.microsoft.com/office/drawing/2014/main" id="{D76ED213-4621-6DC9-070E-B1EABE6A674A}"/>
              </a:ext>
            </a:extLst>
          </p:cNvPr>
          <p:cNvSpPr txBox="1"/>
          <p:nvPr/>
        </p:nvSpPr>
        <p:spPr>
          <a:xfrm>
            <a:off x="6557799" y="7277952"/>
            <a:ext cx="10945126" cy="132343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3200"/>
            </a:pPr>
            <a:r>
              <a:rPr lang="en-US" sz="3200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mǎi</a:t>
            </a:r>
            <a:r>
              <a:rPr lang="en-US" sz="32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yìxiē</a:t>
            </a:r>
            <a:r>
              <a:rPr lang="en-US" sz="32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shuǐɡuǒ</a:t>
            </a:r>
            <a:r>
              <a:rPr lang="en-US" sz="32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</a:p>
          <a:p>
            <a:pPr lvl="0">
              <a:buClr>
                <a:srgbClr val="383E56"/>
              </a:buClr>
              <a:buSzPts val="3200"/>
            </a:pP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买 </a:t>
            </a:r>
            <a:r>
              <a:rPr lang="zh-CN" alt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一些水果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EF415A-155D-E0A4-A6A8-52E2731D01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7408" y="6035552"/>
            <a:ext cx="4216846" cy="31312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4"/>
          <p:cNvSpPr txBox="1"/>
          <p:nvPr/>
        </p:nvSpPr>
        <p:spPr>
          <a:xfrm>
            <a:off x="533400" y="800100"/>
            <a:ext cx="11963400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让 v.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rànɡ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to let; to allow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4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 txBox="1"/>
          <p:nvPr/>
        </p:nvSpPr>
        <p:spPr>
          <a:xfrm>
            <a:off x="3276600" y="2989064"/>
            <a:ext cx="5638800" cy="2154436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rànɡ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bānɡ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让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 我 帮 你。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Let me help you.</a:t>
            </a:r>
            <a:endParaRPr sz="54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pic>
        <p:nvPicPr>
          <p:cNvPr id="267" name="Google Shape;267;p14" descr="A picture containing text, envelop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54200" y="6518401"/>
            <a:ext cx="3452812" cy="345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5"/>
          <p:cNvSpPr txBox="1"/>
          <p:nvPr/>
        </p:nvSpPr>
        <p:spPr>
          <a:xfrm>
            <a:off x="250806" y="365752"/>
            <a:ext cx="1300799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尝尝 v.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chánɡchɑnɡ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to taste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76" name="Google Shape;276;p15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5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5" descr="A picture containing ico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548968" y="2285786"/>
            <a:ext cx="5815012" cy="5815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79" name="Google Shape;279;p15"/>
          <p:cNvSpPr txBox="1"/>
          <p:nvPr/>
        </p:nvSpPr>
        <p:spPr>
          <a:xfrm>
            <a:off x="9213400" y="4523740"/>
            <a:ext cx="6695440" cy="1938992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rànɡ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chánɡchɑnɡ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aegu"/>
              <a:buNone/>
            </a:pPr>
            <a:r>
              <a:rPr lang="en-US" sz="5400" b="1" i="0" u="none" strike="noStrike" cap="none" dirty="0" err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让你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54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尝尝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40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Let you taste.(try this)</a:t>
            </a:r>
            <a:endParaRPr sz="4000" b="1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7538720"/>
            <a:ext cx="3768600" cy="274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6"/>
          <p:cNvSpPr txBox="1"/>
          <p:nvPr/>
        </p:nvSpPr>
        <p:spPr>
          <a:xfrm>
            <a:off x="457200" y="266700"/>
            <a:ext cx="9883794" cy="205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亲手 adv.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qīnshǒu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7200"/>
              <a:buFont typeface="Gaegu"/>
              <a:buNone/>
            </a:pP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with one’s own hands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88" name="Google Shape;288;p16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6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6" descr="A picture containing text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26617" y="6286500"/>
            <a:ext cx="3768599" cy="376859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6"/>
          <p:cNvSpPr txBox="1"/>
          <p:nvPr/>
        </p:nvSpPr>
        <p:spPr>
          <a:xfrm>
            <a:off x="2650235" y="3025760"/>
            <a:ext cx="7239000" cy="1877437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3200"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Tā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qīnshǒu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zuò</a:t>
            </a:r>
            <a:r>
              <a:rPr lang="en-US" sz="32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de </a:t>
            </a:r>
            <a:r>
              <a:rPr lang="en-US" sz="3200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nǎichá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她 </a:t>
            </a:r>
            <a:r>
              <a:rPr lang="en-US" sz="5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亲手</a:t>
            </a:r>
            <a:r>
              <a:rPr lang="en-US" sz="5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做</a:t>
            </a:r>
            <a:r>
              <a:rPr lang="zh-CN" alt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的奶茶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。</a:t>
            </a:r>
            <a:endParaRPr sz="5400" b="1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sz="36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The milk tea she made herself</a:t>
            </a:r>
            <a:endParaRPr sz="360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  <p:sp>
        <p:nvSpPr>
          <p:cNvPr id="292" name="Google Shape;292;p16"/>
          <p:cNvSpPr txBox="1"/>
          <p:nvPr/>
        </p:nvSpPr>
        <p:spPr>
          <a:xfrm>
            <a:off x="6485635" y="6845484"/>
            <a:ext cx="6807200" cy="1815882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5400"/>
            </a:pPr>
            <a:r>
              <a:rPr lang="en-US" sz="32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wǒ</a:t>
            </a:r>
            <a:r>
              <a:rPr lang="en-US" sz="32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 </a:t>
            </a:r>
            <a:r>
              <a:rPr lang="en-US" sz="32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qīnshǒu</a:t>
            </a:r>
            <a:r>
              <a:rPr lang="en-US" sz="32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zuò</a:t>
            </a:r>
            <a:r>
              <a:rPr lang="en-US" sz="32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de </a:t>
            </a:r>
            <a:r>
              <a:rPr lang="en-US" sz="32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dàngāo</a:t>
            </a:r>
            <a:r>
              <a:rPr lang="en-US" sz="32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</a:p>
          <a:p>
            <a:pPr lvl="0">
              <a:buClr>
                <a:schemeClr val="dk1"/>
              </a:buClr>
              <a:buSzPts val="5400"/>
            </a:pPr>
            <a:r>
              <a:rPr lang="en-US" sz="5400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我</a:t>
            </a:r>
            <a:r>
              <a:rPr lang="en-US" sz="5400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亲手</a:t>
            </a:r>
            <a:r>
              <a:rPr lang="en-US" sz="5400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sz="540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做</a:t>
            </a:r>
            <a:r>
              <a:rPr lang="zh-CN" altLang="en-US" sz="540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的蛋糕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。</a:t>
            </a:r>
            <a:endParaRPr sz="5400" b="1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sz="32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Gaegu"/>
              </a:rPr>
              <a:t>The cake I made myself</a:t>
            </a:r>
            <a:endParaRPr sz="3200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Gaegu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AD4AD1B-5EAD-5FEA-DC8D-6F4BCA4F7E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85600" y="2349541"/>
            <a:ext cx="1905266" cy="29055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8922AB8-680C-6AD7-26C1-41ACFA8066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12037" y="6481297"/>
            <a:ext cx="2210108" cy="21148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/>
          <p:cNvSpPr txBox="1"/>
          <p:nvPr/>
        </p:nvSpPr>
        <p:spPr>
          <a:xfrm>
            <a:off x="457200" y="789309"/>
            <a:ext cx="12344400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菜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cài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meal; vegetables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01" name="Google Shape;301;p17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7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9615" y="2713028"/>
            <a:ext cx="3303618" cy="325079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04" name="Google Shape;304;p17" descr="Diagram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71699" y="6291868"/>
            <a:ext cx="3511694" cy="325079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05" name="Google Shape;305;p17" descr="A picture containing logo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24427" y="2713028"/>
            <a:ext cx="3303618" cy="325079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292;p16">
            <a:extLst>
              <a:ext uri="{FF2B5EF4-FFF2-40B4-BE49-F238E27FC236}">
                <a16:creationId xmlns:a16="http://schemas.microsoft.com/office/drawing/2014/main" id="{6E35E40D-08FC-E593-FD3C-237FF8907C33}"/>
              </a:ext>
            </a:extLst>
          </p:cNvPr>
          <p:cNvSpPr txBox="1"/>
          <p:nvPr/>
        </p:nvSpPr>
        <p:spPr>
          <a:xfrm>
            <a:off x="9398000" y="2408441"/>
            <a:ext cx="6807200" cy="2000548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5400"/>
            </a:pPr>
            <a:r>
              <a:rPr lang="en-US" altLang="zh-CN" sz="36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zhōngguócài</a:t>
            </a:r>
            <a:endParaRPr lang="en-US" altLang="zh-CN" sz="3600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chemeClr val="dk1"/>
              </a:buClr>
              <a:buSzPts val="5400"/>
            </a:pPr>
            <a:r>
              <a:rPr lang="zh-CN" alt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中国 菜</a:t>
            </a:r>
            <a:endParaRPr lang="en-US" altLang="zh-CN" sz="5400" b="1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chemeClr val="dk1"/>
              </a:buClr>
              <a:buSzPts val="5400"/>
            </a:pPr>
            <a:r>
              <a:rPr lang="en-US" altLang="zh-CN" sz="36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Chinese food</a:t>
            </a:r>
            <a:endParaRPr sz="360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  <p:sp>
        <p:nvSpPr>
          <p:cNvPr id="3" name="Google Shape;292;p16">
            <a:extLst>
              <a:ext uri="{FF2B5EF4-FFF2-40B4-BE49-F238E27FC236}">
                <a16:creationId xmlns:a16="http://schemas.microsoft.com/office/drawing/2014/main" id="{E7B21867-2AC4-81B1-09ED-773C9D874F0B}"/>
              </a:ext>
            </a:extLst>
          </p:cNvPr>
          <p:cNvSpPr txBox="1"/>
          <p:nvPr/>
        </p:nvSpPr>
        <p:spPr>
          <a:xfrm>
            <a:off x="9359620" y="5169819"/>
            <a:ext cx="6807200" cy="2000548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chemeClr val="dk1"/>
              </a:buClr>
              <a:buSzPts val="5400"/>
            </a:pPr>
            <a:r>
              <a:rPr lang="en-US" altLang="zh-CN" sz="36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tàiguócài</a:t>
            </a:r>
            <a:endParaRPr lang="en-US" altLang="zh-CN" sz="3600" b="1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chemeClr val="dk1"/>
              </a:buClr>
              <a:buSzPts val="5400"/>
            </a:pPr>
            <a:r>
              <a:rPr lang="zh-CN" alt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泰国菜</a:t>
            </a:r>
            <a:endParaRPr lang="en-US" altLang="zh-CN" sz="5400" b="1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chemeClr val="dk1"/>
              </a:buClr>
              <a:buSzPts val="5400"/>
            </a:pPr>
            <a:r>
              <a:rPr lang="en-US" altLang="zh-CN" sz="40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Thai food</a:t>
            </a:r>
            <a:endParaRPr sz="400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  <p:sp>
        <p:nvSpPr>
          <p:cNvPr id="4" name="Google Shape;292;p16">
            <a:extLst>
              <a:ext uri="{FF2B5EF4-FFF2-40B4-BE49-F238E27FC236}">
                <a16:creationId xmlns:a16="http://schemas.microsoft.com/office/drawing/2014/main" id="{5FA3ADF5-F3E5-6C1D-1AE1-EF6797E796B1}"/>
              </a:ext>
            </a:extLst>
          </p:cNvPr>
          <p:cNvSpPr txBox="1"/>
          <p:nvPr/>
        </p:nvSpPr>
        <p:spPr>
          <a:xfrm>
            <a:off x="7559040" y="7377199"/>
            <a:ext cx="6807200" cy="2000548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5400"/>
            </a:pPr>
            <a:r>
              <a:rPr lang="en-US" altLang="zh-CN" sz="36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rìběncài</a:t>
            </a:r>
            <a:endParaRPr lang="en-US" altLang="zh-CN" sz="3600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chemeClr val="dk1"/>
              </a:buClr>
              <a:buSzPts val="5400"/>
            </a:pPr>
            <a:r>
              <a:rPr lang="zh-CN" alt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日本菜</a:t>
            </a:r>
            <a:endParaRPr lang="en-US" altLang="zh-CN" sz="5400" b="1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chemeClr val="dk1"/>
              </a:buClr>
              <a:buSzPts val="5400"/>
            </a:pPr>
            <a:r>
              <a:rPr lang="en-US" sz="36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Japanese food</a:t>
            </a:r>
            <a:endParaRPr sz="360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296">
          <a:extLst>
            <a:ext uri="{FF2B5EF4-FFF2-40B4-BE49-F238E27FC236}">
              <a16:creationId xmlns:a16="http://schemas.microsoft.com/office/drawing/2014/main" id="{106F377E-7431-0DEB-BD04-D2663879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7">
            <a:extLst>
              <a:ext uri="{FF2B5EF4-FFF2-40B4-BE49-F238E27FC236}">
                <a16:creationId xmlns:a16="http://schemas.microsoft.com/office/drawing/2014/main" id="{28F90D09-827E-4FD3-08E5-4A5F56E504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7">
            <a:extLst>
              <a:ext uri="{FF2B5EF4-FFF2-40B4-BE49-F238E27FC236}">
                <a16:creationId xmlns:a16="http://schemas.microsoft.com/office/drawing/2014/main" id="{AC91DC05-15B9-3A2F-3AAE-996A0E11F1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7">
            <a:extLst>
              <a:ext uri="{FF2B5EF4-FFF2-40B4-BE49-F238E27FC236}">
                <a16:creationId xmlns:a16="http://schemas.microsoft.com/office/drawing/2014/main" id="{7E5C96C3-9830-E0E1-8346-DE6EB16B957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>
            <a:extLst>
              <a:ext uri="{FF2B5EF4-FFF2-40B4-BE49-F238E27FC236}">
                <a16:creationId xmlns:a16="http://schemas.microsoft.com/office/drawing/2014/main" id="{B5D83F70-AA87-8203-0562-511C37C8E87E}"/>
              </a:ext>
            </a:extLst>
          </p:cNvPr>
          <p:cNvSpPr txBox="1"/>
          <p:nvPr/>
        </p:nvSpPr>
        <p:spPr>
          <a:xfrm>
            <a:off x="457200" y="789309"/>
            <a:ext cx="12344400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菜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cài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meal; vegetables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01" name="Google Shape;301;p17">
            <a:extLst>
              <a:ext uri="{FF2B5EF4-FFF2-40B4-BE49-F238E27FC236}">
                <a16:creationId xmlns:a16="http://schemas.microsoft.com/office/drawing/2014/main" id="{9673E186-DB7E-D41F-63A0-BF9A6BFE4C1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7">
            <a:extLst>
              <a:ext uri="{FF2B5EF4-FFF2-40B4-BE49-F238E27FC236}">
                <a16:creationId xmlns:a16="http://schemas.microsoft.com/office/drawing/2014/main" id="{C88C1D1F-B39A-9BAD-003E-1BDCA6B347B8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7">
            <a:extLst>
              <a:ext uri="{FF2B5EF4-FFF2-40B4-BE49-F238E27FC236}">
                <a16:creationId xmlns:a16="http://schemas.microsoft.com/office/drawing/2014/main" id="{F40DC86C-7BF4-4CDF-B5EB-E8CF44F02AE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9615" y="2713028"/>
            <a:ext cx="3303618" cy="325079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04" name="Google Shape;304;p17" descr="Diagram&#10;&#10;Description automatically generated">
            <a:extLst>
              <a:ext uri="{FF2B5EF4-FFF2-40B4-BE49-F238E27FC236}">
                <a16:creationId xmlns:a16="http://schemas.microsoft.com/office/drawing/2014/main" id="{7D655358-05D0-692D-F15D-8E118528A40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071699" y="6291868"/>
            <a:ext cx="3511694" cy="325079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05" name="Google Shape;305;p17" descr="A picture containing logo&#10;&#10;Description automatically generated">
            <a:extLst>
              <a:ext uri="{FF2B5EF4-FFF2-40B4-BE49-F238E27FC236}">
                <a16:creationId xmlns:a16="http://schemas.microsoft.com/office/drawing/2014/main" id="{DDCCAD93-2E79-9735-9748-E20825AC1C6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138798" y="2713027"/>
            <a:ext cx="3303618" cy="325079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292;p16">
            <a:extLst>
              <a:ext uri="{FF2B5EF4-FFF2-40B4-BE49-F238E27FC236}">
                <a16:creationId xmlns:a16="http://schemas.microsoft.com/office/drawing/2014/main" id="{B89ED8E3-A2DC-3D13-F0FE-A60E13C12D1C}"/>
              </a:ext>
            </a:extLst>
          </p:cNvPr>
          <p:cNvSpPr txBox="1"/>
          <p:nvPr/>
        </p:nvSpPr>
        <p:spPr>
          <a:xfrm>
            <a:off x="8179405" y="6291486"/>
            <a:ext cx="8030215" cy="2123658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chemeClr val="dk1"/>
              </a:buClr>
              <a:buSzPts val="5400"/>
            </a:pPr>
            <a:r>
              <a:rPr lang="en-US" altLang="zh-CN" sz="44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wǒ</a:t>
            </a:r>
            <a:r>
              <a:rPr lang="en-US" altLang="zh-CN" sz="44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altLang="zh-CN" sz="44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bù</a:t>
            </a:r>
            <a:r>
              <a:rPr lang="en-US" altLang="zh-CN" sz="44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altLang="zh-CN" sz="44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xǐhuan</a:t>
            </a:r>
            <a:r>
              <a:rPr lang="en-US" altLang="zh-CN" sz="44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altLang="zh-CN" sz="44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chī</a:t>
            </a:r>
            <a:r>
              <a:rPr lang="en-US" altLang="zh-CN" sz="4400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</a:t>
            </a:r>
            <a:r>
              <a:rPr lang="en-US" altLang="zh-CN" sz="4400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cài</a:t>
            </a:r>
            <a:endParaRPr lang="en-US" altLang="zh-CN" sz="4400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chemeClr val="dk1"/>
              </a:buClr>
              <a:buSzPts val="5400"/>
            </a:pPr>
            <a:r>
              <a:rPr lang="zh-CN" altLang="en-US" sz="540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我不 喜欢  吃 菜。</a:t>
            </a:r>
            <a:endParaRPr lang="en-US" altLang="zh-CN" sz="540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lvl="0"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I don't like eating vegetables.</a:t>
            </a:r>
            <a:endParaRPr sz="3600" b="1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</p:spTree>
    <p:extLst>
      <p:ext uri="{BB962C8B-B14F-4D97-AF65-F5344CB8AC3E}">
        <p14:creationId xmlns:p14="http://schemas.microsoft.com/office/powerpoint/2010/main" val="571653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8"/>
          <p:cNvSpPr txBox="1"/>
          <p:nvPr/>
        </p:nvSpPr>
        <p:spPr>
          <a:xfrm>
            <a:off x="457200" y="443743"/>
            <a:ext cx="10668000" cy="205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准备 v.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zhǔnbèi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7200"/>
              <a:buFont typeface="Gaegu"/>
              <a:buNone/>
            </a:pP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to prepare; to get ready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14" name="Google Shape;314;p18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18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8" descr="A picture containing text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54200" y="6567488"/>
            <a:ext cx="3529012" cy="352901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8"/>
          <p:cNvSpPr txBox="1"/>
          <p:nvPr/>
        </p:nvSpPr>
        <p:spPr>
          <a:xfrm>
            <a:off x="3106421" y="3872104"/>
            <a:ext cx="4904237" cy="2431435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Zhǔnbèi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endParaRPr sz="3200" b="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Gaegu"/>
              <a:buNone/>
            </a:pPr>
            <a:r>
              <a:rPr lang="en-US" sz="5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准备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去</a:t>
            </a:r>
            <a:endParaRPr sz="5400" b="1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36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Prepare to go</a:t>
            </a:r>
            <a:endParaRPr sz="3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36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Get ready to go.</a:t>
            </a:r>
            <a:endParaRPr sz="3600" b="1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9556404" y="3872104"/>
            <a:ext cx="5486400" cy="2431435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Zhǔnbèi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zuò</a:t>
            </a:r>
            <a:endParaRPr sz="3200" b="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Gaegu"/>
              <a:buNone/>
            </a:pPr>
            <a:r>
              <a:rPr lang="en-US" sz="54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准备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做</a:t>
            </a:r>
            <a:endParaRPr sz="5400" b="1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3600" b="1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sym typeface="Gaegu"/>
              </a:rPr>
              <a:t>Get ready to do something.</a:t>
            </a:r>
            <a:endParaRPr sz="3600" b="1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sym typeface="Gaegu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9"/>
          <p:cNvSpPr txBox="1"/>
          <p:nvPr/>
        </p:nvSpPr>
        <p:spPr>
          <a:xfrm>
            <a:off x="539534" y="705032"/>
            <a:ext cx="14020800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味道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wèidào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flavour; taste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27" name="Google Shape;327;p19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9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19" descr="A picture containing Team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18004" y="2190568"/>
            <a:ext cx="7391400" cy="7391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0"/>
          <p:cNvSpPr txBox="1"/>
          <p:nvPr/>
        </p:nvSpPr>
        <p:spPr>
          <a:xfrm>
            <a:off x="127934" y="342900"/>
            <a:ext cx="16178866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怎么样 pron.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zěnme yànɡ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How about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38" name="Google Shape;338;p20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0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0" descr="A picture containing Team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71800" y="2276369"/>
            <a:ext cx="5734261" cy="573426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41" name="Google Shape;341;p20"/>
          <p:cNvSpPr txBox="1"/>
          <p:nvPr/>
        </p:nvSpPr>
        <p:spPr>
          <a:xfrm>
            <a:off x="8591760" y="2996683"/>
            <a:ext cx="8084715" cy="1938992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383E56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wèidào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zěnmeyànɡ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</a:t>
            </a:r>
            <a:endParaRPr sz="3200" b="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A: </a:t>
            </a:r>
            <a:r>
              <a:rPr lang="en-US" sz="5400" b="1" i="0" u="none" strike="noStrike" cap="none" dirty="0" err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味道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54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怎么样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？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40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  </a:t>
            </a: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How does it taste?</a:t>
            </a:r>
            <a:endParaRPr sz="360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8610600" y="5219706"/>
            <a:ext cx="6172200" cy="1938992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383E56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wèidào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hěnhǎo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B: </a:t>
            </a:r>
            <a:r>
              <a:rPr lang="en-US" sz="5400" b="1" i="0" u="none" strike="noStrike" cap="none" dirty="0" err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味道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5400" b="1" i="0" u="none" strike="noStrike" cap="none" dirty="0" err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很好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36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    </a:t>
            </a: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It tastes good.</a:t>
            </a:r>
            <a:endParaRPr sz="360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1"/>
          <p:cNvSpPr txBox="1"/>
          <p:nvPr/>
        </p:nvSpPr>
        <p:spPr>
          <a:xfrm>
            <a:off x="381000" y="266700"/>
            <a:ext cx="11759266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有名 adj.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yǒumínɡ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famous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51" name="Google Shape;351;p21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 descr="Icon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10227" y="2011698"/>
            <a:ext cx="6500812" cy="65008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54" name="Google Shape;354;p21"/>
          <p:cNvSpPr txBox="1"/>
          <p:nvPr/>
        </p:nvSpPr>
        <p:spPr>
          <a:xfrm>
            <a:off x="10873525" y="4184886"/>
            <a:ext cx="6629400" cy="1877437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Tā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hěn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yǒumínɡ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她 很 </a:t>
            </a:r>
            <a:r>
              <a:rPr lang="en-US" sz="54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有名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36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She is very famous.</a:t>
            </a:r>
            <a:endParaRPr sz="36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2"/>
          <p:cNvSpPr txBox="1"/>
          <p:nvPr/>
        </p:nvSpPr>
        <p:spPr>
          <a:xfrm>
            <a:off x="381000" y="266700"/>
            <a:ext cx="11759266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苹果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pínɡɡuǒ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apple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63" name="Google Shape;363;p22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2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98294" y="1774508"/>
            <a:ext cx="7491412" cy="7491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3"/>
          <p:cNvSpPr txBox="1"/>
          <p:nvPr/>
        </p:nvSpPr>
        <p:spPr>
          <a:xfrm>
            <a:off x="381000" y="266700"/>
            <a:ext cx="11759266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草莓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cǎoméi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strawberry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74" name="Google Shape;374;p23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3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3" descr="A picture containing 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1850708"/>
            <a:ext cx="7415212" cy="74152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4"/>
          <p:cNvSpPr txBox="1"/>
          <p:nvPr/>
        </p:nvSpPr>
        <p:spPr>
          <a:xfrm>
            <a:off x="381000" y="266700"/>
            <a:ext cx="11759266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斤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jīn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half a kilogram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85" name="Google Shape;385;p24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4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4" descr="A picture containing schematic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581400" y="2169213"/>
            <a:ext cx="6729412" cy="6729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88" name="Google Shape;388;p24"/>
          <p:cNvSpPr txBox="1"/>
          <p:nvPr/>
        </p:nvSpPr>
        <p:spPr>
          <a:xfrm>
            <a:off x="11366074" y="3204508"/>
            <a:ext cx="5824645" cy="1877437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Yìjīn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pínɡɡuǒ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aegu"/>
              <a:buNone/>
            </a:pPr>
            <a:r>
              <a:rPr lang="en-US" sz="5400" b="1" i="0" u="none" strike="noStrike" cap="none" dirty="0" err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一</a:t>
            </a:r>
            <a:r>
              <a:rPr lang="en-US" sz="54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斤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5400" b="1" i="0" u="none" strike="noStrike" cap="none" dirty="0" err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苹果</a:t>
            </a:r>
            <a:endParaRPr sz="54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Half a </a:t>
            </a:r>
            <a:r>
              <a:rPr lang="en-US" sz="36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kilogram</a:t>
            </a: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 of apples</a:t>
            </a:r>
            <a:endParaRPr sz="360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  <p:sp>
        <p:nvSpPr>
          <p:cNvPr id="2" name="Google Shape;388;p24">
            <a:extLst>
              <a:ext uri="{FF2B5EF4-FFF2-40B4-BE49-F238E27FC236}">
                <a16:creationId xmlns:a16="http://schemas.microsoft.com/office/drawing/2014/main" id="{1AE23C71-8BA9-4DB4-3277-3FCFA139E08A}"/>
              </a:ext>
            </a:extLst>
          </p:cNvPr>
          <p:cNvSpPr txBox="1"/>
          <p:nvPr/>
        </p:nvSpPr>
        <p:spPr>
          <a:xfrm>
            <a:off x="11344116" y="6463708"/>
            <a:ext cx="5096192" cy="1938992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3200"/>
            </a:pPr>
            <a:r>
              <a:rPr lang="en-US" sz="3200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liǎng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jīn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pínɡɡuǒ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Gaegu"/>
              <a:buNone/>
            </a:pPr>
            <a:r>
              <a:rPr lang="zh-CN" alt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两</a:t>
            </a:r>
            <a:r>
              <a:rPr lang="en-US" sz="54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斤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  </a:t>
            </a:r>
            <a:r>
              <a:rPr lang="en-US" sz="5400" b="1" i="0" u="none" strike="noStrike" cap="none" dirty="0" err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苹果</a:t>
            </a:r>
            <a:endParaRPr sz="54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lvl="0">
              <a:buClr>
                <a:srgbClr val="383E56"/>
              </a:buClr>
              <a:buSzPts val="5400"/>
            </a:pPr>
            <a:r>
              <a:rPr lang="en-US" sz="36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One kilogram of </a:t>
            </a: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apples</a:t>
            </a:r>
            <a:endParaRPr sz="360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5"/>
          <p:cNvSpPr txBox="1"/>
          <p:nvPr/>
        </p:nvSpPr>
        <p:spPr>
          <a:xfrm>
            <a:off x="609600" y="588670"/>
            <a:ext cx="775019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买 v.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mǎi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to buy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97" name="Google Shape;397;p25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5" descr="Graphical user interfac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3540" y="3130952"/>
            <a:ext cx="4457220" cy="4457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00" name="Google Shape;400;p25" descr="A picture containing logo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91666" y="3130952"/>
            <a:ext cx="4457221" cy="445722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01" name="Google Shape;401;p2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521877" y="3086100"/>
            <a:ext cx="4546923" cy="454692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02" name="Google Shape;402;p25"/>
          <p:cNvSpPr txBox="1"/>
          <p:nvPr/>
        </p:nvSpPr>
        <p:spPr>
          <a:xfrm>
            <a:off x="1943156" y="7134648"/>
            <a:ext cx="3477987" cy="1292662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36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Mǎi</a:t>
            </a:r>
            <a:r>
              <a:rPr lang="en-US" sz="36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6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rìyònɡpǐn</a:t>
            </a:r>
            <a:endParaRPr sz="3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Gaegu"/>
              <a:buNone/>
            </a:pPr>
            <a:r>
              <a:rPr lang="en-US" sz="48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买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日用品</a:t>
            </a:r>
            <a:endParaRPr sz="4800" b="1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  <p:sp>
        <p:nvSpPr>
          <p:cNvPr id="403" name="Google Shape;403;p25"/>
          <p:cNvSpPr txBox="1"/>
          <p:nvPr/>
        </p:nvSpPr>
        <p:spPr>
          <a:xfrm>
            <a:off x="8127230" y="7214815"/>
            <a:ext cx="3039086" cy="1292662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36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Mǎi</a:t>
            </a:r>
            <a:r>
              <a:rPr lang="en-US" sz="36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6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cǎoméi</a:t>
            </a:r>
            <a:endParaRPr sz="3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Gaegu"/>
              <a:buNone/>
            </a:pPr>
            <a:r>
              <a:rPr lang="en-US" sz="48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买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草莓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404" name="Google Shape;404;p25"/>
          <p:cNvSpPr txBox="1"/>
          <p:nvPr/>
        </p:nvSpPr>
        <p:spPr>
          <a:xfrm>
            <a:off x="13517884" y="7276370"/>
            <a:ext cx="3039088" cy="1169551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Mǎi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pínɡɡuǒ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Gaegu"/>
              <a:buNone/>
            </a:pPr>
            <a:r>
              <a:rPr lang="en-US" sz="48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买 </a:t>
            </a:r>
            <a:r>
              <a:rPr lang="en-US" sz="4800" b="1" i="0" u="none" strike="noStrike" cap="none" dirty="0" err="1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苹果</a:t>
            </a:r>
            <a:endParaRPr sz="4800" b="1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Gaegu"/>
              <a:sym typeface="Gaegu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6"/>
          <p:cNvSpPr txBox="1"/>
          <p:nvPr/>
        </p:nvSpPr>
        <p:spPr>
          <a:xfrm>
            <a:off x="250806" y="365752"/>
            <a:ext cx="12474594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快 adj.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kuài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quick, fast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13" name="Google Shape;413;p26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6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6" descr="A person riding a bicycle&#10;&#10;Description automatically generated with medium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90026" y="3086100"/>
            <a:ext cx="5886450" cy="3924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16" name="Google Shape;416;p26" descr="A person driving a car&#10;&#10;Description automatically generated with medium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33600" y="3063240"/>
            <a:ext cx="6019608" cy="401307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17" name="Google Shape;417;p26"/>
          <p:cNvSpPr txBox="1"/>
          <p:nvPr/>
        </p:nvSpPr>
        <p:spPr>
          <a:xfrm>
            <a:off x="6518583" y="6134100"/>
            <a:ext cx="1828800" cy="2154436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altLang="zh-CN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uài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快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Fast</a:t>
            </a:r>
            <a:endParaRPr sz="54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418" name="Google Shape;418;p26"/>
          <p:cNvSpPr txBox="1"/>
          <p:nvPr/>
        </p:nvSpPr>
        <p:spPr>
          <a:xfrm>
            <a:off x="15460880" y="6134100"/>
            <a:ext cx="1828800" cy="2154436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màn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慢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Slow</a:t>
            </a:r>
            <a:endParaRPr sz="54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7"/>
          <p:cNvSpPr txBox="1"/>
          <p:nvPr/>
        </p:nvSpPr>
        <p:spPr>
          <a:xfrm>
            <a:off x="250806" y="365752"/>
            <a:ext cx="1247459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比较 adv.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bǐjiào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relatively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27" name="Google Shape;427;p27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27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7" descr="A person riding a bicycle&#10;&#10;Description automatically generated with medium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90026" y="3086100"/>
            <a:ext cx="5886450" cy="3924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30" name="Google Shape;430;p27" descr="A person driving a car&#10;&#10;Description automatically generated with medium confiden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33600" y="3063240"/>
            <a:ext cx="6019608" cy="401307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31" name="Google Shape;431;p27"/>
          <p:cNvSpPr txBox="1"/>
          <p:nvPr/>
        </p:nvSpPr>
        <p:spPr>
          <a:xfrm>
            <a:off x="5638800" y="6134100"/>
            <a:ext cx="3097636" cy="2154436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Bǐjiào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kuài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Gaegu"/>
              <a:buNone/>
            </a:pPr>
            <a:r>
              <a:rPr lang="en-US" sz="54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比较</a:t>
            </a:r>
            <a:r>
              <a:rPr lang="en-US" sz="54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快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Faster</a:t>
            </a:r>
            <a:endParaRPr sz="54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432" name="Google Shape;432;p27"/>
          <p:cNvSpPr txBox="1"/>
          <p:nvPr/>
        </p:nvSpPr>
        <p:spPr>
          <a:xfrm>
            <a:off x="14192044" y="6134100"/>
            <a:ext cx="3097636" cy="2154436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3200"/>
              <a:buFont typeface="Calibri"/>
              <a:buNone/>
            </a:pP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Bǐjiào</a:t>
            </a:r>
            <a:r>
              <a:rPr lang="en-US" sz="32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màn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Gaegu"/>
              <a:buNone/>
            </a:pPr>
            <a:r>
              <a:rPr lang="en-US" sz="54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比较</a:t>
            </a:r>
            <a:r>
              <a:rPr lang="en-US" sz="54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rPr>
              <a:t>慢</a:t>
            </a:r>
            <a:endParaRPr sz="5400" b="1" i="0" u="none" strike="noStrike" cap="none" dirty="0">
              <a:solidFill>
                <a:schemeClr val="dk1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Slower</a:t>
            </a:r>
            <a:endParaRPr sz="54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28"/>
          <p:cNvSpPr txBox="1"/>
          <p:nvPr/>
        </p:nvSpPr>
        <p:spPr>
          <a:xfrm>
            <a:off x="250806" y="365752"/>
            <a:ext cx="12474594" cy="1025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才 adv.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cái </a:t>
            </a: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just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41" name="Google Shape;441;p28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28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8"/>
          <p:cNvSpPr txBox="1"/>
          <p:nvPr/>
        </p:nvSpPr>
        <p:spPr>
          <a:xfrm>
            <a:off x="3810000" y="3540085"/>
            <a:ext cx="3962400" cy="3385542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cái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dào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才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到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Just arrived.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(arrived later than expected)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8"/>
          <p:cNvSpPr txBox="1"/>
          <p:nvPr/>
        </p:nvSpPr>
        <p:spPr>
          <a:xfrm>
            <a:off x="9525000" y="3540085"/>
            <a:ext cx="3962400" cy="1908215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cái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shuìjiào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Gaegu"/>
              <a:buNone/>
            </a:pPr>
            <a:r>
              <a:rPr lang="en-US" sz="48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才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睡觉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Just sleep.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p28" descr="A picture containing text, envelope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49400" y="6286500"/>
            <a:ext cx="3768599" cy="376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9"/>
          <p:cNvSpPr txBox="1"/>
          <p:nvPr/>
        </p:nvSpPr>
        <p:spPr>
          <a:xfrm>
            <a:off x="304800" y="1642717"/>
            <a:ext cx="13487400" cy="2051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8000"/>
              <a:buFont typeface="Gaegu"/>
              <a:buNone/>
            </a:pPr>
            <a:r>
              <a:rPr lang="en-US" sz="8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酸辣虾汤 n. </a:t>
            </a:r>
            <a:r>
              <a:rPr lang="en-US" sz="60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Suān là xiā tānɡ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7200"/>
              <a:buFont typeface="Gaegu"/>
              <a:buNone/>
            </a:pPr>
            <a:r>
              <a:rPr lang="en-US" sz="72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Tom Yam Kung</a:t>
            </a:r>
            <a:endParaRPr sz="8000" b="0" i="0" u="none" strike="noStrike" cap="none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55" name="Google Shape;455;p29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9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9"/>
          <p:cNvSpPr txBox="1"/>
          <p:nvPr/>
        </p:nvSpPr>
        <p:spPr>
          <a:xfrm>
            <a:off x="320039" y="419100"/>
            <a:ext cx="6898617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专名PROPER NOUNS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8" name="Google Shape;458;p29" descr="Diagram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56847" y="3694561"/>
            <a:ext cx="4619273" cy="37686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59" name="Google Shape;459;p29"/>
          <p:cNvSpPr txBox="1"/>
          <p:nvPr/>
        </p:nvSpPr>
        <p:spPr>
          <a:xfrm>
            <a:off x="4634363" y="7959685"/>
            <a:ext cx="11500460" cy="1908215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Suānlàxiātānɡ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hǎochī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jí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le.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酸辣虾汤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好吃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极了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Tom Yum Kung is extremely delicious.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459;p29">
            <a:extLst>
              <a:ext uri="{FF2B5EF4-FFF2-40B4-BE49-F238E27FC236}">
                <a16:creationId xmlns:a16="http://schemas.microsoft.com/office/drawing/2014/main" id="{097D2F84-F436-3E00-221B-4DCB37C3AC54}"/>
              </a:ext>
            </a:extLst>
          </p:cNvPr>
          <p:cNvSpPr txBox="1"/>
          <p:nvPr/>
        </p:nvSpPr>
        <p:spPr>
          <a:xfrm>
            <a:off x="2811880" y="4751037"/>
            <a:ext cx="3866436" cy="1477328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2800"/>
            </a:pPr>
            <a:r>
              <a:rPr lang="en-US" altLang="zh-CN" sz="4800" b="1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dōngyīngōng</a:t>
            </a:r>
            <a:endParaRPr lang="en-US" altLang="zh-CN" sz="4800" b="1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>
              <a:buClr>
                <a:srgbClr val="383E56"/>
              </a:buClr>
              <a:buSzPts val="2800"/>
            </a:pPr>
            <a:r>
              <a:rPr lang="zh-CN" altLang="en-US" sz="4800" b="1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 冬阴功</a:t>
            </a:r>
            <a:endParaRPr sz="4800" b="1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0"/>
          <p:cNvSpPr txBox="1"/>
          <p:nvPr/>
        </p:nvSpPr>
        <p:spPr>
          <a:xfrm>
            <a:off x="275144" y="1307604"/>
            <a:ext cx="16483116" cy="205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383E56"/>
              </a:buClr>
              <a:buSzPts val="8000"/>
            </a:pPr>
            <a:r>
              <a:rPr lang="en-US" sz="60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泰式</a:t>
            </a:r>
            <a:r>
              <a:rPr lang="zh-CN" altLang="en-US" sz="60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炒面</a:t>
            </a:r>
            <a:r>
              <a:rPr lang="en-US" altLang="zh-CN" sz="60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/</a:t>
            </a:r>
            <a:r>
              <a:rPr lang="zh-CN" altLang="en-US" sz="6000" b="1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炒河粉</a:t>
            </a:r>
            <a:r>
              <a:rPr lang="en-US" sz="60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n. </a:t>
            </a:r>
            <a:r>
              <a:rPr lang="en-US" sz="4400" b="0" i="0" u="none" strike="noStrike" cap="none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Tàishì</a:t>
            </a:r>
            <a:r>
              <a:rPr lang="en-US" sz="4400" b="0" i="0" u="none" strike="noStrike" cap="none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chǎomiàn</a:t>
            </a:r>
            <a:r>
              <a:rPr lang="en-US" sz="4400" b="0" i="0" u="none" strike="noStrike" cap="none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/</a:t>
            </a:r>
            <a:r>
              <a:rPr lang="en-US" sz="44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chǎo</a:t>
            </a:r>
            <a:r>
              <a:rPr lang="en-US" sz="44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hé</a:t>
            </a:r>
            <a:r>
              <a:rPr lang="en-US" sz="44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dirty="0" err="1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fěn</a:t>
            </a:r>
            <a:r>
              <a:rPr lang="en-US" sz="4400" dirty="0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sz="4400" b="0" i="0" u="none" strike="noStrike" cap="none" dirty="0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7200"/>
              <a:buFont typeface="Gaegu"/>
              <a:buNone/>
            </a:pPr>
            <a:r>
              <a:rPr lang="en-US" sz="66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Pad Thai</a:t>
            </a:r>
            <a:endParaRPr sz="7200" b="0" i="0" u="none" strike="noStrike" cap="none" dirty="0">
              <a:solidFill>
                <a:srgbClr val="383E56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68" name="Google Shape;468;p30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0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0"/>
          <p:cNvSpPr txBox="1"/>
          <p:nvPr/>
        </p:nvSpPr>
        <p:spPr>
          <a:xfrm>
            <a:off x="304800" y="283752"/>
            <a:ext cx="6096000" cy="744948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专名PROPER NOUNS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30" descr="A picture containing 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00800" y="3482827"/>
            <a:ext cx="5204987" cy="491987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3"/>
          <p:cNvSpPr txBox="1"/>
          <p:nvPr/>
        </p:nvSpPr>
        <p:spPr>
          <a:xfrm>
            <a:off x="2060467" y="3285435"/>
            <a:ext cx="14401800" cy="437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48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“极了”，副词，表达程度。一般用来修饰形容词或少数动词，放在形容词或动词之后。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48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“极了”as an adverb is used to modify an adjective, indicating the extremity of the adjective.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33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3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3"/>
          <p:cNvSpPr txBox="1"/>
          <p:nvPr/>
        </p:nvSpPr>
        <p:spPr>
          <a:xfrm>
            <a:off x="5235942" y="74403"/>
            <a:ext cx="8584786" cy="2797689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Calibri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“极了”的用法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“极了”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4927369" y="2628900"/>
            <a:ext cx="8433261" cy="921214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Noun + Adjective + 极了</a:t>
            </a:r>
            <a:endParaRPr sz="5400" b="1" i="0" u="none" strike="noStrike" cap="none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pic>
        <p:nvPicPr>
          <p:cNvPr id="491" name="Google Shape;491;p34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34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4"/>
          <p:cNvSpPr txBox="1"/>
          <p:nvPr/>
        </p:nvSpPr>
        <p:spPr>
          <a:xfrm>
            <a:off x="152399" y="105870"/>
            <a:ext cx="8155249" cy="2797689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极了”的用法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</a:t>
            </a:r>
            <a:r>
              <a:rPr lang="en-US" sz="6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极了”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4"/>
          <p:cNvSpPr txBox="1"/>
          <p:nvPr/>
        </p:nvSpPr>
        <p:spPr>
          <a:xfrm>
            <a:off x="1066800" y="3854411"/>
            <a:ext cx="11658600" cy="1785104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Jīntiān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tiānqì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hǎo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jíle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今天天气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好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极了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Today the weather is extremely good.</a:t>
            </a:r>
            <a:endParaRPr sz="105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495" name="Google Shape;495;p34"/>
          <p:cNvSpPr txBox="1"/>
          <p:nvPr/>
        </p:nvSpPr>
        <p:spPr>
          <a:xfrm>
            <a:off x="2413773" y="5965217"/>
            <a:ext cx="15240000" cy="1785104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Huánɡtàihòudàxué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měi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jíle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皇太后大学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美极了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Mae Fah Luang University is extremely beautiful.</a:t>
            </a:r>
            <a:endParaRPr sz="105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4922519" y="8073480"/>
            <a:ext cx="10515600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Zhè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jiàn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yīfu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piàoliànɡ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jíle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这件衣服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漂亮</a:t>
            </a:r>
            <a:r>
              <a:rPr lang="en-US" sz="48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极了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This dress is extremely beautiful.</a:t>
            </a:r>
            <a:endParaRPr sz="360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Google Shape;50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1"/>
          <p:cNvSpPr txBox="1"/>
          <p:nvPr/>
        </p:nvSpPr>
        <p:spPr>
          <a:xfrm>
            <a:off x="3046614" y="4817813"/>
            <a:ext cx="14401800" cy="3689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“还是” 表示希望，含有建议的意味。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“还是” is used to express hope and also contains suggestion to do something.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" name="Google Shape;505;p31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1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1"/>
          <p:cNvSpPr txBox="1"/>
          <p:nvPr/>
        </p:nvSpPr>
        <p:spPr>
          <a:xfrm>
            <a:off x="5351198" y="1416215"/>
            <a:ext cx="7585604" cy="3136628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Calibri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“还是”的用法</a:t>
            </a: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“还是”</a:t>
            </a: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2"/>
          <p:cNvSpPr txBox="1"/>
          <p:nvPr/>
        </p:nvSpPr>
        <p:spPr>
          <a:xfrm>
            <a:off x="4533370" y="3535973"/>
            <a:ext cx="10942750" cy="923330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Subject + 还是 + Verb + …….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32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2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2"/>
          <p:cNvSpPr txBox="1"/>
          <p:nvPr/>
        </p:nvSpPr>
        <p:spPr>
          <a:xfrm>
            <a:off x="272780" y="186907"/>
            <a:ext cx="7585604" cy="3136628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Calibri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“还是”的用法</a:t>
            </a: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“还是”</a:t>
            </a: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1905000" y="5197332"/>
            <a:ext cx="8458200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Wǒmen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háishi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zuò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chūzūchē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bɑ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我们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还是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坐出租车去吧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We had better go by taxi.</a:t>
            </a:r>
            <a:endParaRPr sz="360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6628014" y="7553369"/>
            <a:ext cx="10820400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háishi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xǐhuɑn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zhè</a:t>
            </a:r>
            <a:r>
              <a:rPr lang="en-US" sz="28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bù</a:t>
            </a:r>
            <a:r>
              <a:rPr lang="en-US" sz="28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diànyǐnɡ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我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还是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喜欢这部电影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I still prefer watching this movie</a:t>
            </a:r>
            <a:r>
              <a:rPr lang="en-US" sz="36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.</a:t>
            </a:r>
            <a:endParaRPr sz="3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5"/>
          <p:cNvSpPr txBox="1"/>
          <p:nvPr/>
        </p:nvSpPr>
        <p:spPr>
          <a:xfrm>
            <a:off x="2556932" y="3285435"/>
            <a:ext cx="15486369" cy="437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48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“或者”跟“还是”，虽然都能表示选择，但用法有区别。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48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Both“或者”and“还是”can be translated as “or” but their rules when used are different, and of course, they cannot be interchanged.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" name="Google Shape;529;p35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5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5"/>
          <p:cNvSpPr txBox="1"/>
          <p:nvPr/>
        </p:nvSpPr>
        <p:spPr>
          <a:xfrm>
            <a:off x="536054" y="268452"/>
            <a:ext cx="12634173" cy="2797689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“或者”</a:t>
            </a: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VS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“还是”的用法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“或者”</a:t>
            </a: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VS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“还是”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6"/>
          <p:cNvSpPr txBox="1"/>
          <p:nvPr/>
        </p:nvSpPr>
        <p:spPr>
          <a:xfrm>
            <a:off x="2128059" y="4357986"/>
            <a:ext cx="14894790" cy="194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Calibri"/>
              <a:buNone/>
            </a:pPr>
            <a:r>
              <a:rPr lang="en-US" sz="5400" b="0" i="0" u="none" strike="noStrike" cap="none">
                <a:solidFill>
                  <a:srgbClr val="383E56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或者” 一般用在肯定句中。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“或者” is used in affirmative sentences.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36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36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6"/>
          <p:cNvSpPr txBox="1"/>
          <p:nvPr/>
        </p:nvSpPr>
        <p:spPr>
          <a:xfrm>
            <a:off x="4876800" y="995815"/>
            <a:ext cx="7857067" cy="2797689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“或者”</a:t>
            </a: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的用法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“或者”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7"/>
          <p:cNvSpPr txBox="1"/>
          <p:nvPr/>
        </p:nvSpPr>
        <p:spPr>
          <a:xfrm>
            <a:off x="6740929" y="2705100"/>
            <a:ext cx="4806141" cy="921214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A + </a:t>
            </a:r>
            <a:r>
              <a:rPr lang="en-US" sz="5400" b="0" i="0" u="none" strike="noStrike" cap="none">
                <a:solidFill>
                  <a:srgbClr val="383E56"/>
                </a:solidFill>
                <a:latin typeface="SimSun"/>
                <a:ea typeface="SimSun"/>
                <a:cs typeface="SimSun"/>
                <a:sym typeface="SimSun"/>
              </a:rPr>
              <a:t>或者 </a:t>
            </a: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+ 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1" name="Google Shape;551;p37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7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37"/>
          <p:cNvSpPr txBox="1"/>
          <p:nvPr/>
        </p:nvSpPr>
        <p:spPr>
          <a:xfrm>
            <a:off x="5197415" y="190500"/>
            <a:ext cx="8179918" cy="2797689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“或者”</a:t>
            </a: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的用法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“或者”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7"/>
          <p:cNvSpPr txBox="1"/>
          <p:nvPr/>
        </p:nvSpPr>
        <p:spPr>
          <a:xfrm>
            <a:off x="2285999" y="4240282"/>
            <a:ext cx="13716000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Wǒmen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zuò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chē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huòzhě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qí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zìxínɡchē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dōu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kěyǐ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我们坐车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或者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骑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自行车去都可以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We can go by bus or by bike, both are fine.</a:t>
            </a:r>
            <a:endParaRPr sz="360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555" name="Google Shape;555;p37"/>
          <p:cNvSpPr txBox="1"/>
          <p:nvPr/>
        </p:nvSpPr>
        <p:spPr>
          <a:xfrm>
            <a:off x="4065582" y="6910328"/>
            <a:ext cx="10972764" cy="2277547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Xīnɡqīliù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huòzhě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xīnɡqītiān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dōu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kěyǐ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星期六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或者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星期天去都可以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Saturday or Sunday is ok. I can go on both days. (both are acceptable)</a:t>
            </a:r>
            <a:endParaRPr sz="360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0" name="Google Shape;560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38"/>
          <p:cNvSpPr txBox="1"/>
          <p:nvPr/>
        </p:nvSpPr>
        <p:spPr>
          <a:xfrm>
            <a:off x="1600200" y="4001438"/>
            <a:ext cx="15666170" cy="245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“还是”一般用在疑问句中。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“还是”is used in an interrogative sentence.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p38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8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8"/>
          <p:cNvSpPr txBox="1"/>
          <p:nvPr/>
        </p:nvSpPr>
        <p:spPr>
          <a:xfrm>
            <a:off x="536055" y="268452"/>
            <a:ext cx="9567969" cy="2797689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“还是”的用法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“还是”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9"/>
          <p:cNvSpPr txBox="1"/>
          <p:nvPr/>
        </p:nvSpPr>
        <p:spPr>
          <a:xfrm>
            <a:off x="6999667" y="3197920"/>
            <a:ext cx="6197447" cy="1229888"/>
          </a:xfrm>
          <a:prstGeom prst="rect">
            <a:avLst/>
          </a:prstGeom>
          <a:solidFill>
            <a:srgbClr val="D6E3BC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5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A + 还是 + B 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p39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9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9"/>
          <p:cNvSpPr txBox="1"/>
          <p:nvPr/>
        </p:nvSpPr>
        <p:spPr>
          <a:xfrm>
            <a:off x="5027658" y="268453"/>
            <a:ext cx="8710279" cy="2797689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“还是”的用法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“还是”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9"/>
          <p:cNvSpPr txBox="1"/>
          <p:nvPr/>
        </p:nvSpPr>
        <p:spPr>
          <a:xfrm>
            <a:off x="1796934" y="4338427"/>
            <a:ext cx="15621000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zuò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chē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háishì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kāichē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qù</a:t>
            </a:r>
            <a:endParaRPr sz="2800" b="0" i="0" u="none" strike="noStrike" cap="none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你坐车去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还是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开车去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？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Are you going there by bus or driving there by car?</a:t>
            </a:r>
            <a:endParaRPr sz="360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579" name="Google Shape;579;p39"/>
          <p:cNvSpPr txBox="1"/>
          <p:nvPr/>
        </p:nvSpPr>
        <p:spPr>
          <a:xfrm>
            <a:off x="4987602" y="6802547"/>
            <a:ext cx="11149827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Nǐ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xǐhuɑn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pǎobù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háishì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yóuyǒnɡ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你喜欢跑步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还是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游泳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？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Do you prefer jogging or swimming?</a:t>
            </a:r>
            <a:endParaRPr sz="360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518401"/>
            <a:ext cx="4256118" cy="376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0"/>
          <p:cNvSpPr txBox="1"/>
          <p:nvPr/>
        </p:nvSpPr>
        <p:spPr>
          <a:xfrm>
            <a:off x="2825534" y="4338427"/>
            <a:ext cx="13932726" cy="2733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4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“就”和“才”二者都是副词，用来强调句子中动作的时间。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5400"/>
              <a:buFont typeface="Gaegu"/>
              <a:buNone/>
            </a:pPr>
            <a:r>
              <a:rPr lang="en-US" sz="40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“就”and“才”. These two words as adverbs are both used to emphasize the time. 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8" name="Google Shape;588;p40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0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0"/>
          <p:cNvSpPr txBox="1"/>
          <p:nvPr/>
        </p:nvSpPr>
        <p:spPr>
          <a:xfrm>
            <a:off x="536055" y="268453"/>
            <a:ext cx="13297574" cy="2797689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 sz="60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“就”</a:t>
            </a: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VS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“才”的用法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“就”</a:t>
            </a: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VS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“才”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595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972300"/>
            <a:ext cx="3743501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41"/>
          <p:cNvSpPr txBox="1"/>
          <p:nvPr/>
        </p:nvSpPr>
        <p:spPr>
          <a:xfrm>
            <a:off x="2379906" y="2682560"/>
            <a:ext cx="14782286" cy="5653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“就” 表示短时间内即将发生，或动作比预期发生地要早或者比想象中快了一些，包括事情发生得很顺利。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“就” is used to indicate that it will happen in a short time, or the action happened earlier than expected or faster than expected, including things that happened smoothly.</a:t>
            </a:r>
            <a:endParaRPr sz="4800" b="1" i="0" u="none" strike="noStrike" cap="none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pic>
        <p:nvPicPr>
          <p:cNvPr id="599" name="Google Shape;599;p41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1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1"/>
          <p:cNvSpPr txBox="1"/>
          <p:nvPr/>
        </p:nvSpPr>
        <p:spPr>
          <a:xfrm>
            <a:off x="371209" y="149969"/>
            <a:ext cx="7606516" cy="1865126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“就”</a:t>
            </a: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“就”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0" y="6972300"/>
            <a:ext cx="3743501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1964" y="7756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42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2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42"/>
          <p:cNvSpPr txBox="1"/>
          <p:nvPr/>
        </p:nvSpPr>
        <p:spPr>
          <a:xfrm>
            <a:off x="5867400" y="1038914"/>
            <a:ext cx="8323043" cy="1865126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“就”</a:t>
            </a: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“就”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2"/>
          <p:cNvSpPr txBox="1"/>
          <p:nvPr/>
        </p:nvSpPr>
        <p:spPr>
          <a:xfrm>
            <a:off x="3124200" y="3260792"/>
            <a:ext cx="7086600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liù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diǎn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jiù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qǐchuánɡ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le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我六点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就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起床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了。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I got up at 6 o’clock.</a:t>
            </a:r>
            <a:endParaRPr sz="360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13" name="Google Shape;613;p42"/>
          <p:cNvSpPr txBox="1"/>
          <p:nvPr/>
        </p:nvSpPr>
        <p:spPr>
          <a:xfrm>
            <a:off x="3849024" y="5910473"/>
            <a:ext cx="13599390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zuò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fēijī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yí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ɡè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xiǎoshí</a:t>
            </a:r>
            <a:r>
              <a:rPr lang="en-US" sz="28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jiù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dào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le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我坐飞机一个小时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就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到了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b="1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It takes me only an hour to arrive by plane.</a:t>
            </a:r>
            <a:endParaRPr sz="36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" y="7505700"/>
            <a:ext cx="314109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8518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3"/>
          <p:cNvSpPr txBox="1"/>
          <p:nvPr/>
        </p:nvSpPr>
        <p:spPr>
          <a:xfrm>
            <a:off x="1972531" y="2105664"/>
            <a:ext cx="14703945" cy="5653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“才”用来表示事情在前不久发生，动作比预期发生的要慢或者比想象中慢了一些，包括事情发生得不顺利。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400" b="1" i="0" u="none" strike="noStrike" cap="none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	“才” is used to indicate that something happened not long ago, and the action happened slower than expected, including things that did not happen smoothly.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2" name="Google Shape;622;p43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3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43"/>
          <p:cNvSpPr txBox="1"/>
          <p:nvPr/>
        </p:nvSpPr>
        <p:spPr>
          <a:xfrm>
            <a:off x="536055" y="268453"/>
            <a:ext cx="6855345" cy="1564531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“才”的用法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“才”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1" y="7505700"/>
            <a:ext cx="314109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851865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761995">
            <a:off x="15638994" y="12818"/>
            <a:ext cx="1646546" cy="109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4"/>
          <p:cNvPicPr preferRelativeResize="0"/>
          <p:nvPr/>
        </p:nvPicPr>
        <p:blipFill rotWithShape="1">
          <a:blip r:embed="rId6">
            <a:alphaModFix/>
          </a:blip>
          <a:srcRect l="20292" b="15145"/>
          <a:stretch/>
        </p:blipFill>
        <p:spPr>
          <a:xfrm rot="10800000">
            <a:off x="16758260" y="0"/>
            <a:ext cx="1489330" cy="4338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44"/>
          <p:cNvPicPr preferRelativeResize="0"/>
          <p:nvPr/>
        </p:nvPicPr>
        <p:blipFill rotWithShape="1">
          <a:blip r:embed="rId7">
            <a:alphaModFix/>
          </a:blip>
          <a:srcRect l="12189" t="57867"/>
          <a:stretch/>
        </p:blipFill>
        <p:spPr>
          <a:xfrm rot="5400000">
            <a:off x="15839521" y="836956"/>
            <a:ext cx="3285434" cy="1611523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4"/>
          <p:cNvSpPr txBox="1"/>
          <p:nvPr/>
        </p:nvSpPr>
        <p:spPr>
          <a:xfrm>
            <a:off x="687127" y="553049"/>
            <a:ext cx="7722195" cy="1865126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SimSun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“才”的用法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91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6000"/>
              <a:buFont typeface="Gaegu"/>
              <a:buNone/>
            </a:pPr>
            <a:r>
              <a:rPr lang="en-US" sz="6000" b="1" i="0" u="none" strike="noStrike" cap="none">
                <a:solidFill>
                  <a:srgbClr val="2E2F30"/>
                </a:solidFill>
                <a:latin typeface="Gaegu"/>
                <a:ea typeface="Gaegu"/>
                <a:cs typeface="Gaegu"/>
                <a:sym typeface="Gaegu"/>
              </a:rPr>
              <a:t>The Usage of </a:t>
            </a:r>
            <a:r>
              <a:rPr lang="en-US" sz="6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“才”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4"/>
          <p:cNvSpPr txBox="1"/>
          <p:nvPr/>
        </p:nvSpPr>
        <p:spPr>
          <a:xfrm>
            <a:off x="5046098" y="3108960"/>
            <a:ext cx="9868782" cy="1723549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wǎnshɑnɡ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shí'èr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diǎn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cái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shuìjiào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我 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晚上十二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点</a:t>
            </a:r>
            <a:r>
              <a:rPr lang="en-US" sz="4800" b="1" i="0" u="none" strike="noStrike" cap="none" dirty="0" err="1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才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睡觉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Gaegu"/>
                <a:sym typeface="Gaegu"/>
              </a:rPr>
              <a:t>I go to bed at 12 AM.(I go to bed late)</a:t>
            </a:r>
            <a:endParaRPr sz="360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636" name="Google Shape;636;p44"/>
          <p:cNvSpPr txBox="1"/>
          <p:nvPr/>
        </p:nvSpPr>
        <p:spPr>
          <a:xfrm>
            <a:off x="3415855" y="6342722"/>
            <a:ext cx="13880472" cy="2277547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Wǒ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zuò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huǒchē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shíbā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ɡè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xiǎoshí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cái</a:t>
            </a:r>
            <a:r>
              <a:rPr lang="en-US" sz="2800" b="0" i="0" u="none" strike="noStrike" cap="none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2800" b="0" i="0" u="none" strike="noStrike" cap="none" dirty="0" err="1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dào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4800" b="1" i="0" u="none" strike="noStrike" cap="none" dirty="0" err="1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我坐火车十八个小时</a:t>
            </a:r>
            <a:r>
              <a:rPr lang="en-US" sz="4800" b="1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-US" sz="4800" b="1" i="0" u="none" strike="noStrike" cap="none" dirty="0">
                <a:solidFill>
                  <a:srgbClr val="FF0000"/>
                </a:solidFill>
                <a:latin typeface="Gaegu"/>
                <a:ea typeface="Gaegu"/>
                <a:cs typeface="Gaegu"/>
                <a:sym typeface="Gaegu"/>
              </a:rPr>
              <a:t>才</a:t>
            </a:r>
            <a:r>
              <a:rPr lang="en-US" sz="4800" b="1" i="0" u="none" strike="noStrike" cap="none" dirty="0">
                <a:solidFill>
                  <a:srgbClr val="383E56"/>
                </a:solidFill>
                <a:latin typeface="Gaegu"/>
                <a:ea typeface="Gaegu"/>
                <a:cs typeface="Gaegu"/>
                <a:sym typeface="Gaegu"/>
              </a:rPr>
              <a:t> 到。</a:t>
            </a:r>
            <a:endParaRPr sz="4800" b="1" i="0" u="none" strike="noStrike" cap="none" dirty="0">
              <a:solidFill>
                <a:srgbClr val="383E56"/>
              </a:solidFill>
              <a:latin typeface="Gaegu"/>
              <a:ea typeface="Gaegu"/>
              <a:cs typeface="Gaegu"/>
              <a:sym typeface="Gaegu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E56"/>
              </a:buClr>
              <a:buSzPts val="4800"/>
              <a:buFont typeface="Gaegu"/>
              <a:buNone/>
            </a:pPr>
            <a:r>
              <a:rPr lang="en-US" sz="36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sym typeface="Gaegu"/>
              </a:rPr>
              <a:t>It took me 18 hours to arrive by train.</a:t>
            </a:r>
            <a:br>
              <a:rPr lang="en-US" sz="36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sym typeface="Gaegu"/>
              </a:rPr>
            </a:br>
            <a:r>
              <a:rPr lang="en-US" sz="3600" dirty="0">
                <a:solidFill>
                  <a:srgbClr val="383E56"/>
                </a:solidFill>
                <a:latin typeface="SimSun" panose="02010600030101010101" pitchFamily="2" charset="-122"/>
                <a:ea typeface="SimSun" panose="02010600030101010101" pitchFamily="2" charset="-122"/>
                <a:sym typeface="Gaegu"/>
              </a:rPr>
              <a:t>(It was very slow and I arrived later than expected)</a:t>
            </a:r>
            <a:endParaRPr sz="3600" dirty="0">
              <a:solidFill>
                <a:srgbClr val="383E56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45"/>
          <p:cNvPicPr preferRelativeResize="0"/>
          <p:nvPr/>
        </p:nvPicPr>
        <p:blipFill rotWithShape="1">
          <a:blip r:embed="rId3">
            <a:alphaModFix/>
          </a:blip>
          <a:srcRect t="14612" r="23147" b="25800"/>
          <a:stretch/>
        </p:blipFill>
        <p:spPr>
          <a:xfrm rot="10800000" flipH="1">
            <a:off x="10534873" y="0"/>
            <a:ext cx="7753127" cy="393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4705537" y="1339513"/>
            <a:ext cx="4865073" cy="229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863" flipH="1">
            <a:off x="2787373" y="2844848"/>
            <a:ext cx="13450956" cy="2634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03814" y="5877911"/>
            <a:ext cx="13687164" cy="237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510985" y="5078093"/>
            <a:ext cx="3446531" cy="318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000" y="2467820"/>
            <a:ext cx="3446531" cy="318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61953" y="143494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45"/>
          <p:cNvSpPr txBox="1"/>
          <p:nvPr/>
        </p:nvSpPr>
        <p:spPr>
          <a:xfrm>
            <a:off x="7014353" y="151114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9" name="Google Shape;649;p45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2375" y="2768725"/>
            <a:ext cx="2349858" cy="234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4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406153" y="5153926"/>
            <a:ext cx="2690812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5"/>
          <p:cNvSpPr txBox="1"/>
          <p:nvPr/>
        </p:nvSpPr>
        <p:spPr>
          <a:xfrm>
            <a:off x="3827531" y="3343056"/>
            <a:ext cx="12924028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	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yào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chāoshì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,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ɡēn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yìqǐ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飞：我要去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超市，你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跟我一起去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吗？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52" name="Google Shape;652;p45"/>
          <p:cNvSpPr txBox="1"/>
          <p:nvPr/>
        </p:nvSpPr>
        <p:spPr>
          <a:xfrm>
            <a:off x="2660941" y="6208763"/>
            <a:ext cx="12924028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Yuán yuán  Nǐ yào zu</a:t>
            </a:r>
            <a:r>
              <a:rPr lang="en-US" sz="28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ò</a:t>
            </a: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chē qù háishi qí zìxínɡchē  qù?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圆 圆：你要 坐车去还是 骑自行车 去？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6"/>
          <p:cNvPicPr preferRelativeResize="0"/>
          <p:nvPr/>
        </p:nvPicPr>
        <p:blipFill rotWithShape="1">
          <a:blip r:embed="rId3">
            <a:alphaModFix/>
          </a:blip>
          <a:srcRect t="14612" r="23147" b="25800"/>
          <a:stretch/>
        </p:blipFill>
        <p:spPr>
          <a:xfrm rot="10800000" flipH="1">
            <a:off x="10534873" y="0"/>
            <a:ext cx="7753127" cy="393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4705537" y="1339513"/>
            <a:ext cx="4865073" cy="229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863" flipH="1">
            <a:off x="2851379" y="1231374"/>
            <a:ext cx="13450956" cy="5694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0" y="6944711"/>
            <a:ext cx="10334364" cy="237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4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414807" y="7332950"/>
            <a:ext cx="3446531" cy="318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81000" y="1257300"/>
            <a:ext cx="3446531" cy="318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954000" y="160666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46"/>
          <p:cNvSpPr txBox="1"/>
          <p:nvPr/>
        </p:nvSpPr>
        <p:spPr>
          <a:xfrm>
            <a:off x="13106400" y="168286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5" name="Google Shape;665;p46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2375" y="1558205"/>
            <a:ext cx="2349858" cy="234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792667" y="7283986"/>
            <a:ext cx="2690812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6"/>
          <p:cNvSpPr txBox="1"/>
          <p:nvPr/>
        </p:nvSpPr>
        <p:spPr>
          <a:xfrm>
            <a:off x="3663611" y="1737572"/>
            <a:ext cx="13930705" cy="5595378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fēi	Zu</a:t>
            </a:r>
            <a:r>
              <a:rPr lang="en-US" sz="28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ò</a:t>
            </a: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chē bǐjiào kuài,  shíwǔ  fēnzhōnɡ jiù dào le,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 飞：坐 车 比较  快，十五  分钟   就 到 了，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qí   zìxínɡchē qù bàn ɡè xiǎoshí cái dào.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骑 自行车去 半个小时 才 到。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Wǒmen  hái shi  zu</a:t>
            </a:r>
            <a:r>
              <a:rPr lang="en-US" sz="28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ò</a:t>
            </a: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chē qù  bɑ.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我们 还是 坐	车去 吧。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68" name="Google Shape;668;p46"/>
          <p:cNvSpPr txBox="1"/>
          <p:nvPr/>
        </p:nvSpPr>
        <p:spPr>
          <a:xfrm>
            <a:off x="5085768" y="7750703"/>
            <a:ext cx="9379777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Yuán yuán  Hǎo.  Wǒmen zài  nǎr   zuò chē？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圆 圆：好。我们在 哪儿坐 车？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47"/>
          <p:cNvPicPr preferRelativeResize="0"/>
          <p:nvPr/>
        </p:nvPicPr>
        <p:blipFill rotWithShape="1">
          <a:blip r:embed="rId3">
            <a:alphaModFix/>
          </a:blip>
          <a:srcRect t="14612" r="23147" b="25800"/>
          <a:stretch/>
        </p:blipFill>
        <p:spPr>
          <a:xfrm rot="10800000" flipH="1">
            <a:off x="10534873" y="0"/>
            <a:ext cx="7753127" cy="393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4" name="Google Shape;674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4705537" y="1339513"/>
            <a:ext cx="4865073" cy="229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863" flipH="1">
            <a:off x="3026556" y="1455773"/>
            <a:ext cx="7215101" cy="2318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1071" y="3743428"/>
            <a:ext cx="10334364" cy="237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385442" y="2943610"/>
            <a:ext cx="3446531" cy="318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059" y="952500"/>
            <a:ext cx="3446531" cy="318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4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954000" y="160666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47"/>
          <p:cNvSpPr txBox="1"/>
          <p:nvPr/>
        </p:nvSpPr>
        <p:spPr>
          <a:xfrm>
            <a:off x="13106400" y="168286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1" name="Google Shape;681;p47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75434" y="1253405"/>
            <a:ext cx="2349858" cy="234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4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182743" y="2979091"/>
            <a:ext cx="2690812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7"/>
          <p:cNvSpPr txBox="1"/>
          <p:nvPr/>
        </p:nvSpPr>
        <p:spPr>
          <a:xfrm>
            <a:off x="3906671" y="1737572"/>
            <a:ext cx="7640810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fēi	Zài duìmiàn  zu</a:t>
            </a:r>
            <a:r>
              <a:rPr lang="en-US" sz="28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ò</a:t>
            </a: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chē.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 飞：在 对面 坐 车。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84" name="Google Shape;684;p47"/>
          <p:cNvSpPr txBox="1"/>
          <p:nvPr/>
        </p:nvSpPr>
        <p:spPr>
          <a:xfrm>
            <a:off x="5864470" y="4080931"/>
            <a:ext cx="9295105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Yuán yuán  Qù chāoshì yào zu</a:t>
            </a:r>
            <a:r>
              <a:rPr lang="en-US" sz="28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ò</a:t>
            </a: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jǐ  lù chē ？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圆 圆：去超市 要 坐 几 路 车 ？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685" name="Google Shape;685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863" flipH="1">
            <a:off x="3272729" y="6603054"/>
            <a:ext cx="11102642" cy="2318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4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1934" y="6181100"/>
            <a:ext cx="3446531" cy="318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47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23309" y="6482005"/>
            <a:ext cx="2349858" cy="2349858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47"/>
          <p:cNvSpPr txBox="1"/>
          <p:nvPr/>
        </p:nvSpPr>
        <p:spPr>
          <a:xfrm>
            <a:off x="4154551" y="6966175"/>
            <a:ext cx="12621600" cy="1609200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fēi	Zu</a:t>
            </a:r>
            <a:r>
              <a:rPr lang="en-US" sz="28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ò</a:t>
            </a: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wǔ lù  chē huòzhě qī  lù chē dōu kěyǐ.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飞飞：坐5路车或者 7 路 车 都</a:t>
            </a:r>
            <a:r>
              <a:rPr lang="en-US" sz="440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可以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48"/>
          <p:cNvPicPr preferRelativeResize="0"/>
          <p:nvPr/>
        </p:nvPicPr>
        <p:blipFill rotWithShape="1">
          <a:blip r:embed="rId3">
            <a:alphaModFix/>
          </a:blip>
          <a:srcRect t="14612" r="23147" b="25800"/>
          <a:stretch/>
        </p:blipFill>
        <p:spPr>
          <a:xfrm rot="10800000" flipH="1">
            <a:off x="10534873" y="0"/>
            <a:ext cx="7753127" cy="393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4705537" y="1339513"/>
            <a:ext cx="4865073" cy="229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95" name="Google Shape;695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863" flipH="1">
            <a:off x="3356365" y="5903298"/>
            <a:ext cx="11455090" cy="2318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7600" y="2046645"/>
            <a:ext cx="10334364" cy="237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0689" y="1562100"/>
            <a:ext cx="3446531" cy="318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4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401800" y="5524500"/>
            <a:ext cx="3446531" cy="318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4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954000" y="160666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48"/>
          <p:cNvSpPr txBox="1"/>
          <p:nvPr/>
        </p:nvSpPr>
        <p:spPr>
          <a:xfrm>
            <a:off x="13106400" y="168286"/>
            <a:ext cx="4259293" cy="103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1" name="Google Shape;701;p48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953175" y="5825405"/>
            <a:ext cx="2349858" cy="234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4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71008" y="1585792"/>
            <a:ext cx="2690812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48"/>
          <p:cNvSpPr txBox="1"/>
          <p:nvPr/>
        </p:nvSpPr>
        <p:spPr>
          <a:xfrm>
            <a:off x="3726499" y="6263974"/>
            <a:ext cx="11226726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fēi	Hòubian yǒu zuòwèi,  zánmen qù zuò  bɑ.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 飞：后边 有 座位，咱们去 坐 吧。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04" name="Google Shape;704;p48"/>
          <p:cNvSpPr txBox="1"/>
          <p:nvPr/>
        </p:nvSpPr>
        <p:spPr>
          <a:xfrm>
            <a:off x="4006789" y="2384148"/>
            <a:ext cx="10071907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Yuán yuán  Chē  lái  le, wǒ men zǒu  bɑ.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圆 圆：车  来 了，我们走  吧。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05" name="Google Shape;705;p48"/>
          <p:cNvSpPr/>
          <p:nvPr/>
        </p:nvSpPr>
        <p:spPr>
          <a:xfrm>
            <a:off x="3668966" y="4693691"/>
            <a:ext cx="3709915" cy="92781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8"/>
          <p:cNvSpPr txBox="1"/>
          <p:nvPr/>
        </p:nvSpPr>
        <p:spPr>
          <a:xfrm>
            <a:off x="3755699" y="4863893"/>
            <a:ext cx="3471907" cy="525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034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……</a:t>
            </a:r>
            <a:r>
              <a:rPr lang="en-US" sz="2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p49"/>
          <p:cNvPicPr preferRelativeResize="0"/>
          <p:nvPr/>
        </p:nvPicPr>
        <p:blipFill rotWithShape="1">
          <a:blip r:embed="rId3">
            <a:alphaModFix/>
          </a:blip>
          <a:srcRect t="14612" r="23147" b="25800"/>
          <a:stretch/>
        </p:blipFill>
        <p:spPr>
          <a:xfrm rot="10800000" flipH="1">
            <a:off x="10534873" y="0"/>
            <a:ext cx="7753127" cy="393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4705537" y="1339513"/>
            <a:ext cx="4865073" cy="229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863" flipH="1">
            <a:off x="2282647" y="4257321"/>
            <a:ext cx="12407852" cy="6227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7600" y="2046645"/>
            <a:ext cx="6541873" cy="237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0689" y="1562100"/>
            <a:ext cx="3446531" cy="318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198662" y="4602052"/>
            <a:ext cx="3446531" cy="318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38153" y="159030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49"/>
          <p:cNvSpPr txBox="1"/>
          <p:nvPr/>
        </p:nvSpPr>
        <p:spPr>
          <a:xfrm>
            <a:off x="7090553" y="166650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9" name="Google Shape;719;p49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750037" y="4902957"/>
            <a:ext cx="2349858" cy="234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71008" y="1585792"/>
            <a:ext cx="2690812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49"/>
          <p:cNvSpPr txBox="1"/>
          <p:nvPr/>
        </p:nvSpPr>
        <p:spPr>
          <a:xfrm>
            <a:off x="1507000" y="4620825"/>
            <a:ext cx="13140388" cy="5595378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	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zhǔnbèi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zu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ò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suānlàxiātānɡ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hé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tàishì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chǎomiàn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飞：我准备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做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酸辣虾汤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和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泰式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炒面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le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yìxiē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xiā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.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xiǎnɡ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rànɡ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chánɡchɑnɡ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我买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了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一些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虾。我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想 让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你尝尝</a:t>
            </a:r>
            <a:endParaRPr sz="44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qīnshǒu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zu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ò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de  Tàiɡuócài.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我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亲手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做 的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泰国菜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4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22" name="Google Shape;722;p49"/>
          <p:cNvSpPr txBox="1"/>
          <p:nvPr/>
        </p:nvSpPr>
        <p:spPr>
          <a:xfrm>
            <a:off x="4190999" y="2384148"/>
            <a:ext cx="6313511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Yuán yuán  Nǐ  mǎi le shénme？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圆 圆：你买 了 什么？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Google Shape;727;p50"/>
          <p:cNvPicPr preferRelativeResize="0"/>
          <p:nvPr/>
        </p:nvPicPr>
        <p:blipFill rotWithShape="1">
          <a:blip r:embed="rId3">
            <a:alphaModFix/>
          </a:blip>
          <a:srcRect t="14612" r="23147" b="25800"/>
          <a:stretch/>
        </p:blipFill>
        <p:spPr>
          <a:xfrm rot="10800000" flipH="1">
            <a:off x="10534873" y="0"/>
            <a:ext cx="7753127" cy="393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4705537" y="1339513"/>
            <a:ext cx="4865073" cy="229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863" flipH="1">
            <a:off x="3652786" y="4353659"/>
            <a:ext cx="11000232" cy="4465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57600" y="2046645"/>
            <a:ext cx="8382000" cy="237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0689" y="1562100"/>
            <a:ext cx="3446531" cy="318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5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198662" y="4602052"/>
            <a:ext cx="3446531" cy="318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5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563600" y="79763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0"/>
          <p:cNvSpPr txBox="1"/>
          <p:nvPr/>
        </p:nvSpPr>
        <p:spPr>
          <a:xfrm>
            <a:off x="13716000" y="87383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5" name="Google Shape;735;p50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750037" y="4902957"/>
            <a:ext cx="2349858" cy="234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5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71008" y="1585792"/>
            <a:ext cx="2690812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50"/>
          <p:cNvSpPr txBox="1"/>
          <p:nvPr/>
        </p:nvSpPr>
        <p:spPr>
          <a:xfrm>
            <a:off x="3961820" y="4991100"/>
            <a:ext cx="10641336" cy="3730252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fēi	Suānlàxiātānɡ shì Tàiɡuó zuì yǒumínɡ de cài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 飞：酸辣虾汤 是泰国 最有名的 菜，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suānsuānlàlà  de,   hǎochī jí  le.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酸酸辣辣的，好吃 极 了。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38" name="Google Shape;738;p50"/>
          <p:cNvSpPr txBox="1"/>
          <p:nvPr/>
        </p:nvSpPr>
        <p:spPr>
          <a:xfrm>
            <a:off x="4190999" y="2384149"/>
            <a:ext cx="8704357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Yuán yuán Suānlàxiātānɡ wèidào zěnmeyànɡ？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圆 圆：酸辣虾汤 味道 怎么样？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Google Shape;743;p51"/>
          <p:cNvPicPr preferRelativeResize="0"/>
          <p:nvPr/>
        </p:nvPicPr>
        <p:blipFill rotWithShape="1">
          <a:blip r:embed="rId3">
            <a:alphaModFix/>
          </a:blip>
          <a:srcRect t="14612" r="23147" b="25800"/>
          <a:stretch/>
        </p:blipFill>
        <p:spPr>
          <a:xfrm rot="10800000" flipH="1">
            <a:off x="10534873" y="0"/>
            <a:ext cx="7753127" cy="393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4705537" y="1339513"/>
            <a:ext cx="4865073" cy="229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863" flipH="1">
            <a:off x="3026556" y="2371056"/>
            <a:ext cx="7215101" cy="2318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3199" y="5496911"/>
            <a:ext cx="9112235" cy="237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385442" y="4697093"/>
            <a:ext cx="3446531" cy="318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059" y="1867783"/>
            <a:ext cx="3446531" cy="318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954000" y="160666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1"/>
          <p:cNvSpPr txBox="1"/>
          <p:nvPr/>
        </p:nvSpPr>
        <p:spPr>
          <a:xfrm>
            <a:off x="13106400" y="168286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1" name="Google Shape;751;p51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75434" y="2168688"/>
            <a:ext cx="2349858" cy="234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52" name="Google Shape;752;p5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805761" y="4720785"/>
            <a:ext cx="2690812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51"/>
          <p:cNvSpPr txBox="1"/>
          <p:nvPr/>
        </p:nvSpPr>
        <p:spPr>
          <a:xfrm>
            <a:off x="3597761" y="2652854"/>
            <a:ext cx="6937112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fēi	Nǐ yào  mǎi shénme？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 飞：你要买 什么？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54" name="Google Shape;754;p51"/>
          <p:cNvSpPr txBox="1"/>
          <p:nvPr/>
        </p:nvSpPr>
        <p:spPr>
          <a:xfrm>
            <a:off x="5919538" y="5834414"/>
            <a:ext cx="8548828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Yuán yuán  Wǒ yào mǎi yìxiē  rìyònɡpǐn.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圆 圆：我要买 一些 日用品。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52"/>
          <p:cNvPicPr preferRelativeResize="0"/>
          <p:nvPr/>
        </p:nvPicPr>
        <p:blipFill rotWithShape="1">
          <a:blip r:embed="rId3">
            <a:alphaModFix/>
          </a:blip>
          <a:srcRect t="14612" r="23147" b="25800"/>
          <a:stretch/>
        </p:blipFill>
        <p:spPr>
          <a:xfrm rot="10800000" flipH="1">
            <a:off x="10534873" y="0"/>
            <a:ext cx="7753127" cy="393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4705537" y="1339513"/>
            <a:ext cx="4865073" cy="2299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143863" flipH="1">
            <a:off x="3100127" y="1187737"/>
            <a:ext cx="11369765" cy="5929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82000" y="7162518"/>
            <a:ext cx="7283434" cy="2372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385442" y="6362700"/>
            <a:ext cx="3446531" cy="3189607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5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920" y="938840"/>
            <a:ext cx="3446531" cy="3189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5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954000" y="160666"/>
            <a:ext cx="4411693" cy="1190407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52"/>
          <p:cNvSpPr txBox="1"/>
          <p:nvPr/>
        </p:nvSpPr>
        <p:spPr>
          <a:xfrm>
            <a:off x="13106400" y="168286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7" name="Google Shape;767;p52" descr="A picture containing doll, toy,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75295" y="1239745"/>
            <a:ext cx="2349858" cy="2349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5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739832" y="6870222"/>
            <a:ext cx="2690812" cy="2690812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52"/>
          <p:cNvSpPr txBox="1"/>
          <p:nvPr/>
        </p:nvSpPr>
        <p:spPr>
          <a:xfrm>
            <a:off x="3906531" y="1415612"/>
            <a:ext cx="13459162" cy="5595378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fēi	Fēiyǎ  rànɡ wǒ  bānɡ tā  mǎi yì jīn   pínɡɡuǒ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飞 飞：菲雅让 我 帮 她买 一 斤 苹果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hé  liǎnɡ jīn cǎoméi. Jīntiān wǎnshɑnɡ liù diǎn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和 两 斤 草莓。今天 晚上 六 点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qǐnɡ nǐ  dào  wǒ  de  fánɡjiān  chī fàn.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请 你 到 我 的 房间吃 饭。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70" name="Google Shape;770;p52"/>
          <p:cNvSpPr txBox="1"/>
          <p:nvPr/>
        </p:nvSpPr>
        <p:spPr>
          <a:xfrm>
            <a:off x="8231117" y="7500021"/>
            <a:ext cx="6237247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Yuán yuán  Hǎo de, xiè xie.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圆 圆：好的，谢 谢！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4730400" y="0"/>
            <a:ext cx="3568511" cy="3159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53"/>
          <p:cNvPicPr preferRelativeResize="0"/>
          <p:nvPr/>
        </p:nvPicPr>
        <p:blipFill rotWithShape="1">
          <a:blip r:embed="rId4">
            <a:alphaModFix/>
          </a:blip>
          <a:srcRect r="22897" b="25800"/>
          <a:stretch/>
        </p:blipFill>
        <p:spPr>
          <a:xfrm flipH="1">
            <a:off x="0" y="7539977"/>
            <a:ext cx="4377382" cy="275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12767" y="1055619"/>
            <a:ext cx="3284731" cy="1493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8403" y="2763791"/>
            <a:ext cx="4406519" cy="594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1964" y="8149603"/>
            <a:ext cx="1666075" cy="1108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9248" y="2763791"/>
            <a:ext cx="4689505" cy="6321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1" name="Google Shape;781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393077" y="2763791"/>
            <a:ext cx="4406519" cy="5940161"/>
          </a:xfrm>
          <a:prstGeom prst="rect">
            <a:avLst/>
          </a:prstGeom>
          <a:noFill/>
          <a:ln>
            <a:noFill/>
          </a:ln>
        </p:spPr>
      </p:pic>
      <p:sp>
        <p:nvSpPr>
          <p:cNvPr id="782" name="Google Shape;782;p53"/>
          <p:cNvSpPr txBox="1"/>
          <p:nvPr/>
        </p:nvSpPr>
        <p:spPr>
          <a:xfrm>
            <a:off x="6844161" y="575589"/>
            <a:ext cx="5029200" cy="1539780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拼音练习 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Pinyin practice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3"/>
          <p:cNvSpPr txBox="1"/>
          <p:nvPr/>
        </p:nvSpPr>
        <p:spPr>
          <a:xfrm>
            <a:off x="14045521" y="203115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84" name="Google Shape;784;p53"/>
          <p:cNvGraphicFramePr/>
          <p:nvPr/>
        </p:nvGraphicFramePr>
        <p:xfrm>
          <a:off x="1488404" y="2474474"/>
          <a:ext cx="15835200" cy="5852160"/>
        </p:xfrm>
        <a:graphic>
          <a:graphicData uri="http://schemas.openxmlformats.org/drawingml/2006/table">
            <a:tbl>
              <a:tblPr>
                <a:noFill/>
                <a:tableStyleId>{C20CB82B-C816-4F17-BBC9-C976DEC53E88}</a:tableStyleId>
              </a:tblPr>
              <a:tblGrid>
                <a:gridCol w="364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03450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fēi jī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飞机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Huǒchē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火车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qìchē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汽车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Zìxínɡchē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自行车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8150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Sānlúnchē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三轮车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mótuō chē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摩托车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Miànbāochē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面包车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ɡōnɡjiāo chē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公交车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2550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Yáshuā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牙刷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Yáɡāo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牙膏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bēi zi</a:t>
                      </a:r>
                      <a:endParaRPr/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杯子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Máojīn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毛巾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2800"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mùyù lù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沐浴露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hù fà sù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护发素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xǐf</a:t>
                      </a:r>
                      <a:r>
                        <a:rPr lang="en-US" sz="480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à</a:t>
                      </a: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shuǐ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洗发水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tc>
                  <a:txBody>
                    <a:bodyPr/>
                    <a:lstStyle/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4800" b="0" i="0" u="none" strike="noStrike" cap="none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xiāng zào</a:t>
                      </a:r>
                      <a:endParaRPr sz="4800" b="0" i="0" u="none" strike="noStrike" cap="none">
                        <a:solidFill>
                          <a:srgbClr val="000000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4800" b="0" i="0" u="none" strike="noStrike" cap="none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香皂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F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4730400" y="0"/>
            <a:ext cx="3568511" cy="3159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54"/>
          <p:cNvPicPr preferRelativeResize="0"/>
          <p:nvPr/>
        </p:nvPicPr>
        <p:blipFill rotWithShape="1">
          <a:blip r:embed="rId4">
            <a:alphaModFix/>
          </a:blip>
          <a:srcRect r="22897" b="25800"/>
          <a:stretch/>
        </p:blipFill>
        <p:spPr>
          <a:xfrm flipH="1">
            <a:off x="0" y="7539977"/>
            <a:ext cx="4377382" cy="275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12767" y="1055619"/>
            <a:ext cx="3284731" cy="1493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8403" y="2747023"/>
            <a:ext cx="4406519" cy="594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5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1964" y="8149603"/>
            <a:ext cx="1666075" cy="1108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5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9248" y="2763790"/>
            <a:ext cx="4689505" cy="7332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5" name="Google Shape;795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341589" y="2763790"/>
            <a:ext cx="4406519" cy="5940161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54"/>
          <p:cNvSpPr txBox="1"/>
          <p:nvPr/>
        </p:nvSpPr>
        <p:spPr>
          <a:xfrm>
            <a:off x="14045521" y="203115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4"/>
          <p:cNvSpPr txBox="1"/>
          <p:nvPr/>
        </p:nvSpPr>
        <p:spPr>
          <a:xfrm>
            <a:off x="6629400" y="683145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4"/>
          <p:cNvSpPr/>
          <p:nvPr/>
        </p:nvSpPr>
        <p:spPr>
          <a:xfrm>
            <a:off x="4889481" y="2017924"/>
            <a:ext cx="851580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4"/>
          <p:cNvSpPr txBox="1"/>
          <p:nvPr/>
        </p:nvSpPr>
        <p:spPr>
          <a:xfrm>
            <a:off x="4661721" y="1974505"/>
            <a:ext cx="11477628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Nǐ chī miàntiáo háishì miànbāo?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A: 你</a:t>
            </a:r>
            <a:r>
              <a:rPr lang="en-US" sz="48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吃</a:t>
            </a: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sng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面条</a:t>
            </a: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还是  </a:t>
            </a:r>
            <a:r>
              <a:rPr lang="en-US" sz="4800" b="0" i="0" u="sng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面包</a:t>
            </a: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？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00" name="Google Shape;800;p54"/>
          <p:cNvSpPr/>
          <p:nvPr/>
        </p:nvSpPr>
        <p:spPr>
          <a:xfrm>
            <a:off x="3131563" y="5980324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4"/>
          <p:cNvSpPr/>
          <p:nvPr/>
        </p:nvSpPr>
        <p:spPr>
          <a:xfrm>
            <a:off x="3388258" y="4038464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4"/>
          <p:cNvSpPr txBox="1"/>
          <p:nvPr/>
        </p:nvSpPr>
        <p:spPr>
          <a:xfrm>
            <a:off x="3577841" y="4181807"/>
            <a:ext cx="1704511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Mǎi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买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03" name="Google Shape;803;p54"/>
          <p:cNvSpPr txBox="1"/>
          <p:nvPr/>
        </p:nvSpPr>
        <p:spPr>
          <a:xfrm>
            <a:off x="3335508" y="6033694"/>
            <a:ext cx="219482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Hànyǔ shū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汉语 书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04" name="Google Shape;804;p54"/>
          <p:cNvSpPr/>
          <p:nvPr/>
        </p:nvSpPr>
        <p:spPr>
          <a:xfrm>
            <a:off x="3204625" y="8132054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4"/>
          <p:cNvSpPr txBox="1"/>
          <p:nvPr/>
        </p:nvSpPr>
        <p:spPr>
          <a:xfrm>
            <a:off x="3328305" y="8279410"/>
            <a:ext cx="219482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Yīnɡyǔ shū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英语 书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06" name="Google Shape;806;p54"/>
          <p:cNvSpPr/>
          <p:nvPr/>
        </p:nvSpPr>
        <p:spPr>
          <a:xfrm>
            <a:off x="8316788" y="3970637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4"/>
          <p:cNvSpPr txBox="1"/>
          <p:nvPr/>
        </p:nvSpPr>
        <p:spPr>
          <a:xfrm>
            <a:off x="8552031" y="4167389"/>
            <a:ext cx="1704511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Qù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去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08" name="Google Shape;808;p54"/>
          <p:cNvSpPr/>
          <p:nvPr/>
        </p:nvSpPr>
        <p:spPr>
          <a:xfrm>
            <a:off x="8081545" y="5980324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4"/>
          <p:cNvSpPr txBox="1"/>
          <p:nvPr/>
        </p:nvSpPr>
        <p:spPr>
          <a:xfrm>
            <a:off x="8316788" y="6177076"/>
            <a:ext cx="219482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Běijīnɡ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北京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10" name="Google Shape;810;p54"/>
          <p:cNvSpPr/>
          <p:nvPr/>
        </p:nvSpPr>
        <p:spPr>
          <a:xfrm>
            <a:off x="8001000" y="8003094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4"/>
          <p:cNvSpPr txBox="1"/>
          <p:nvPr/>
        </p:nvSpPr>
        <p:spPr>
          <a:xfrm>
            <a:off x="8236243" y="8199846"/>
            <a:ext cx="219482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Shànɡhǎi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上海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12" name="Google Shape;812;p54"/>
          <p:cNvSpPr/>
          <p:nvPr/>
        </p:nvSpPr>
        <p:spPr>
          <a:xfrm>
            <a:off x="12761859" y="3934587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54"/>
          <p:cNvSpPr txBox="1"/>
          <p:nvPr/>
        </p:nvSpPr>
        <p:spPr>
          <a:xfrm>
            <a:off x="12945911" y="3862995"/>
            <a:ext cx="1704511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Xǐhuān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喜欢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14" name="Google Shape;814;p54"/>
          <p:cNvSpPr/>
          <p:nvPr/>
        </p:nvSpPr>
        <p:spPr>
          <a:xfrm>
            <a:off x="12771050" y="5992044"/>
            <a:ext cx="1849121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54"/>
          <p:cNvSpPr txBox="1"/>
          <p:nvPr/>
        </p:nvSpPr>
        <p:spPr>
          <a:xfrm>
            <a:off x="12920462" y="6018719"/>
            <a:ext cx="1633763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ɡǒu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狗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16" name="Google Shape;816;p54"/>
          <p:cNvSpPr/>
          <p:nvPr/>
        </p:nvSpPr>
        <p:spPr>
          <a:xfrm>
            <a:off x="12920462" y="7987682"/>
            <a:ext cx="1849121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54"/>
          <p:cNvSpPr txBox="1"/>
          <p:nvPr/>
        </p:nvSpPr>
        <p:spPr>
          <a:xfrm>
            <a:off x="13069483" y="8148788"/>
            <a:ext cx="1633763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māo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猫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22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4730400" y="0"/>
            <a:ext cx="3568511" cy="3159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5"/>
          <p:cNvPicPr preferRelativeResize="0"/>
          <p:nvPr/>
        </p:nvPicPr>
        <p:blipFill rotWithShape="1">
          <a:blip r:embed="rId4">
            <a:alphaModFix/>
          </a:blip>
          <a:srcRect r="22897" b="25800"/>
          <a:stretch/>
        </p:blipFill>
        <p:spPr>
          <a:xfrm flipH="1">
            <a:off x="0" y="7539977"/>
            <a:ext cx="4377382" cy="275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12767" y="1055619"/>
            <a:ext cx="3284731" cy="1493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8403" y="2763791"/>
            <a:ext cx="4406519" cy="594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5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1964" y="8149603"/>
            <a:ext cx="1666075" cy="1108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9248" y="2763790"/>
            <a:ext cx="4689505" cy="7332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393077" y="2763791"/>
            <a:ext cx="4406519" cy="5940161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55"/>
          <p:cNvSpPr txBox="1"/>
          <p:nvPr/>
        </p:nvSpPr>
        <p:spPr>
          <a:xfrm>
            <a:off x="14045521" y="203115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5"/>
          <p:cNvSpPr txBox="1"/>
          <p:nvPr/>
        </p:nvSpPr>
        <p:spPr>
          <a:xfrm>
            <a:off x="6629400" y="683145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5"/>
          <p:cNvSpPr/>
          <p:nvPr/>
        </p:nvSpPr>
        <p:spPr>
          <a:xfrm>
            <a:off x="3746482" y="1907094"/>
            <a:ext cx="10282484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55"/>
          <p:cNvSpPr txBox="1"/>
          <p:nvPr/>
        </p:nvSpPr>
        <p:spPr>
          <a:xfrm>
            <a:off x="4012447" y="2103846"/>
            <a:ext cx="12274598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tā zài sùshè shuìjiào huòzhě kàn diànyǐnɡ.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A: 他在</a:t>
            </a:r>
            <a:r>
              <a:rPr lang="en-US" sz="48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宿舍</a:t>
            </a: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0" i="0" u="sng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睡觉</a:t>
            </a: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或者 </a:t>
            </a:r>
            <a:r>
              <a:rPr lang="en-US" sz="4800" b="0" i="0" u="sng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看 电影</a:t>
            </a: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33" name="Google Shape;833;p55"/>
          <p:cNvSpPr/>
          <p:nvPr/>
        </p:nvSpPr>
        <p:spPr>
          <a:xfrm>
            <a:off x="3898418" y="6135522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55"/>
          <p:cNvSpPr/>
          <p:nvPr/>
        </p:nvSpPr>
        <p:spPr>
          <a:xfrm>
            <a:off x="4187262" y="3892236"/>
            <a:ext cx="239293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55"/>
          <p:cNvSpPr txBox="1"/>
          <p:nvPr/>
        </p:nvSpPr>
        <p:spPr>
          <a:xfrm>
            <a:off x="4324187" y="4015475"/>
            <a:ext cx="2060691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túshūɡuǎn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图书馆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36" name="Google Shape;836;p55"/>
          <p:cNvSpPr txBox="1"/>
          <p:nvPr/>
        </p:nvSpPr>
        <p:spPr>
          <a:xfrm>
            <a:off x="4145351" y="6185579"/>
            <a:ext cx="2254153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jiè shū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借书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37" name="Google Shape;837;p55"/>
          <p:cNvSpPr/>
          <p:nvPr/>
        </p:nvSpPr>
        <p:spPr>
          <a:xfrm>
            <a:off x="4157296" y="8265781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55"/>
          <p:cNvSpPr txBox="1"/>
          <p:nvPr/>
        </p:nvSpPr>
        <p:spPr>
          <a:xfrm>
            <a:off x="4198304" y="8379906"/>
            <a:ext cx="2254153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kànshū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看书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39" name="Google Shape;839;p55"/>
          <p:cNvSpPr/>
          <p:nvPr/>
        </p:nvSpPr>
        <p:spPr>
          <a:xfrm>
            <a:off x="8316788" y="3970637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5"/>
          <p:cNvSpPr txBox="1"/>
          <p:nvPr/>
        </p:nvSpPr>
        <p:spPr>
          <a:xfrm>
            <a:off x="8552032" y="4167389"/>
            <a:ext cx="1750586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Jiā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家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41" name="Google Shape;841;p55"/>
          <p:cNvSpPr/>
          <p:nvPr/>
        </p:nvSpPr>
        <p:spPr>
          <a:xfrm>
            <a:off x="7467600" y="5980324"/>
            <a:ext cx="3202944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5"/>
          <p:cNvSpPr txBox="1"/>
          <p:nvPr/>
        </p:nvSpPr>
        <p:spPr>
          <a:xfrm>
            <a:off x="7685906" y="6177076"/>
            <a:ext cx="2936700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fù xí kè wén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复习课文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43" name="Google Shape;843;p55"/>
          <p:cNvSpPr/>
          <p:nvPr/>
        </p:nvSpPr>
        <p:spPr>
          <a:xfrm>
            <a:off x="7848600" y="8003094"/>
            <a:ext cx="266332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55"/>
          <p:cNvSpPr txBox="1"/>
          <p:nvPr/>
        </p:nvSpPr>
        <p:spPr>
          <a:xfrm>
            <a:off x="8001001" y="8199846"/>
            <a:ext cx="250863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tīnɡ yīnyuè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听 音乐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45" name="Google Shape;845;p55"/>
          <p:cNvSpPr/>
          <p:nvPr/>
        </p:nvSpPr>
        <p:spPr>
          <a:xfrm>
            <a:off x="12719146" y="3989993"/>
            <a:ext cx="249197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5"/>
          <p:cNvSpPr txBox="1"/>
          <p:nvPr/>
        </p:nvSpPr>
        <p:spPr>
          <a:xfrm>
            <a:off x="12903809" y="4103407"/>
            <a:ext cx="2217192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cāochǎnɡ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操场 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47" name="Google Shape;847;p55"/>
          <p:cNvSpPr/>
          <p:nvPr/>
        </p:nvSpPr>
        <p:spPr>
          <a:xfrm>
            <a:off x="12719146" y="8041130"/>
            <a:ext cx="238294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5"/>
          <p:cNvSpPr txBox="1"/>
          <p:nvPr/>
        </p:nvSpPr>
        <p:spPr>
          <a:xfrm>
            <a:off x="12833744" y="8041130"/>
            <a:ext cx="2233572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tī zúqiú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踢足球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49" name="Google Shape;849;p55"/>
          <p:cNvSpPr/>
          <p:nvPr/>
        </p:nvSpPr>
        <p:spPr>
          <a:xfrm>
            <a:off x="12941544" y="5927275"/>
            <a:ext cx="1849121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5"/>
          <p:cNvSpPr txBox="1"/>
          <p:nvPr/>
        </p:nvSpPr>
        <p:spPr>
          <a:xfrm>
            <a:off x="13122926" y="6083323"/>
            <a:ext cx="1677926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pǎobù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跑步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0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14730400" y="0"/>
            <a:ext cx="3568511" cy="315975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6"/>
          <p:cNvPicPr preferRelativeResize="0"/>
          <p:nvPr/>
        </p:nvPicPr>
        <p:blipFill rotWithShape="1">
          <a:blip r:embed="rId4">
            <a:alphaModFix/>
          </a:blip>
          <a:srcRect r="22897" b="25800"/>
          <a:stretch/>
        </p:blipFill>
        <p:spPr>
          <a:xfrm flipH="1">
            <a:off x="0" y="7539977"/>
            <a:ext cx="4377382" cy="2757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412767" y="1055619"/>
            <a:ext cx="3284731" cy="1493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4482" y="2943743"/>
            <a:ext cx="4406519" cy="5940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1964" y="8149603"/>
            <a:ext cx="1666075" cy="1108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9248" y="2763790"/>
            <a:ext cx="4689505" cy="7332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393077" y="2763791"/>
            <a:ext cx="4406519" cy="5940161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56"/>
          <p:cNvSpPr txBox="1"/>
          <p:nvPr/>
        </p:nvSpPr>
        <p:spPr>
          <a:xfrm>
            <a:off x="14045521" y="203115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6"/>
          <p:cNvSpPr txBox="1"/>
          <p:nvPr/>
        </p:nvSpPr>
        <p:spPr>
          <a:xfrm>
            <a:off x="6629399" y="683145"/>
            <a:ext cx="5051141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6"/>
          <p:cNvSpPr/>
          <p:nvPr/>
        </p:nvSpPr>
        <p:spPr>
          <a:xfrm>
            <a:off x="6324600" y="1713124"/>
            <a:ext cx="579531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56"/>
          <p:cNvSpPr txBox="1"/>
          <p:nvPr/>
        </p:nvSpPr>
        <p:spPr>
          <a:xfrm>
            <a:off x="6106958" y="1909876"/>
            <a:ext cx="7151842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Zhè běn  shū hǎo jíle.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这 本 书</a:t>
            </a:r>
            <a:r>
              <a:rPr lang="en-US" sz="4800" b="0" i="0" u="sng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好</a:t>
            </a: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极了。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66" name="Google Shape;866;p56"/>
          <p:cNvSpPr/>
          <p:nvPr/>
        </p:nvSpPr>
        <p:spPr>
          <a:xfrm>
            <a:off x="2483445" y="6587830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6"/>
          <p:cNvSpPr/>
          <p:nvPr/>
        </p:nvSpPr>
        <p:spPr>
          <a:xfrm>
            <a:off x="1765398" y="4270258"/>
            <a:ext cx="3331408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56"/>
          <p:cNvSpPr txBox="1"/>
          <p:nvPr/>
        </p:nvSpPr>
        <p:spPr>
          <a:xfrm>
            <a:off x="1904700" y="4436963"/>
            <a:ext cx="3501177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Zhè liànɡ chē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这 辆  车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69" name="Google Shape;869;p56"/>
          <p:cNvSpPr txBox="1"/>
          <p:nvPr/>
        </p:nvSpPr>
        <p:spPr>
          <a:xfrm>
            <a:off x="2618288" y="6780217"/>
            <a:ext cx="2092837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Hǎokàn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好看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70" name="Google Shape;870;p56"/>
          <p:cNvSpPr/>
          <p:nvPr/>
        </p:nvSpPr>
        <p:spPr>
          <a:xfrm>
            <a:off x="7010400" y="3970637"/>
            <a:ext cx="340255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56"/>
          <p:cNvSpPr txBox="1"/>
          <p:nvPr/>
        </p:nvSpPr>
        <p:spPr>
          <a:xfrm>
            <a:off x="6911247" y="4095501"/>
            <a:ext cx="3867809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Zhè jiàn yīfu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这 件 衣服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72" name="Google Shape;872;p56"/>
          <p:cNvSpPr/>
          <p:nvPr/>
        </p:nvSpPr>
        <p:spPr>
          <a:xfrm>
            <a:off x="8001000" y="6513724"/>
            <a:ext cx="251080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56"/>
          <p:cNvSpPr txBox="1"/>
          <p:nvPr/>
        </p:nvSpPr>
        <p:spPr>
          <a:xfrm>
            <a:off x="8236243" y="6710476"/>
            <a:ext cx="2092837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piàoliɑnɡ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漂亮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74" name="Google Shape;874;p56"/>
          <p:cNvSpPr/>
          <p:nvPr/>
        </p:nvSpPr>
        <p:spPr>
          <a:xfrm>
            <a:off x="13154340" y="4093824"/>
            <a:ext cx="315212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56"/>
          <p:cNvSpPr txBox="1"/>
          <p:nvPr/>
        </p:nvSpPr>
        <p:spPr>
          <a:xfrm>
            <a:off x="13199815" y="4225359"/>
            <a:ext cx="3314840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Zhè dào cài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这 道 菜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76" name="Google Shape;876;p56"/>
          <p:cNvSpPr/>
          <p:nvPr/>
        </p:nvSpPr>
        <p:spPr>
          <a:xfrm>
            <a:off x="13488206" y="6364505"/>
            <a:ext cx="1849121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6"/>
          <p:cNvSpPr txBox="1"/>
          <p:nvPr/>
        </p:nvSpPr>
        <p:spPr>
          <a:xfrm>
            <a:off x="13637225" y="6513724"/>
            <a:ext cx="2604426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hǎo chī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好 吃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BF9F"/>
        </a:solidFill>
        <a:effectLst/>
      </p:bgPr>
    </p:bg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2" name="Google Shape;882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359761" flipH="1">
            <a:off x="-197654" y="395931"/>
            <a:ext cx="17835716" cy="8788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2514600" y="7544299"/>
            <a:ext cx="13607564" cy="226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57"/>
          <p:cNvPicPr preferRelativeResize="0"/>
          <p:nvPr/>
        </p:nvPicPr>
        <p:blipFill rotWithShape="1">
          <a:blip r:embed="rId5">
            <a:alphaModFix/>
          </a:blip>
          <a:srcRect r="51996"/>
          <a:stretch/>
        </p:blipFill>
        <p:spPr>
          <a:xfrm rot="10800000" flipH="1">
            <a:off x="16725172" y="0"/>
            <a:ext cx="1562828" cy="2166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19200" y="551775"/>
            <a:ext cx="3303618" cy="150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57"/>
          <p:cNvPicPr preferRelativeResize="0"/>
          <p:nvPr/>
        </p:nvPicPr>
        <p:blipFill rotWithShape="1">
          <a:blip r:embed="rId5">
            <a:alphaModFix/>
          </a:blip>
          <a:srcRect r="51996"/>
          <a:stretch/>
        </p:blipFill>
        <p:spPr>
          <a:xfrm flipH="1">
            <a:off x="0" y="8120495"/>
            <a:ext cx="1562828" cy="2166505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57"/>
          <p:cNvSpPr txBox="1"/>
          <p:nvPr/>
        </p:nvSpPr>
        <p:spPr>
          <a:xfrm>
            <a:off x="5268512" y="183279"/>
            <a:ext cx="6792261" cy="1107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en-US" sz="8000" b="0" i="0" u="none" strike="noStrike" cap="none">
                <a:solidFill>
                  <a:srgbClr val="000000"/>
                </a:solidFill>
                <a:latin typeface="Shadows Into Light"/>
                <a:ea typeface="Shadows Into Light"/>
                <a:cs typeface="Shadows Into Light"/>
                <a:sym typeface="Shadows Into Light"/>
              </a:rPr>
              <a:t>Do not forget to do: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8" name="Google Shape;888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42726" y="6657867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5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65836" y="2197576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14757" y="2779674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150021" y="2035746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57"/>
          <p:cNvSpPr txBox="1"/>
          <p:nvPr/>
        </p:nvSpPr>
        <p:spPr>
          <a:xfrm>
            <a:off x="1202574" y="2892677"/>
            <a:ext cx="5716198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57"/>
          <p:cNvSpPr txBox="1"/>
          <p:nvPr/>
        </p:nvSpPr>
        <p:spPr>
          <a:xfrm>
            <a:off x="6751123" y="3549076"/>
            <a:ext cx="5132375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MDL 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7"/>
          <p:cNvSpPr txBox="1"/>
          <p:nvPr/>
        </p:nvSpPr>
        <p:spPr>
          <a:xfrm>
            <a:off x="11745976" y="3109604"/>
            <a:ext cx="5132375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57"/>
          <p:cNvSpPr txBox="1"/>
          <p:nvPr/>
        </p:nvSpPr>
        <p:spPr>
          <a:xfrm>
            <a:off x="945022" y="7690579"/>
            <a:ext cx="9151318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Prepare for the next lesson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6" name="Google Shape;896;p5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945249" y="6327554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57"/>
          <p:cNvSpPr txBox="1"/>
          <p:nvPr/>
        </p:nvSpPr>
        <p:spPr>
          <a:xfrm>
            <a:off x="9498811" y="7245246"/>
            <a:ext cx="9151318" cy="9317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Practice speaking skills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1996</Words>
  <Application>Microsoft Office PowerPoint</Application>
  <PresentationFormat>自定义</PresentationFormat>
  <Paragraphs>457</Paragraphs>
  <Slides>53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1" baseType="lpstr">
      <vt:lpstr>Arial</vt:lpstr>
      <vt:lpstr>Calibri</vt:lpstr>
      <vt:lpstr>Times New Roman</vt:lpstr>
      <vt:lpstr>Shadows Into Light</vt:lpstr>
      <vt:lpstr>SimSun</vt:lpstr>
      <vt:lpstr>Gaegu</vt:lpstr>
      <vt:lpstr>SimSun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Peng Liu</cp:lastModifiedBy>
  <cp:revision>5</cp:revision>
  <dcterms:created xsi:type="dcterms:W3CDTF">2006-08-16T00:00:00Z</dcterms:created>
  <dcterms:modified xsi:type="dcterms:W3CDTF">2026-07-31T02:37:57Z</dcterms:modified>
</cp:coreProperties>
</file>