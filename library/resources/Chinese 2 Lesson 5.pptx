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1"/>
  </p:notesMasterIdLst>
  <p:sldIdLst>
    <p:sldId id="262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299" r:id="rId39"/>
    <p:sldId id="300" r:id="rId40"/>
    <p:sldId id="310" r:id="rId41"/>
    <p:sldId id="301" r:id="rId42"/>
    <p:sldId id="302" r:id="rId43"/>
    <p:sldId id="303" r:id="rId44"/>
    <p:sldId id="304" r:id="rId45"/>
    <p:sldId id="305" r:id="rId46"/>
    <p:sldId id="306" r:id="rId47"/>
    <p:sldId id="307" r:id="rId48"/>
    <p:sldId id="308" r:id="rId49"/>
    <p:sldId id="309" r:id="rId50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1" roundtripDataSignature="AMtx7mg5YAr7oiV1GtF9aSAXNc0EL+EK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A2D1FD6-FD4F-4670-B896-7574B2FC8784}">
  <a:tblStyle styleId="{CA2D1FD6-FD4F-4670-B896-7574B2FC878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tcBdr/>
        <a:fill>
          <a:solidFill>
            <a:srgbClr val="CFD7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FD7E7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575B395C-9D9F-4EE4-B8DC-D4AB6F244BF9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78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61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5" name="Google Shape;16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9" name="Google Shape;1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2" name="Google Shape;20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5" name="Google Shape;21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4" name="Google Shape;22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0" name="Google Shape;25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4" name="Google Shape;26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8" name="Google Shape;27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2" name="Google Shape;29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8" name="Google Shape;30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4" name="Google Shape;32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3" name="Google Shape;33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2" name="Google Shape;34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1" name="Google Shape;35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0" name="Google Shape;36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9" name="Google Shape;36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8" name="Google Shape;37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7" name="Google Shape;38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6" name="Google Shape;39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0" name="Google Shape;41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9" name="Google Shape;41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0" name="Google Shape;43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9" name="Google Shape;439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8" name="Google Shape;44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9" name="Google Shape;45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8" name="Google Shape;46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4" name="Google Shape;48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8" name="Google Shape;498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7" name="Google Shape;507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3" name="Google Shape;523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2" name="Google Shape;532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8" name="Google Shape;548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7" name="Google Shape;557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3" name="Google Shape;573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1" name="Google Shape;591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4" name="Google Shape;614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6" name="Google Shape;636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>
          <a:extLst>
            <a:ext uri="{FF2B5EF4-FFF2-40B4-BE49-F238E27FC236}">
              <a16:creationId xmlns:a16="http://schemas.microsoft.com/office/drawing/2014/main" id="{B22CD120-8441-F102-20B3-E5A190BA0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47:notes">
            <a:extLst>
              <a:ext uri="{FF2B5EF4-FFF2-40B4-BE49-F238E27FC236}">
                <a16:creationId xmlns:a16="http://schemas.microsoft.com/office/drawing/2014/main" id="{2B10ECCB-13E0-B739-1792-1CBDDBAC49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6" name="Google Shape;636;p47:notes">
            <a:extLst>
              <a:ext uri="{FF2B5EF4-FFF2-40B4-BE49-F238E27FC236}">
                <a16:creationId xmlns:a16="http://schemas.microsoft.com/office/drawing/2014/main" id="{9FC370C6-99B2-A1F7-2A62-D16F4EB932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4881349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4" name="Google Shape;654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77" name="Google Shape;677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0" name="Google Shape;700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10" name="Google Shape;710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33" name="Google Shape;733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56" name="Google Shape;756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75" name="Google Shape;775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98" name="Google Shape;798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13" name="Google Shape;813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5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6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6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6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6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6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6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6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6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6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6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6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6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6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6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6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6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6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6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6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6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6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6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6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6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6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6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3.png"/><Relationship Id="rId4" Type="http://schemas.openxmlformats.org/officeDocument/2006/relationships/image" Target="../media/image6.png"/><Relationship Id="rId9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jp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2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42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3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11.png"/><Relationship Id="rId4" Type="http://schemas.openxmlformats.org/officeDocument/2006/relationships/image" Target="../media/image44.png"/><Relationship Id="rId9" Type="http://schemas.openxmlformats.org/officeDocument/2006/relationships/image" Target="../media/image48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3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11.png"/><Relationship Id="rId10" Type="http://schemas.openxmlformats.org/officeDocument/2006/relationships/image" Target="../media/image51.png"/><Relationship Id="rId4" Type="http://schemas.openxmlformats.org/officeDocument/2006/relationships/image" Target="../media/image44.png"/><Relationship Id="rId9" Type="http://schemas.openxmlformats.org/officeDocument/2006/relationships/image" Target="../media/image48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3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11.png"/><Relationship Id="rId4" Type="http://schemas.openxmlformats.org/officeDocument/2006/relationships/image" Target="../media/image44.png"/><Relationship Id="rId9" Type="http://schemas.openxmlformats.org/officeDocument/2006/relationships/image" Target="../media/image48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3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11.png"/><Relationship Id="rId4" Type="http://schemas.openxmlformats.org/officeDocument/2006/relationships/image" Target="../media/image44.png"/><Relationship Id="rId9" Type="http://schemas.openxmlformats.org/officeDocument/2006/relationships/image" Target="../media/image48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3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11.png"/><Relationship Id="rId4" Type="http://schemas.openxmlformats.org/officeDocument/2006/relationships/image" Target="../media/image44.png"/><Relationship Id="rId9" Type="http://schemas.openxmlformats.org/officeDocument/2006/relationships/image" Target="../media/image48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3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11.png"/><Relationship Id="rId4" Type="http://schemas.openxmlformats.org/officeDocument/2006/relationships/image" Target="../media/image44.png"/><Relationship Id="rId9" Type="http://schemas.openxmlformats.org/officeDocument/2006/relationships/image" Target="../media/image48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5.png"/><Relationship Id="rId4" Type="http://schemas.openxmlformats.org/officeDocument/2006/relationships/image" Target="../media/image11.png"/><Relationship Id="rId9" Type="http://schemas.openxmlformats.org/officeDocument/2006/relationships/image" Target="../media/image5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4.png"/><Relationship Id="rId4" Type="http://schemas.openxmlformats.org/officeDocument/2006/relationships/image" Target="../media/image1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4.png"/><Relationship Id="rId4" Type="http://schemas.openxmlformats.org/officeDocument/2006/relationships/image" Target="../media/image1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4.png"/><Relationship Id="rId4" Type="http://schemas.openxmlformats.org/officeDocument/2006/relationships/image" Target="../media/image1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4.png"/><Relationship Id="rId4" Type="http://schemas.openxmlformats.org/officeDocument/2006/relationships/image" Target="../media/image1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4.png"/><Relationship Id="rId4" Type="http://schemas.openxmlformats.org/officeDocument/2006/relationships/image" Target="../media/image1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4.png"/><Relationship Id="rId4" Type="http://schemas.openxmlformats.org/officeDocument/2006/relationships/image" Target="../media/image13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8D9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Google Shape;167;p7"/>
          <p:cNvGrpSpPr/>
          <p:nvPr/>
        </p:nvGrpSpPr>
        <p:grpSpPr>
          <a:xfrm>
            <a:off x="2133600" y="1333500"/>
            <a:ext cx="14127883" cy="6064775"/>
            <a:chOff x="0" y="-171450"/>
            <a:chExt cx="14661622" cy="8086366"/>
          </a:xfrm>
        </p:grpSpPr>
        <p:sp>
          <p:nvSpPr>
            <p:cNvPr id="168" name="Google Shape;168;p7"/>
            <p:cNvSpPr txBox="1"/>
            <p:nvPr/>
          </p:nvSpPr>
          <p:spPr>
            <a:xfrm>
              <a:off x="355855" y="1914471"/>
              <a:ext cx="13838783" cy="28725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0"/>
                <a:buFont typeface="Arial"/>
                <a:buNone/>
              </a:pPr>
              <a:r>
                <a:rPr lang="en-US" sz="8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Lesson 5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0"/>
                <a:buFont typeface="Arial"/>
                <a:buNone/>
              </a:pPr>
              <a:r>
                <a:rPr lang="en-US" sz="6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Is the teaching building far from here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7"/>
            <p:cNvSpPr txBox="1"/>
            <p:nvPr/>
          </p:nvSpPr>
          <p:spPr>
            <a:xfrm>
              <a:off x="822839" y="5756376"/>
              <a:ext cx="13838783" cy="21585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12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lang="en-US" sz="4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          Dì wǔ kè      Jiàoxué     lóu     lí       zhèr      yuǎn mɑ</a:t>
              </a:r>
              <a:endParaRPr sz="4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87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0"/>
                <a:buFont typeface="Arial"/>
                <a:buNone/>
              </a:pPr>
              <a:r>
                <a:rPr lang="en-US" sz="6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 </a:t>
              </a:r>
              <a:r>
                <a:rPr lang="en-US" sz="6000" b="0" i="0" u="none" strike="noStrike" cap="none">
                  <a:solidFill>
                    <a:srgbClr val="000000"/>
                  </a:solidFill>
                  <a:latin typeface="SimSun"/>
                  <a:ea typeface="SimSun"/>
                  <a:cs typeface="SimSun"/>
                  <a:sym typeface="SimSun"/>
                </a:rPr>
                <a:t>第五课 教学 楼 离 这儿 远 吗</a:t>
              </a:r>
              <a:endParaRPr sz="60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endParaRPr>
            </a:p>
          </p:txBody>
        </p:sp>
        <p:sp>
          <p:nvSpPr>
            <p:cNvPr id="170" name="Google Shape;170;p7"/>
            <p:cNvSpPr txBox="1"/>
            <p:nvPr/>
          </p:nvSpPr>
          <p:spPr>
            <a:xfrm>
              <a:off x="0" y="-171450"/>
              <a:ext cx="13838783" cy="7891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500"/>
                <a:buFont typeface="Arial"/>
                <a:buNone/>
              </a:pPr>
              <a:r>
                <a:rPr lang="en-US" sz="35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Chinese 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71" name="Google Shape;171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699261">
            <a:off x="16360800" y="6784865"/>
            <a:ext cx="4913938" cy="593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34102">
            <a:off x="15337074" y="-16661"/>
            <a:ext cx="4524890" cy="4898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414612">
            <a:off x="-1900337" y="-36557"/>
            <a:ext cx="5207673" cy="3465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793282">
            <a:off x="-1631611" y="6368261"/>
            <a:ext cx="5320621" cy="4624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1409797">
            <a:off x="-1292046" y="3393046"/>
            <a:ext cx="4321518" cy="1634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859855">
            <a:off x="16262970" y="5259252"/>
            <a:ext cx="1209483" cy="2181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9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1" name="Google Shape;181;p8"/>
          <p:cNvGraphicFramePr/>
          <p:nvPr/>
        </p:nvGraphicFramePr>
        <p:xfrm>
          <a:off x="1143000" y="1562100"/>
          <a:ext cx="16040100" cy="7630123"/>
        </p:xfrm>
        <a:graphic>
          <a:graphicData uri="http://schemas.openxmlformats.org/drawingml/2006/table">
            <a:tbl>
              <a:tblPr firstRow="1" bandRow="1">
                <a:noFill/>
                <a:tableStyleId>{CA2D1FD6-FD4F-4670-B896-7574B2FC8784}</a:tableStyleId>
              </a:tblPr>
              <a:tblGrid>
                <a:gridCol w="74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29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b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3600" b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lang="en-US" sz="40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新 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new</a:t>
                      </a:r>
                      <a:endParaRPr sz="20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b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3600" b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lang="en-US" sz="40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餐厅 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restaurant</a:t>
                      </a:r>
                      <a:endParaRPr sz="20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6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3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lang="en-US" sz="40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留学生 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international student</a:t>
                      </a:r>
                      <a:endParaRPr sz="20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3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lang="en-US" sz="40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体育馆 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stadium</a:t>
                      </a:r>
                      <a:endParaRPr sz="20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6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3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lang="en-US" sz="40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教学楼 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teaching building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(the building where the classroom is)</a:t>
                      </a:r>
                      <a:endParaRPr sz="24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 sz="3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lang="en-US" sz="40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足球场 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football field</a:t>
                      </a:r>
                      <a:endParaRPr sz="20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6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3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lang="en-US" sz="40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离 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 far away from</a:t>
                      </a:r>
                      <a:endParaRPr sz="20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3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lang="en-US" sz="40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中间 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 the middle, in between</a:t>
                      </a:r>
                      <a:endParaRPr sz="20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6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3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lang="en-US" sz="40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远 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far</a:t>
                      </a:r>
                      <a:endParaRPr sz="20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3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lang="en-US" sz="40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健身房 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Fitness center, gym</a:t>
                      </a:r>
                      <a:endParaRPr sz="20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6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3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lang="en-US" sz="40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大概 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approximately</a:t>
                      </a:r>
                      <a:endParaRPr sz="20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3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lang="en-US" sz="40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里边 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Inside</a:t>
                      </a:r>
                      <a:endParaRPr sz="20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6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3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lang="en-US" sz="40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米 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meter</a:t>
                      </a:r>
                      <a:endParaRPr sz="20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3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lang="en-US" sz="40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锻炼 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 exercise</a:t>
                      </a:r>
                      <a:endParaRPr sz="20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6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3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lang="en-US" sz="40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附近 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83869" lvl="0" indent="0" algn="ctr" rtl="0">
                        <a:lnSpc>
                          <a:spcPct val="9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Near, close to</a:t>
                      </a:r>
                      <a:endParaRPr sz="20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endParaRPr sz="3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lang="en-US" sz="40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身体 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body</a:t>
                      </a:r>
                      <a:r>
                        <a:rPr lang="en-US" sz="3200" b="1" u="none" strike="noStrike" cap="none">
                          <a:solidFill>
                            <a:srgbClr val="5F497A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; </a:t>
                      </a:r>
                      <a:r>
                        <a:rPr lang="en-US" sz="32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health</a:t>
                      </a:r>
                      <a:endParaRPr sz="20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6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3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lang="en-US" sz="40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咖啡厅 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coffee shop</a:t>
                      </a:r>
                      <a:endParaRPr sz="20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3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lang="en-US" sz="40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操场 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sports ground</a:t>
                      </a:r>
                      <a:endParaRPr sz="20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6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3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lang="en-US" sz="40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商</a:t>
                      </a:r>
                      <a:r>
                        <a:rPr lang="en-US" sz="40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店 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shop</a:t>
                      </a:r>
                      <a:endParaRPr sz="20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sz="3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lang="en-US" sz="40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当然 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of course</a:t>
                      </a:r>
                      <a:endParaRPr sz="20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6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36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lang="en-US" sz="40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复印店 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copy center</a:t>
                      </a:r>
                      <a:endParaRPr sz="20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endParaRPr sz="36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6E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182" name="Google Shape;182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5044" y="7758264"/>
            <a:ext cx="466295" cy="2419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180655" y="7750644"/>
            <a:ext cx="1988350" cy="2419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5794" y="527289"/>
            <a:ext cx="1694411" cy="1675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57410" y="8267699"/>
            <a:ext cx="532969" cy="1694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1773891">
            <a:off x="16333213" y="176132"/>
            <a:ext cx="1928370" cy="1675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8D9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4764" y="419100"/>
            <a:ext cx="15301636" cy="1826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346207">
            <a:off x="1390557" y="-332827"/>
            <a:ext cx="1209483" cy="218103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9"/>
          <p:cNvSpPr txBox="1"/>
          <p:nvPr/>
        </p:nvSpPr>
        <p:spPr>
          <a:xfrm>
            <a:off x="2667000" y="601582"/>
            <a:ext cx="13258800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lang="en-US" sz="95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新</a:t>
            </a:r>
            <a:r>
              <a:rPr lang="en-US" sz="9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adv. x</a:t>
            </a:r>
            <a:r>
              <a:rPr lang="en-US" sz="96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ī</a:t>
            </a:r>
            <a:r>
              <a:rPr lang="en-US" sz="9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9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new </a:t>
            </a:r>
            <a:r>
              <a:rPr lang="en-US" sz="9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endParaRPr sz="9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3019690">
            <a:off x="15802965" y="1233691"/>
            <a:ext cx="1740542" cy="1826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9" descr="A picture containing text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7200" y="5981700"/>
            <a:ext cx="4062412" cy="40624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96" name="Google Shape;196;p9"/>
          <p:cNvSpPr/>
          <p:nvPr/>
        </p:nvSpPr>
        <p:spPr>
          <a:xfrm>
            <a:off x="6477000" y="6277119"/>
            <a:ext cx="5727886" cy="2986802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9"/>
          <p:cNvSpPr txBox="1"/>
          <p:nvPr/>
        </p:nvSpPr>
        <p:spPr>
          <a:xfrm>
            <a:off x="6142617" y="6314666"/>
            <a:ext cx="6396651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20375"/>
              </a:lnSpc>
              <a:buClr>
                <a:srgbClr val="272626"/>
              </a:buClr>
              <a:buSzPts val="3200"/>
            </a:pPr>
            <a:r>
              <a:rPr lang="en-US" sz="6000" dirty="0" err="1">
                <a:latin typeface="SimSun" panose="02010600030101010101" pitchFamily="2" charset="-122"/>
                <a:ea typeface="SimSun" panose="02010600030101010101" pitchFamily="2" charset="-122"/>
              </a:rPr>
              <a:t>xīn</a:t>
            </a:r>
            <a:r>
              <a:rPr lang="en-US" sz="60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sz="6000" dirty="0" err="1">
                <a:latin typeface="SimSun" panose="02010600030101010101" pitchFamily="2" charset="-122"/>
                <a:ea typeface="SimSun" panose="02010600030101010101" pitchFamily="2" charset="-122"/>
              </a:rPr>
              <a:t>péngyou</a:t>
            </a:r>
            <a:endParaRPr lang="en-US" sz="60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0" algn="ctr">
              <a:lnSpc>
                <a:spcPct val="120375"/>
              </a:lnSpc>
              <a:buClr>
                <a:srgbClr val="272626"/>
              </a:buClr>
              <a:buSzPts val="3200"/>
            </a:pPr>
            <a:r>
              <a:rPr lang="en-US" sz="60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新朋友</a:t>
            </a:r>
            <a:endParaRPr sz="60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60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A new friend</a:t>
            </a:r>
            <a:endParaRPr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6477000" y="2953146"/>
            <a:ext cx="5727886" cy="2782749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FDE9D8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9"/>
          <p:cNvSpPr txBox="1"/>
          <p:nvPr/>
        </p:nvSpPr>
        <p:spPr>
          <a:xfrm>
            <a:off x="6619097" y="3217751"/>
            <a:ext cx="5292969" cy="299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20375"/>
              </a:lnSpc>
              <a:buClr>
                <a:schemeClr val="dk1"/>
              </a:buClr>
              <a:buSzPts val="3200"/>
            </a:pPr>
            <a:r>
              <a:rPr lang="en-US" sz="5400" dirty="0" err="1">
                <a:latin typeface="SimSun" panose="02010600030101010101" pitchFamily="2" charset="-122"/>
                <a:ea typeface="SimSun" panose="02010600030101010101" pitchFamily="2" charset="-122"/>
              </a:rPr>
              <a:t>xīn</a:t>
            </a:r>
            <a:r>
              <a:rPr lang="en-US" sz="54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sz="5400" dirty="0" err="1">
                <a:latin typeface="SimSun" panose="02010600030101010101" pitchFamily="2" charset="-122"/>
                <a:ea typeface="SimSun" panose="02010600030101010101" pitchFamily="2" charset="-122"/>
              </a:rPr>
              <a:t>lǎoshī</a:t>
            </a:r>
            <a:endParaRPr lang="en-US" sz="5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lvl="0" algn="ctr">
              <a:lnSpc>
                <a:spcPct val="120375"/>
              </a:lnSpc>
              <a:buClr>
                <a:schemeClr val="dk1"/>
              </a:buClr>
              <a:buSzPts val="3200"/>
            </a:pPr>
            <a:r>
              <a:rPr lang="en-US" sz="54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新老师</a:t>
            </a:r>
            <a:endParaRPr sz="5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54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A new Teacher </a:t>
            </a:r>
            <a:endParaRPr sz="5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8D9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4764" y="342900"/>
            <a:ext cx="15301636" cy="3106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346207">
            <a:off x="1390557" y="-332827"/>
            <a:ext cx="1209483" cy="218103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0"/>
          <p:cNvSpPr txBox="1"/>
          <p:nvPr/>
        </p:nvSpPr>
        <p:spPr>
          <a:xfrm>
            <a:off x="2667000" y="525383"/>
            <a:ext cx="13258800" cy="3379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lang="en-US" sz="95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留学生</a:t>
            </a:r>
            <a:r>
              <a:rPr lang="en-US" sz="95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n. </a:t>
            </a:r>
            <a:r>
              <a:rPr lang="en-US" sz="72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liúxuéshēnɡ</a:t>
            </a:r>
            <a:r>
              <a:rPr lang="en-US" sz="95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88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international student </a:t>
            </a:r>
            <a:r>
              <a:rPr lang="en-US" sz="8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endParaRPr sz="9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7" name="Google Shape;207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3019690">
            <a:off x="15802965" y="1157492"/>
            <a:ext cx="1740542" cy="1826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0" descr="A group of people in white lab coats&#10;&#10;Description automatically generated with low confidenc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14764" y="3777835"/>
            <a:ext cx="6119812" cy="61198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09" name="Google Shape;209;p10"/>
          <p:cNvSpPr/>
          <p:nvPr/>
        </p:nvSpPr>
        <p:spPr>
          <a:xfrm>
            <a:off x="9296400" y="3881120"/>
            <a:ext cx="5727886" cy="2520274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0"/>
          <p:cNvSpPr txBox="1"/>
          <p:nvPr/>
        </p:nvSpPr>
        <p:spPr>
          <a:xfrm>
            <a:off x="9525000" y="4381500"/>
            <a:ext cx="6119812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Wǒ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shì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liúxuéshēnɡ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.</a:t>
            </a:r>
            <a:endParaRPr sz="3200" b="0" i="0" u="none" strike="noStrike" cap="none" dirty="0">
              <a:solidFill>
                <a:srgbClr val="272626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我 是   </a:t>
            </a:r>
            <a:r>
              <a:rPr lang="en-US" sz="4000" b="1" i="0" u="none" strike="noStrike" cap="none" dirty="0" err="1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留学生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。</a:t>
            </a:r>
            <a:endParaRPr sz="4000" b="0" i="0" u="none" strike="noStrike" cap="none" dirty="0">
              <a:solidFill>
                <a:srgbClr val="272626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I’m an international student.</a:t>
            </a:r>
            <a:endParaRPr sz="1400" b="0" i="0" u="none" strike="noStrike" cap="none" dirty="0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9339766" y="6915253"/>
            <a:ext cx="7746461" cy="2520274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0"/>
          <p:cNvSpPr txBox="1"/>
          <p:nvPr/>
        </p:nvSpPr>
        <p:spPr>
          <a:xfrm>
            <a:off x="9568365" y="7415633"/>
            <a:ext cx="7517861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3200" b="0" i="0" u="none" strike="noStrike" cap="none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  Wǒ shì </a:t>
            </a:r>
            <a:r>
              <a:rPr lang="en-US" sz="3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xīn</a:t>
            </a:r>
            <a:r>
              <a:rPr lang="en-US" sz="3200" b="0" i="0" u="none" strike="noStrike" cap="none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lái de  liúxuéshēnɡ.</a:t>
            </a:r>
            <a:endParaRPr sz="3200" b="0" i="0" u="none" strike="noStrike" cap="none">
              <a:solidFill>
                <a:srgbClr val="272626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  我 是  新 来 的   </a:t>
            </a:r>
            <a:r>
              <a:rPr lang="en-US" sz="40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留学生</a:t>
            </a:r>
            <a:r>
              <a:rPr lang="en-US" sz="4000" b="0" i="0" u="none" strike="noStrike" cap="none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。</a:t>
            </a:r>
            <a:endParaRPr sz="4000" b="0" i="0" u="none" strike="noStrike" cap="none">
              <a:solidFill>
                <a:srgbClr val="272626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I’m the new international student.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8D9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4764" y="266700"/>
            <a:ext cx="15301636" cy="3379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346207">
            <a:off x="1390557" y="-332827"/>
            <a:ext cx="1209483" cy="218103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1"/>
          <p:cNvSpPr txBox="1"/>
          <p:nvPr/>
        </p:nvSpPr>
        <p:spPr>
          <a:xfrm>
            <a:off x="1839505" y="449183"/>
            <a:ext cx="14086295" cy="3379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lang="en-US" sz="9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教学楼 n. </a:t>
            </a:r>
            <a:r>
              <a:rPr lang="en-US" sz="7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jiàoxué lóu </a:t>
            </a:r>
            <a:r>
              <a:rPr lang="en-US" sz="95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8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teaching building </a:t>
            </a:r>
            <a:r>
              <a:rPr lang="en-US" sz="8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endParaRPr sz="9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3019690">
            <a:off x="15802965" y="1081292"/>
            <a:ext cx="1740542" cy="1826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1" descr="A picture containing sky, outdoor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34000" y="3555542"/>
            <a:ext cx="6196012" cy="61960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8D9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4764" y="757689"/>
            <a:ext cx="11948836" cy="1871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346207">
            <a:off x="1390557" y="-332827"/>
            <a:ext cx="1209483" cy="218103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2"/>
          <p:cNvSpPr txBox="1"/>
          <p:nvPr/>
        </p:nvSpPr>
        <p:spPr>
          <a:xfrm>
            <a:off x="2667000" y="940172"/>
            <a:ext cx="103632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lang="en-US" sz="95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远 </a:t>
            </a:r>
            <a:r>
              <a:rPr lang="en-US" sz="80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adj. </a:t>
            </a:r>
            <a:r>
              <a:rPr lang="en-US" sz="7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yuǎn far</a:t>
            </a:r>
            <a:endParaRPr sz="95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229" name="Google Shape;229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3019690">
            <a:off x="12693328" y="1226377"/>
            <a:ext cx="1740542" cy="1826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8200" y="3213040"/>
            <a:ext cx="5562600" cy="55626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31" name="Google Shape;231;p12"/>
          <p:cNvSpPr/>
          <p:nvPr/>
        </p:nvSpPr>
        <p:spPr>
          <a:xfrm>
            <a:off x="7158333" y="3303631"/>
            <a:ext cx="3971334" cy="2273704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2"/>
          <p:cNvSpPr txBox="1"/>
          <p:nvPr/>
        </p:nvSpPr>
        <p:spPr>
          <a:xfrm>
            <a:off x="7158333" y="3432234"/>
            <a:ext cx="3657600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3200" b="0" i="0" u="none" strike="noStrike" cap="none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     hěn yuǎn</a:t>
            </a:r>
            <a:endParaRPr sz="3200" b="0" i="0" u="none" strike="noStrike" cap="none">
              <a:solidFill>
                <a:srgbClr val="272626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很  </a:t>
            </a:r>
            <a:r>
              <a:rPr lang="en-US" sz="40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远</a:t>
            </a:r>
            <a:endParaRPr sz="4000" b="0" i="0" u="none" strike="noStrike" cap="none">
              <a:solidFill>
                <a:srgbClr val="272626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Far away. 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7256436" y="6380669"/>
            <a:ext cx="3775127" cy="2520274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2"/>
          <p:cNvSpPr txBox="1"/>
          <p:nvPr/>
        </p:nvSpPr>
        <p:spPr>
          <a:xfrm>
            <a:off x="6779564" y="6813496"/>
            <a:ext cx="4728870" cy="1654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bù</a:t>
            </a:r>
            <a:r>
              <a:rPr lang="en-US" sz="3200" b="0" i="0" u="none" strike="noStrike" cap="none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yuǎn</a:t>
            </a:r>
            <a:endParaRPr sz="3200" b="0" i="0" u="none" strike="noStrike" cap="none">
              <a:solidFill>
                <a:schemeClr val="dk1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不  </a:t>
            </a:r>
            <a:r>
              <a:rPr lang="en-US" sz="40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远</a:t>
            </a:r>
            <a:endParaRPr sz="4000" b="0" i="0" u="none" strike="noStrike" cap="none">
              <a:solidFill>
                <a:srgbClr val="272626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Not far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12375103" y="3456031"/>
            <a:ext cx="3971334" cy="2273704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2"/>
          <p:cNvSpPr txBox="1"/>
          <p:nvPr/>
        </p:nvSpPr>
        <p:spPr>
          <a:xfrm>
            <a:off x="12375103" y="3584634"/>
            <a:ext cx="3657600" cy="1654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3200" b="0" i="0" u="none" strike="noStrike" cap="none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     hěn jìn</a:t>
            </a:r>
            <a:endParaRPr sz="3200" b="0" i="0" u="none" strike="noStrike" cap="none">
              <a:solidFill>
                <a:srgbClr val="272626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很  </a:t>
            </a:r>
            <a:r>
              <a:rPr lang="en-US" sz="4000" b="0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近</a:t>
            </a:r>
            <a:endParaRPr sz="4000" b="0" i="0" u="none" strike="noStrike" cap="none">
              <a:solidFill>
                <a:srgbClr val="FF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Very close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237" name="Google Shape;237;p12"/>
          <p:cNvSpPr/>
          <p:nvPr/>
        </p:nvSpPr>
        <p:spPr>
          <a:xfrm>
            <a:off x="12473206" y="6533069"/>
            <a:ext cx="3775127" cy="2520274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2"/>
          <p:cNvSpPr txBox="1"/>
          <p:nvPr/>
        </p:nvSpPr>
        <p:spPr>
          <a:xfrm>
            <a:off x="12375103" y="6965896"/>
            <a:ext cx="3971334" cy="1654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bù</a:t>
            </a:r>
            <a:r>
              <a:rPr lang="en-US" sz="3200" b="0" i="0" u="none" strike="noStrike" cap="none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jìn</a:t>
            </a:r>
            <a:endParaRPr sz="3200" b="0" i="0" u="none" strike="noStrike" cap="none">
              <a:solidFill>
                <a:schemeClr val="dk1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不  </a:t>
            </a:r>
            <a:r>
              <a:rPr lang="en-US" sz="40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近</a:t>
            </a:r>
            <a:endParaRPr sz="4000" b="1" i="0" u="none" strike="noStrike" cap="none">
              <a:solidFill>
                <a:srgbClr val="FF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not near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8D9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4764" y="2073260"/>
            <a:ext cx="15301636" cy="1871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346207">
            <a:off x="1390557" y="982744"/>
            <a:ext cx="1209483" cy="218103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3"/>
          <p:cNvSpPr txBox="1"/>
          <p:nvPr/>
        </p:nvSpPr>
        <p:spPr>
          <a:xfrm>
            <a:off x="2667000" y="2255743"/>
            <a:ext cx="13258800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lang="en-US" sz="8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离 </a:t>
            </a:r>
            <a:r>
              <a:rPr lang="en-US" sz="7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prep. </a:t>
            </a:r>
            <a:r>
              <a:rPr lang="en-US" sz="66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lí be far away from</a:t>
            </a:r>
            <a:endParaRPr sz="88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246" name="Google Shape;246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3019690">
            <a:off x="15802965" y="2887852"/>
            <a:ext cx="1740542" cy="182690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3"/>
          <p:cNvSpPr txBox="1"/>
          <p:nvPr/>
        </p:nvSpPr>
        <p:spPr>
          <a:xfrm>
            <a:off x="2819400" y="4713715"/>
            <a:ext cx="13710138" cy="3988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“离”用来表达两个地点之间的距离。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“离”is used to describe the distance between two places.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8D9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4764" y="503774"/>
            <a:ext cx="15301636" cy="1871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346207">
            <a:off x="1390557" y="-586742"/>
            <a:ext cx="1209483" cy="218103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4"/>
          <p:cNvSpPr txBox="1"/>
          <p:nvPr/>
        </p:nvSpPr>
        <p:spPr>
          <a:xfrm>
            <a:off x="2667000" y="686257"/>
            <a:ext cx="13258800" cy="1461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lang="en-US" sz="9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离 </a:t>
            </a:r>
            <a:r>
              <a:rPr lang="en-US" sz="8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prep. </a:t>
            </a:r>
            <a:r>
              <a:rPr lang="en-US" sz="7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lí be far away from</a:t>
            </a:r>
            <a:endParaRPr sz="9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5" name="Google Shape;255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3019690">
            <a:off x="15802965" y="1318366"/>
            <a:ext cx="1740542" cy="182690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4"/>
          <p:cNvSpPr/>
          <p:nvPr/>
        </p:nvSpPr>
        <p:spPr>
          <a:xfrm>
            <a:off x="1905000" y="2622691"/>
            <a:ext cx="14267866" cy="1668133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FDF5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4"/>
          <p:cNvSpPr txBox="1"/>
          <p:nvPr/>
        </p:nvSpPr>
        <p:spPr>
          <a:xfrm>
            <a:off x="1630004" y="2921463"/>
            <a:ext cx="14510763" cy="1010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6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Place A + </a:t>
            </a:r>
            <a:r>
              <a:rPr lang="en-US" sz="66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离</a:t>
            </a:r>
            <a:r>
              <a:rPr lang="en-US" sz="6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Place B +……</a:t>
            </a:r>
            <a:endParaRPr sz="6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4"/>
          <p:cNvSpPr/>
          <p:nvPr/>
        </p:nvSpPr>
        <p:spPr>
          <a:xfrm>
            <a:off x="3276600" y="7497427"/>
            <a:ext cx="11908436" cy="2471032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4"/>
          <p:cNvSpPr txBox="1"/>
          <p:nvPr/>
        </p:nvSpPr>
        <p:spPr>
          <a:xfrm>
            <a:off x="3716268" y="7826090"/>
            <a:ext cx="11908436" cy="1774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Jiàoxuélóu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lí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sùshè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bú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tài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yuǎn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0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教学楼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4000" b="1" i="0" u="none" strike="noStrike" cap="none" dirty="0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离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40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宿舍不太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 远。</a:t>
            </a:r>
            <a:endParaRPr sz="4000" b="0" i="0" u="none" strike="noStrike" cap="none" dirty="0">
              <a:solidFill>
                <a:srgbClr val="272626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The teaching building is not far from the dormitory.</a:t>
            </a:r>
            <a:endParaRPr sz="1400" b="0" i="0" u="none" strike="noStrike" cap="none" dirty="0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260" name="Google Shape;260;p14" descr="A picture containing sky, outdoor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99104" y="4075258"/>
            <a:ext cx="3368474" cy="336847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261" name="Google Shape;261;p14" descr="A picture containing diagram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70486" y="3520444"/>
            <a:ext cx="4747363" cy="4747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8D9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4764" y="503774"/>
            <a:ext cx="15301636" cy="1871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346207">
            <a:off x="1390557" y="-586742"/>
            <a:ext cx="1209483" cy="218103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5"/>
          <p:cNvSpPr txBox="1"/>
          <p:nvPr/>
        </p:nvSpPr>
        <p:spPr>
          <a:xfrm>
            <a:off x="2667000" y="686257"/>
            <a:ext cx="13258800" cy="1461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lang="en-US" sz="9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离 </a:t>
            </a:r>
            <a:r>
              <a:rPr lang="en-US" sz="8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prep. </a:t>
            </a:r>
            <a:r>
              <a:rPr lang="en-US" sz="7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lí be far away from</a:t>
            </a:r>
            <a:endParaRPr sz="9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9" name="Google Shape;269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3019690">
            <a:off x="15802965" y="1318366"/>
            <a:ext cx="1740542" cy="1826905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5"/>
          <p:cNvSpPr/>
          <p:nvPr/>
        </p:nvSpPr>
        <p:spPr>
          <a:xfrm>
            <a:off x="1905000" y="2622691"/>
            <a:ext cx="14267866" cy="1668133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FDF5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5"/>
          <p:cNvSpPr txBox="1"/>
          <p:nvPr/>
        </p:nvSpPr>
        <p:spPr>
          <a:xfrm>
            <a:off x="1630004" y="2921463"/>
            <a:ext cx="14510763" cy="1010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6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Place A + </a:t>
            </a:r>
            <a:r>
              <a:rPr lang="en-US" sz="66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离</a:t>
            </a:r>
            <a:r>
              <a:rPr lang="en-US" sz="6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Place B +……</a:t>
            </a:r>
            <a:endParaRPr sz="6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5"/>
          <p:cNvSpPr/>
          <p:nvPr/>
        </p:nvSpPr>
        <p:spPr>
          <a:xfrm>
            <a:off x="998911" y="4538530"/>
            <a:ext cx="16932994" cy="2297174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5"/>
          <p:cNvSpPr txBox="1"/>
          <p:nvPr/>
        </p:nvSpPr>
        <p:spPr>
          <a:xfrm>
            <a:off x="2035761" y="4774548"/>
            <a:ext cx="14880639" cy="1654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Chāoshì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lí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zhèr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yuǎn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mɑ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?/ 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Chāoshì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lí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zhèr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yuǎn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bù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yuǎn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?</a:t>
            </a:r>
            <a:endParaRPr sz="1400" b="0" i="0" u="none" strike="noStrike" cap="none" dirty="0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A: </a:t>
            </a:r>
            <a:r>
              <a:rPr lang="en-US" sz="40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超市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000" b="1" i="0" u="none" strike="noStrike" cap="none" dirty="0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离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0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这儿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远 吗？/ </a:t>
            </a:r>
            <a:r>
              <a:rPr lang="en-US" sz="40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超市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000" b="1" i="0" u="none" strike="noStrike" cap="none" dirty="0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离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0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这儿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远 不 远？</a:t>
            </a:r>
            <a:endParaRPr dirty="0"/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4000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Is the supermarket far from here?</a:t>
            </a:r>
            <a:endParaRPr sz="4000" b="0" i="0" u="none" strike="noStrike" cap="none" dirty="0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274" name="Google Shape;274;p15"/>
          <p:cNvSpPr/>
          <p:nvPr/>
        </p:nvSpPr>
        <p:spPr>
          <a:xfrm>
            <a:off x="647700" y="6939515"/>
            <a:ext cx="16865599" cy="3238500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5"/>
          <p:cNvSpPr txBox="1"/>
          <p:nvPr/>
        </p:nvSpPr>
        <p:spPr>
          <a:xfrm>
            <a:off x="2099905" y="7406684"/>
            <a:ext cx="14295796" cy="2367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 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Hěn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yuǎn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/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bú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tài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yuǎn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/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hěn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jìn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B: 很 远/ 不 太  远 / 很 近。</a:t>
            </a:r>
            <a:endParaRPr sz="4000" b="0" i="0" u="none" strike="noStrike" cap="none" dirty="0">
              <a:solidFill>
                <a:srgbClr val="272626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It’s very far from here. / It’s not far from here./ </a:t>
            </a:r>
            <a:endParaRPr dirty="0"/>
          </a:p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It’s very close to here.</a:t>
            </a:r>
            <a:endParaRPr sz="1400" b="0" i="0" u="none" strike="noStrike" cap="none" dirty="0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8D9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4764" y="503774"/>
            <a:ext cx="15301636" cy="1871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346207">
            <a:off x="1390557" y="-586742"/>
            <a:ext cx="1209483" cy="218103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6"/>
          <p:cNvSpPr txBox="1"/>
          <p:nvPr/>
        </p:nvSpPr>
        <p:spPr>
          <a:xfrm>
            <a:off x="2667000" y="686257"/>
            <a:ext cx="13258800" cy="1461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lang="en-US" sz="9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离 </a:t>
            </a:r>
            <a:r>
              <a:rPr lang="en-US" sz="8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prep. </a:t>
            </a:r>
            <a:r>
              <a:rPr lang="en-US" sz="7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lí be far away from</a:t>
            </a:r>
            <a:endParaRPr sz="9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3" name="Google Shape;283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3019690">
            <a:off x="15802965" y="1318366"/>
            <a:ext cx="1740542" cy="182690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6"/>
          <p:cNvSpPr/>
          <p:nvPr/>
        </p:nvSpPr>
        <p:spPr>
          <a:xfrm>
            <a:off x="1905000" y="2622691"/>
            <a:ext cx="14267866" cy="1668133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FDF5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6"/>
          <p:cNvSpPr txBox="1"/>
          <p:nvPr/>
        </p:nvSpPr>
        <p:spPr>
          <a:xfrm>
            <a:off x="1630004" y="2921463"/>
            <a:ext cx="14510763" cy="1010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lang="en-US" sz="6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Place A + </a:t>
            </a:r>
            <a:r>
              <a:rPr lang="en-US" sz="66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离</a:t>
            </a:r>
            <a:r>
              <a:rPr lang="en-US" sz="6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Place B +……</a:t>
            </a:r>
            <a:endParaRPr sz="6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6"/>
          <p:cNvSpPr/>
          <p:nvPr/>
        </p:nvSpPr>
        <p:spPr>
          <a:xfrm>
            <a:off x="3352798" y="4775206"/>
            <a:ext cx="10731501" cy="2470142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6"/>
          <p:cNvSpPr txBox="1"/>
          <p:nvPr/>
        </p:nvSpPr>
        <p:spPr>
          <a:xfrm>
            <a:off x="4096065" y="5036466"/>
            <a:ext cx="10400670" cy="1774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 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Mànɡǔ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lí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Qīnɡlái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yǒu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duō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yuǎn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?</a:t>
            </a:r>
            <a:endParaRPr sz="1400" b="0" i="0" u="none" strike="noStrike" cap="none" dirty="0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A: </a:t>
            </a:r>
            <a:r>
              <a:rPr lang="en-US" sz="40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曼谷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000" b="1" i="0" u="none" strike="noStrike" cap="none" dirty="0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离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0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清莱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 有 多  远？</a:t>
            </a:r>
            <a:endParaRPr sz="4000" b="0" i="0" u="none" strike="noStrike" cap="none" dirty="0">
              <a:solidFill>
                <a:srgbClr val="272626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How far is it from Bangkok to Chiang Rai?</a:t>
            </a:r>
            <a:endParaRPr sz="1400" b="0" i="0" u="none" strike="noStrike" cap="none" dirty="0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288" name="Google Shape;288;p16"/>
          <p:cNvSpPr/>
          <p:nvPr/>
        </p:nvSpPr>
        <p:spPr>
          <a:xfrm>
            <a:off x="2539320" y="7603919"/>
            <a:ext cx="15247634" cy="2297174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6"/>
          <p:cNvSpPr txBox="1"/>
          <p:nvPr/>
        </p:nvSpPr>
        <p:spPr>
          <a:xfrm>
            <a:off x="3352799" y="7807769"/>
            <a:ext cx="13563601" cy="1774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 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Mànɡǔ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lí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Qīnɡlái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bābǎi'èrshíjiǔ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ɡōnɡlǐ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4000"/>
              <a:buFont typeface="Arial"/>
              <a:buNone/>
            </a:pPr>
            <a:r>
              <a:rPr lang="en-US" sz="40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B: </a:t>
            </a:r>
            <a:r>
              <a:rPr lang="en-US" sz="40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曼谷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000" b="1" i="0" u="none" strike="noStrike" cap="none" dirty="0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离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0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清莱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  </a:t>
            </a:r>
            <a:r>
              <a:rPr lang="en-US" sz="40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八百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0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二十九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0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公里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。</a:t>
            </a:r>
            <a:endParaRPr sz="4000" b="0" i="0" u="none" strike="noStrike" cap="none" dirty="0">
              <a:solidFill>
                <a:srgbClr val="272626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From Bangkok to Chiang Rai is approximately 829 kilometers.</a:t>
            </a:r>
            <a:endParaRPr sz="1400" b="0" i="0" u="none" strike="noStrike" cap="none" dirty="0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8D9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4764" y="757689"/>
            <a:ext cx="13001072" cy="1871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346207">
            <a:off x="1390557" y="-332827"/>
            <a:ext cx="1209483" cy="2181035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7"/>
          <p:cNvSpPr txBox="1"/>
          <p:nvPr/>
        </p:nvSpPr>
        <p:spPr>
          <a:xfrm>
            <a:off x="2667000" y="940172"/>
            <a:ext cx="11948836" cy="1461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lang="en-US" sz="9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米 </a:t>
            </a:r>
            <a:r>
              <a:rPr lang="en-US" sz="8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n.  </a:t>
            </a:r>
            <a:r>
              <a:rPr lang="en-US" sz="7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mǐ meter</a:t>
            </a:r>
            <a:endParaRPr sz="9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7" name="Google Shape;297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3019690">
            <a:off x="13745564" y="1510216"/>
            <a:ext cx="1740542" cy="182690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7"/>
          <p:cNvSpPr/>
          <p:nvPr/>
        </p:nvSpPr>
        <p:spPr>
          <a:xfrm>
            <a:off x="2743199" y="6978227"/>
            <a:ext cx="5409369" cy="2105812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7"/>
          <p:cNvSpPr txBox="1"/>
          <p:nvPr/>
        </p:nvSpPr>
        <p:spPr>
          <a:xfrm>
            <a:off x="3123411" y="7134854"/>
            <a:ext cx="4115589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    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wǔbǎi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mǐ</a:t>
            </a:r>
            <a:endParaRPr sz="3200" b="0" i="0" u="none" strike="noStrike" cap="none" dirty="0">
              <a:solidFill>
                <a:srgbClr val="272626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4000"/>
              <a:buFont typeface="Arial"/>
              <a:buNone/>
            </a:pPr>
            <a:r>
              <a:rPr lang="en-US" sz="40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五百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4000" b="1" i="0" u="none" strike="noStrike" cap="none" dirty="0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米</a:t>
            </a:r>
            <a:endParaRPr sz="4000" b="0" i="0" u="none" strike="noStrike" cap="none" dirty="0">
              <a:solidFill>
                <a:srgbClr val="272626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Five hundred meters </a:t>
            </a:r>
            <a:endParaRPr sz="1400" b="0" i="0" u="none" strike="noStrike" cap="none" dirty="0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300" name="Google Shape;300;p17"/>
          <p:cNvSpPr/>
          <p:nvPr/>
        </p:nvSpPr>
        <p:spPr>
          <a:xfrm>
            <a:off x="10058399" y="6808382"/>
            <a:ext cx="7462084" cy="2538445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DAE5F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7"/>
          <p:cNvSpPr txBox="1"/>
          <p:nvPr/>
        </p:nvSpPr>
        <p:spPr>
          <a:xfrm>
            <a:off x="10135434" y="7060987"/>
            <a:ext cx="7385049" cy="1920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    s</a:t>
            </a:r>
            <a:r>
              <a:rPr lang="en-US" sz="3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ān</a:t>
            </a:r>
            <a:r>
              <a:rPr lang="en-US" sz="3200" b="0" i="0" u="none" strike="noStrike" cap="none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bǎiwǔshí  mǐ</a:t>
            </a:r>
            <a:endParaRPr sz="3200" b="0" i="0" u="none" strike="noStrike" cap="none">
              <a:solidFill>
                <a:srgbClr val="272626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0" i="0" u="none" strike="noStrike" cap="none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   三百五十  </a:t>
            </a:r>
            <a:r>
              <a:rPr lang="en-US" sz="40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米</a:t>
            </a:r>
            <a:r>
              <a:rPr lang="en-US" sz="4000" b="1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。</a:t>
            </a:r>
            <a:endParaRPr sz="4000" b="0" i="0" u="none" strike="noStrike" cap="none">
              <a:solidFill>
                <a:schemeClr val="dk1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Three hundred and fifty meters. 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302" name="Google Shape;302;p17" descr="Logo, company name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33767" y="3229621"/>
            <a:ext cx="3905233" cy="3905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17" descr="A picture containing text, clipart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 l="37426" r="40945" b="54130"/>
          <a:stretch/>
        </p:blipFill>
        <p:spPr>
          <a:xfrm>
            <a:off x="10820400" y="4751578"/>
            <a:ext cx="1610749" cy="1919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17" descr="A picture containing text, clipart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 l="82850" r="729" b="51724"/>
          <a:stretch/>
        </p:blipFill>
        <p:spPr>
          <a:xfrm>
            <a:off x="12013778" y="4693926"/>
            <a:ext cx="1245022" cy="2056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17" descr="A picture containing text, clipart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 l="81425" t="45119" r="-1584"/>
          <a:stretch/>
        </p:blipFill>
        <p:spPr>
          <a:xfrm>
            <a:off x="13258800" y="4533900"/>
            <a:ext cx="1539554" cy="2354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8D9"/>
        </a:soli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4764" y="757689"/>
            <a:ext cx="15530236" cy="1871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346207">
            <a:off x="1390557" y="-332827"/>
            <a:ext cx="1209483" cy="2181035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8"/>
          <p:cNvSpPr txBox="1"/>
          <p:nvPr/>
        </p:nvSpPr>
        <p:spPr>
          <a:xfrm>
            <a:off x="2039815" y="940172"/>
            <a:ext cx="14876585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lang="en-US" sz="95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大概 </a:t>
            </a:r>
            <a:r>
              <a:rPr lang="en-US" sz="80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adv. </a:t>
            </a:r>
            <a:r>
              <a:rPr lang="en-US" sz="7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dàɡài probably/about</a:t>
            </a:r>
            <a:endParaRPr sz="95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313" name="Google Shape;313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3019690">
            <a:off x="16389029" y="1488657"/>
            <a:ext cx="1740542" cy="1826905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8"/>
          <p:cNvSpPr/>
          <p:nvPr/>
        </p:nvSpPr>
        <p:spPr>
          <a:xfrm>
            <a:off x="1904999" y="3120757"/>
            <a:ext cx="7292345" cy="2125853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8"/>
          <p:cNvSpPr txBox="1"/>
          <p:nvPr/>
        </p:nvSpPr>
        <p:spPr>
          <a:xfrm>
            <a:off x="1735985" y="3182309"/>
            <a:ext cx="7292345" cy="1920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3200" b="0" i="0" u="none" strike="noStrike" cap="none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Dàɡài wǔbǎi  mǐ. 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40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大概   </a:t>
            </a:r>
            <a:r>
              <a:rPr lang="en-US" sz="4000" b="0" i="0" u="none" strike="noStrike" cap="none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五百  米。</a:t>
            </a:r>
            <a:endParaRPr sz="4000" b="0" i="0" u="none" strike="noStrike" cap="none">
              <a:solidFill>
                <a:srgbClr val="272626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about five hundred meters. 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316" name="Google Shape;316;p18"/>
          <p:cNvSpPr/>
          <p:nvPr/>
        </p:nvSpPr>
        <p:spPr>
          <a:xfrm>
            <a:off x="9197345" y="3003654"/>
            <a:ext cx="7947656" cy="2505997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8"/>
          <p:cNvSpPr txBox="1"/>
          <p:nvPr/>
        </p:nvSpPr>
        <p:spPr>
          <a:xfrm>
            <a:off x="9090656" y="3084944"/>
            <a:ext cx="8500011" cy="1920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3200" b="0" i="0" u="none" strike="noStrike" cap="none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Dàɡài bābǎi ɡōnɡlǐ.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40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大概 </a:t>
            </a:r>
            <a:r>
              <a:rPr lang="en-US" sz="4000" b="0" i="0" u="none" strike="noStrike" cap="none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八百 公里。</a:t>
            </a:r>
            <a:endParaRPr sz="4000" b="0" i="0" u="none" strike="noStrike" cap="none">
              <a:solidFill>
                <a:srgbClr val="272626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about eight hundred kilometers</a:t>
            </a: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8"/>
          <p:cNvSpPr/>
          <p:nvPr/>
        </p:nvSpPr>
        <p:spPr>
          <a:xfrm>
            <a:off x="3327816" y="8210375"/>
            <a:ext cx="13588584" cy="2234997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DAE5F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8"/>
          <p:cNvSpPr txBox="1"/>
          <p:nvPr/>
        </p:nvSpPr>
        <p:spPr>
          <a:xfrm>
            <a:off x="3944034" y="8307740"/>
            <a:ext cx="14045027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3200" b="0" i="0" u="none" strike="noStrike" cap="none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Qīnɡlái lí Qīnɡmài dàɡài èrbǎi ɡōnɡlǐ.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 清莱 离  清迈 </a:t>
            </a:r>
            <a:r>
              <a:rPr lang="en-US" sz="40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大概  </a:t>
            </a:r>
            <a:r>
              <a:rPr lang="en-US" sz="40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二百  公里。</a:t>
            </a:r>
            <a:endParaRPr sz="4000" b="0" i="0" u="none" strike="noStrike" cap="none">
              <a:solidFill>
                <a:schemeClr val="dk1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From Chiang Rai to Chiang Mai is about 200 kilometers.</a:t>
            </a:r>
            <a:endParaRPr sz="36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320" name="Google Shape;320;p18" descr="A picture containing outdoor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152397" y="5293664"/>
            <a:ext cx="5018166" cy="282271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321" name="Google Shape;321;p18" descr="A picture containing outdoor, tower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982199" y="5264533"/>
            <a:ext cx="5153403" cy="289878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8D9"/>
        </a:solidFill>
        <a:effectLst/>
      </p:bgPr>
    </p:bg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4764" y="757690"/>
            <a:ext cx="15835036" cy="1884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346207">
            <a:off x="995459" y="51119"/>
            <a:ext cx="1209483" cy="218103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9"/>
          <p:cNvSpPr txBox="1"/>
          <p:nvPr/>
        </p:nvSpPr>
        <p:spPr>
          <a:xfrm>
            <a:off x="2895600" y="952500"/>
            <a:ext cx="131826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lang="en-US" sz="95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操场</a:t>
            </a:r>
            <a:r>
              <a:rPr lang="en-US" sz="95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80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n. </a:t>
            </a:r>
            <a:r>
              <a:rPr lang="en-US" sz="60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cāochǎnɡ</a:t>
            </a:r>
            <a:r>
              <a:rPr lang="en-US" sz="60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72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playground</a:t>
            </a:r>
            <a:endParaRPr sz="9500" b="0" i="0" u="none" strike="noStrike" cap="none" dirty="0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329" name="Google Shape;329;p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3019690">
            <a:off x="16274729" y="1488659"/>
            <a:ext cx="1740542" cy="1826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19" descr="A picture containing sky, outdoor, day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146321" y="3389120"/>
            <a:ext cx="6091702" cy="594538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" name="Google Shape;298;p17">
            <a:extLst>
              <a:ext uri="{FF2B5EF4-FFF2-40B4-BE49-F238E27FC236}">
                <a16:creationId xmlns:a16="http://schemas.microsoft.com/office/drawing/2014/main" id="{B9CB851A-FD2F-7318-9A3D-3D8E76AE7B00}"/>
              </a:ext>
            </a:extLst>
          </p:cNvPr>
          <p:cNvSpPr/>
          <p:nvPr/>
        </p:nvSpPr>
        <p:spPr>
          <a:xfrm>
            <a:off x="1600200" y="4316851"/>
            <a:ext cx="5409369" cy="2105812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299;p17">
            <a:extLst>
              <a:ext uri="{FF2B5EF4-FFF2-40B4-BE49-F238E27FC236}">
                <a16:creationId xmlns:a16="http://schemas.microsoft.com/office/drawing/2014/main" id="{B23803DC-3676-E398-21C0-72485A42C6B5}"/>
              </a:ext>
            </a:extLst>
          </p:cNvPr>
          <p:cNvSpPr txBox="1"/>
          <p:nvPr/>
        </p:nvSpPr>
        <p:spPr>
          <a:xfrm>
            <a:off x="2049977" y="4532200"/>
            <a:ext cx="4720100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375"/>
              </a:lnSpc>
              <a:buClr>
                <a:srgbClr val="272626"/>
              </a:buClr>
              <a:buSzPts val="3200"/>
            </a:pPr>
            <a:r>
              <a:rPr lang="en-US" altLang="zh-CN" sz="3200" dirty="0" err="1">
                <a:latin typeface="SimSun"/>
                <a:ea typeface="SimSun"/>
                <a:cs typeface="SimSun"/>
                <a:sym typeface="SimSun"/>
              </a:rPr>
              <a:t>qù</a:t>
            </a:r>
            <a:r>
              <a:rPr lang="en-US" altLang="zh-CN" sz="3200" dirty="0"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altLang="zh-CN" sz="3200" dirty="0" err="1">
                <a:latin typeface="SimSun"/>
                <a:ea typeface="SimSun"/>
                <a:cs typeface="SimSun"/>
                <a:sym typeface="SimSun"/>
              </a:rPr>
              <a:t>cāochǎng</a:t>
            </a:r>
            <a:r>
              <a:rPr lang="en-US" altLang="zh-CN" sz="3200" dirty="0"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altLang="zh-CN" sz="3200" dirty="0" err="1">
                <a:latin typeface="SimSun"/>
                <a:ea typeface="SimSun"/>
                <a:cs typeface="SimSun"/>
                <a:sym typeface="SimSun"/>
              </a:rPr>
              <a:t>pǎo</a:t>
            </a:r>
            <a:r>
              <a:rPr lang="en-US" altLang="zh-CN" sz="3200" dirty="0"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altLang="zh-CN" sz="3200" dirty="0" err="1">
                <a:latin typeface="SimSun"/>
                <a:ea typeface="SimSun"/>
                <a:cs typeface="SimSun"/>
                <a:sym typeface="SimSun"/>
              </a:rPr>
              <a:t>bù</a:t>
            </a:r>
            <a:endParaRPr lang="en-US" altLang="zh-CN" sz="3200" dirty="0">
              <a:latin typeface="SimSun"/>
              <a:ea typeface="SimSun"/>
              <a:cs typeface="SimSun"/>
              <a:sym typeface="SimSun"/>
            </a:endParaRPr>
          </a:p>
          <a:p>
            <a:pPr lvl="0">
              <a:lnSpc>
                <a:spcPct val="120375"/>
              </a:lnSpc>
              <a:buClr>
                <a:srgbClr val="272626"/>
              </a:buClr>
              <a:buSzPts val="3200"/>
            </a:pPr>
            <a:r>
              <a:rPr lang="zh-CN" altLang="en-US" sz="4400" dirty="0">
                <a:latin typeface="SimSun"/>
                <a:ea typeface="SimSun"/>
                <a:cs typeface="SimSun"/>
                <a:sym typeface="SimSun"/>
              </a:rPr>
              <a:t>去 操场  跑步</a:t>
            </a:r>
            <a:endParaRPr lang="en-US" altLang="zh-CN" sz="4400" dirty="0"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8D9"/>
        </a:solid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4764" y="757689"/>
            <a:ext cx="15835036" cy="1871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346207">
            <a:off x="995459" y="51119"/>
            <a:ext cx="1209483" cy="2181035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0"/>
          <p:cNvSpPr txBox="1"/>
          <p:nvPr/>
        </p:nvSpPr>
        <p:spPr>
          <a:xfrm>
            <a:off x="2209800" y="940172"/>
            <a:ext cx="15240000" cy="295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lang="en-US" sz="8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咖啡厅 </a:t>
            </a:r>
            <a:r>
              <a:rPr lang="en-US" sz="7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n. </a:t>
            </a:r>
            <a:r>
              <a:rPr lang="en-US" sz="54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kāfēi tīnɡ </a:t>
            </a:r>
            <a:r>
              <a:rPr lang="en-US" sz="66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coffee shop shop</a:t>
            </a:r>
            <a:endParaRPr sz="88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338" name="Google Shape;338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3019690">
            <a:off x="16979571" y="2348412"/>
            <a:ext cx="1740542" cy="1826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0" descr="A picture containing text, sign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64242" y="2811383"/>
            <a:ext cx="6729413" cy="67294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" name="Google Shape;298;p17">
            <a:extLst>
              <a:ext uri="{FF2B5EF4-FFF2-40B4-BE49-F238E27FC236}">
                <a16:creationId xmlns:a16="http://schemas.microsoft.com/office/drawing/2014/main" id="{A96EFAC9-1F05-EA6B-EA79-898C03617D91}"/>
              </a:ext>
            </a:extLst>
          </p:cNvPr>
          <p:cNvSpPr/>
          <p:nvPr/>
        </p:nvSpPr>
        <p:spPr>
          <a:xfrm>
            <a:off x="1560183" y="3894827"/>
            <a:ext cx="5409369" cy="2105812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299;p17">
            <a:extLst>
              <a:ext uri="{FF2B5EF4-FFF2-40B4-BE49-F238E27FC236}">
                <a16:creationId xmlns:a16="http://schemas.microsoft.com/office/drawing/2014/main" id="{7233544D-4AAE-0193-F907-63158EA3E593}"/>
              </a:ext>
            </a:extLst>
          </p:cNvPr>
          <p:cNvSpPr txBox="1"/>
          <p:nvPr/>
        </p:nvSpPr>
        <p:spPr>
          <a:xfrm>
            <a:off x="2209800" y="4313653"/>
            <a:ext cx="4720100" cy="158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375"/>
              </a:lnSpc>
              <a:buClr>
                <a:srgbClr val="272626"/>
              </a:buClr>
              <a:buSzPts val="3200"/>
            </a:pPr>
            <a:r>
              <a:rPr lang="en-US" altLang="zh-CN" sz="2800" dirty="0" err="1">
                <a:latin typeface="SimSun"/>
                <a:ea typeface="SimSun"/>
                <a:cs typeface="SimSun"/>
                <a:sym typeface="SimSun"/>
              </a:rPr>
              <a:t>qù</a:t>
            </a:r>
            <a:r>
              <a:rPr lang="en-US" altLang="zh-CN" sz="2800" dirty="0"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altLang="zh-CN" sz="2800" dirty="0" err="1">
                <a:latin typeface="SimSun"/>
                <a:ea typeface="SimSun"/>
                <a:cs typeface="SimSun"/>
                <a:sym typeface="SimSun"/>
              </a:rPr>
              <a:t>kāfēitīng</a:t>
            </a:r>
            <a:r>
              <a:rPr lang="en-US" altLang="zh-CN" sz="2800" dirty="0"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altLang="zh-CN" sz="2800" dirty="0" err="1">
                <a:latin typeface="SimSun"/>
                <a:ea typeface="SimSun"/>
                <a:cs typeface="SimSun"/>
                <a:sym typeface="SimSun"/>
              </a:rPr>
              <a:t>hē</a:t>
            </a:r>
            <a:r>
              <a:rPr lang="en-US" altLang="zh-CN" sz="2800" dirty="0"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altLang="zh-CN" sz="2800" dirty="0" err="1">
                <a:latin typeface="SimSun"/>
                <a:ea typeface="SimSun"/>
                <a:cs typeface="SimSun"/>
                <a:sym typeface="SimSun"/>
              </a:rPr>
              <a:t>kā</a:t>
            </a:r>
            <a:r>
              <a:rPr lang="en-US" altLang="zh-CN" sz="2800" dirty="0"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altLang="zh-CN" sz="2800" dirty="0" err="1">
                <a:latin typeface="SimSun"/>
                <a:ea typeface="SimSun"/>
                <a:cs typeface="SimSun"/>
                <a:sym typeface="SimSun"/>
              </a:rPr>
              <a:t>fēi</a:t>
            </a:r>
            <a:endParaRPr lang="en-US" altLang="zh-CN" sz="2800" dirty="0">
              <a:latin typeface="SimSun"/>
              <a:ea typeface="SimSun"/>
              <a:cs typeface="SimSun"/>
              <a:sym typeface="SimSun"/>
            </a:endParaRPr>
          </a:p>
          <a:p>
            <a:pPr lvl="0">
              <a:lnSpc>
                <a:spcPct val="120375"/>
              </a:lnSpc>
              <a:buClr>
                <a:srgbClr val="272626"/>
              </a:buClr>
              <a:buSzPts val="3200"/>
            </a:pPr>
            <a:r>
              <a:rPr lang="zh-CN" altLang="en-US" sz="44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去咖啡厅</a:t>
            </a:r>
            <a:r>
              <a:rPr lang="zh-CN" altLang="en-US" sz="4400" dirty="0">
                <a:latin typeface="SimSun"/>
                <a:ea typeface="SimSun"/>
                <a:cs typeface="SimSun"/>
                <a:sym typeface="SimSun"/>
              </a:rPr>
              <a:t>喝咖啡</a:t>
            </a:r>
            <a:endParaRPr lang="en-US" altLang="zh-CN" sz="4400" dirty="0"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4" name="Google Shape;298;p17">
            <a:extLst>
              <a:ext uri="{FF2B5EF4-FFF2-40B4-BE49-F238E27FC236}">
                <a16:creationId xmlns:a16="http://schemas.microsoft.com/office/drawing/2014/main" id="{58CBC1AC-69AE-9C98-9754-89DB1197E2BC}"/>
              </a:ext>
            </a:extLst>
          </p:cNvPr>
          <p:cNvSpPr/>
          <p:nvPr/>
        </p:nvSpPr>
        <p:spPr>
          <a:xfrm>
            <a:off x="1560183" y="6847740"/>
            <a:ext cx="5409369" cy="2105812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299;p17">
            <a:extLst>
              <a:ext uri="{FF2B5EF4-FFF2-40B4-BE49-F238E27FC236}">
                <a16:creationId xmlns:a16="http://schemas.microsoft.com/office/drawing/2014/main" id="{8E4612A9-71EF-8E2B-FDBE-AFA13B300D7E}"/>
              </a:ext>
            </a:extLst>
          </p:cNvPr>
          <p:cNvSpPr txBox="1"/>
          <p:nvPr/>
        </p:nvSpPr>
        <p:spPr>
          <a:xfrm>
            <a:off x="2209800" y="7266566"/>
            <a:ext cx="4720100" cy="158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375"/>
              </a:lnSpc>
              <a:buClr>
                <a:srgbClr val="272626"/>
              </a:buClr>
              <a:buSzPts val="3200"/>
            </a:pPr>
            <a:r>
              <a:rPr lang="en-US" altLang="zh-CN" sz="2800" dirty="0" err="1">
                <a:latin typeface="SimSun"/>
                <a:ea typeface="SimSun"/>
                <a:cs typeface="SimSun"/>
                <a:sym typeface="SimSun"/>
              </a:rPr>
              <a:t>qù</a:t>
            </a:r>
            <a:r>
              <a:rPr lang="en-US" altLang="zh-CN" sz="2800" dirty="0"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altLang="zh-CN" sz="2800" dirty="0" err="1">
                <a:latin typeface="SimSun"/>
                <a:ea typeface="SimSun"/>
                <a:cs typeface="SimSun"/>
                <a:sym typeface="SimSun"/>
              </a:rPr>
              <a:t>kāfēitīng</a:t>
            </a:r>
            <a:r>
              <a:rPr lang="en-US" altLang="zh-CN" sz="2800" dirty="0"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altLang="zh-CN" sz="2800" dirty="0" err="1">
                <a:latin typeface="SimSun"/>
                <a:ea typeface="SimSun"/>
                <a:cs typeface="SimSun"/>
                <a:sym typeface="SimSun"/>
              </a:rPr>
              <a:t>mǎi</a:t>
            </a:r>
            <a:r>
              <a:rPr lang="en-US" altLang="zh-CN" sz="2800" dirty="0"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altLang="zh-CN" sz="2800" dirty="0" err="1">
                <a:latin typeface="SimSun"/>
                <a:ea typeface="SimSun"/>
                <a:cs typeface="SimSun"/>
                <a:sym typeface="SimSun"/>
              </a:rPr>
              <a:t>kā</a:t>
            </a:r>
            <a:r>
              <a:rPr lang="en-US" altLang="zh-CN" sz="2800" dirty="0"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altLang="zh-CN" sz="2800" dirty="0" err="1">
                <a:latin typeface="SimSun"/>
                <a:ea typeface="SimSun"/>
                <a:cs typeface="SimSun"/>
                <a:sym typeface="SimSun"/>
              </a:rPr>
              <a:t>fēi</a:t>
            </a:r>
            <a:endParaRPr lang="en-US" altLang="zh-CN" sz="2800" dirty="0">
              <a:latin typeface="SimSun"/>
              <a:ea typeface="SimSun"/>
              <a:cs typeface="SimSun"/>
              <a:sym typeface="SimSun"/>
            </a:endParaRPr>
          </a:p>
          <a:p>
            <a:pPr lvl="0">
              <a:lnSpc>
                <a:spcPct val="120375"/>
              </a:lnSpc>
              <a:buClr>
                <a:srgbClr val="272626"/>
              </a:buClr>
              <a:buSzPts val="3200"/>
            </a:pPr>
            <a:r>
              <a:rPr lang="zh-CN" altLang="en-US" sz="44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去咖啡厅</a:t>
            </a:r>
            <a:r>
              <a:rPr lang="zh-CN" altLang="en-US" sz="4400" dirty="0">
                <a:latin typeface="SimSun"/>
                <a:ea typeface="SimSun"/>
                <a:cs typeface="SimSun"/>
                <a:sym typeface="SimSun"/>
              </a:rPr>
              <a:t>买咖啡</a:t>
            </a:r>
            <a:endParaRPr lang="en-US" altLang="zh-CN" sz="4400" dirty="0"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8D9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4764" y="757689"/>
            <a:ext cx="15835036" cy="1871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346207">
            <a:off x="995459" y="51119"/>
            <a:ext cx="1209483" cy="2181035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1"/>
          <p:cNvSpPr txBox="1"/>
          <p:nvPr/>
        </p:nvSpPr>
        <p:spPr>
          <a:xfrm>
            <a:off x="2209800" y="940172"/>
            <a:ext cx="14630400" cy="1754326"/>
          </a:xfrm>
          <a:prstGeom prst="rect">
            <a:avLst/>
          </a:prstGeom>
          <a:solidFill>
            <a:srgbClr val="E1F8D9"/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lang="en-US" sz="95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商店</a:t>
            </a:r>
            <a:r>
              <a:rPr lang="en-US" sz="95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80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n. </a:t>
            </a:r>
            <a:r>
              <a:rPr lang="en-US" sz="60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shānɡdiàn</a:t>
            </a:r>
            <a:r>
              <a:rPr lang="en-US" sz="60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72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shop</a:t>
            </a:r>
            <a:endParaRPr sz="9500" b="0" i="0" u="none" strike="noStrike" cap="none" dirty="0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347" name="Google Shape;347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3019690">
            <a:off x="16884330" y="1806689"/>
            <a:ext cx="1740542" cy="1826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1" descr="A picture containing text, indoor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44000" y="3134404"/>
            <a:ext cx="6067058" cy="594865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D04B52CD-8597-9ACF-0C8C-80C6661BB9D5}"/>
              </a:ext>
            </a:extLst>
          </p:cNvPr>
          <p:cNvSpPr txBox="1"/>
          <p:nvPr/>
        </p:nvSpPr>
        <p:spPr>
          <a:xfrm>
            <a:off x="1073179" y="5143500"/>
            <a:ext cx="678594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 err="1">
                <a:latin typeface="SimSun" panose="02010600030101010101" pitchFamily="2" charset="-122"/>
                <a:ea typeface="SimSun" panose="02010600030101010101" pitchFamily="2" charset="-122"/>
              </a:rPr>
              <a:t>tā</a:t>
            </a:r>
            <a:r>
              <a:rPr lang="en-US" altLang="zh-CN" sz="36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sz="3600" dirty="0" err="1">
                <a:latin typeface="SimSun" panose="02010600030101010101" pitchFamily="2" charset="-122"/>
                <a:ea typeface="SimSun" panose="02010600030101010101" pitchFamily="2" charset="-122"/>
              </a:rPr>
              <a:t>qù</a:t>
            </a:r>
            <a:r>
              <a:rPr lang="en-US" altLang="zh-CN" sz="36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sz="3600" dirty="0" err="1">
                <a:latin typeface="SimSun" panose="02010600030101010101" pitchFamily="2" charset="-122"/>
                <a:ea typeface="SimSun" panose="02010600030101010101" pitchFamily="2" charset="-122"/>
              </a:rPr>
              <a:t>shāngdiàn</a:t>
            </a:r>
            <a:r>
              <a:rPr lang="en-US" altLang="zh-CN" sz="36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sz="3600" dirty="0" err="1">
                <a:latin typeface="SimSun" panose="02010600030101010101" pitchFamily="2" charset="-122"/>
                <a:ea typeface="SimSun" panose="02010600030101010101" pitchFamily="2" charset="-122"/>
              </a:rPr>
              <a:t>mǎi</a:t>
            </a:r>
            <a:r>
              <a:rPr lang="en-US" altLang="zh-CN" sz="36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sz="3600" dirty="0" err="1">
                <a:latin typeface="SimSun" panose="02010600030101010101" pitchFamily="2" charset="-122"/>
                <a:ea typeface="SimSun" panose="02010600030101010101" pitchFamily="2" charset="-122"/>
              </a:rPr>
              <a:t>shuǐ</a:t>
            </a:r>
            <a:endParaRPr lang="en-US" altLang="zh-CN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他去  商店    买  水 。</a:t>
            </a:r>
            <a:endParaRPr lang="en-US" sz="44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8D9"/>
        </a:solidFill>
        <a:effectLst/>
      </p:bgPr>
    </p:bg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4764" y="757689"/>
            <a:ext cx="15835036" cy="1871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346207">
            <a:off x="995459" y="51119"/>
            <a:ext cx="1209483" cy="218103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2"/>
          <p:cNvSpPr txBox="1"/>
          <p:nvPr/>
        </p:nvSpPr>
        <p:spPr>
          <a:xfrm>
            <a:off x="2209800" y="940172"/>
            <a:ext cx="14630400" cy="3083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lang="en-US" sz="95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复印店 </a:t>
            </a:r>
            <a:r>
              <a:rPr lang="en-US" sz="80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n. </a:t>
            </a:r>
            <a:r>
              <a:rPr lang="en-US" sz="60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fùyìn diàn </a:t>
            </a:r>
            <a:r>
              <a:rPr lang="en-US" sz="7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copy center</a:t>
            </a:r>
            <a:endParaRPr sz="95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356" name="Google Shape;356;p2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3019690">
            <a:off x="16274729" y="1488659"/>
            <a:ext cx="1740542" cy="1826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2" descr="A picture containing diagram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88794" y="2811383"/>
            <a:ext cx="7110412" cy="71104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8D9"/>
        </a:solidFill>
        <a:effectLst/>
      </p:bgPr>
    </p:bg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4764" y="757689"/>
            <a:ext cx="15835036" cy="1871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346207">
            <a:off x="995459" y="51119"/>
            <a:ext cx="1209483" cy="2181035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23"/>
          <p:cNvSpPr txBox="1"/>
          <p:nvPr/>
        </p:nvSpPr>
        <p:spPr>
          <a:xfrm>
            <a:off x="2209800" y="940172"/>
            <a:ext cx="146304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lang="en-US" sz="95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餐厅 </a:t>
            </a:r>
            <a:r>
              <a:rPr lang="en-US" sz="80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n. </a:t>
            </a:r>
            <a:r>
              <a:rPr lang="en-US" sz="60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cāntīnɡ </a:t>
            </a:r>
            <a:r>
              <a:rPr lang="en-US" sz="7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restaurant</a:t>
            </a:r>
            <a:endParaRPr sz="95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365" name="Google Shape;365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3019690">
            <a:off x="16274729" y="1488659"/>
            <a:ext cx="1740542" cy="1826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23" descr="A picture containing graphical user interface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54796" y="3085922"/>
            <a:ext cx="6131535" cy="619048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E3716C2-EF88-9B78-A315-D7C3AEFC29AB}"/>
              </a:ext>
            </a:extLst>
          </p:cNvPr>
          <p:cNvSpPr txBox="1"/>
          <p:nvPr/>
        </p:nvSpPr>
        <p:spPr>
          <a:xfrm>
            <a:off x="1073179" y="5143500"/>
            <a:ext cx="845768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 err="1">
                <a:latin typeface="SimSun" panose="02010600030101010101" pitchFamily="2" charset="-122"/>
                <a:ea typeface="SimSun" panose="02010600030101010101" pitchFamily="2" charset="-122"/>
              </a:rPr>
              <a:t>zhōngwǔ</a:t>
            </a:r>
            <a:r>
              <a:rPr lang="en-US" altLang="zh-CN" sz="36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sz="3600" dirty="0" err="1">
                <a:latin typeface="SimSun" panose="02010600030101010101" pitchFamily="2" charset="-122"/>
                <a:ea typeface="SimSun" panose="02010600030101010101" pitchFamily="2" charset="-122"/>
              </a:rPr>
              <a:t>wǒmen</a:t>
            </a:r>
            <a:r>
              <a:rPr lang="en-US" altLang="zh-CN" sz="36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sz="3600" dirty="0" err="1">
                <a:latin typeface="SimSun" panose="02010600030101010101" pitchFamily="2" charset="-122"/>
                <a:ea typeface="SimSun" panose="02010600030101010101" pitchFamily="2" charset="-122"/>
              </a:rPr>
              <a:t>qù</a:t>
            </a:r>
            <a:r>
              <a:rPr lang="en-US" altLang="zh-CN" sz="36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sz="3600" dirty="0" err="1">
                <a:latin typeface="SimSun" panose="02010600030101010101" pitchFamily="2" charset="-122"/>
                <a:ea typeface="SimSun" panose="02010600030101010101" pitchFamily="2" charset="-122"/>
              </a:rPr>
              <a:t>cāntīng</a:t>
            </a:r>
            <a:r>
              <a:rPr lang="en-US" altLang="zh-CN" sz="36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sz="3600" dirty="0" err="1">
                <a:latin typeface="SimSun" panose="02010600030101010101" pitchFamily="2" charset="-122"/>
                <a:ea typeface="SimSun" panose="02010600030101010101" pitchFamily="2" charset="-122"/>
              </a:rPr>
              <a:t>chīfàn</a:t>
            </a:r>
            <a:endParaRPr lang="en-US" altLang="zh-CN" sz="36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中午   我们 去餐厅   吃饭 。</a:t>
            </a:r>
            <a:endParaRPr lang="en-US" sz="44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8D9"/>
        </a:solidFill>
        <a:effectLst/>
      </p:bgPr>
    </p:bg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1" name="Google Shape;371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4764" y="757689"/>
            <a:ext cx="15835036" cy="1871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346207">
            <a:off x="995459" y="51119"/>
            <a:ext cx="1209483" cy="2181035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4"/>
          <p:cNvSpPr txBox="1"/>
          <p:nvPr/>
        </p:nvSpPr>
        <p:spPr>
          <a:xfrm>
            <a:off x="2209800" y="940172"/>
            <a:ext cx="146304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lang="en-US" sz="95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体育馆 </a:t>
            </a:r>
            <a:r>
              <a:rPr lang="en-US" sz="80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n. </a:t>
            </a:r>
            <a:r>
              <a:rPr lang="en-US" sz="60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tǐyùɡuǎn </a:t>
            </a:r>
            <a:r>
              <a:rPr lang="en-US" sz="7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stadium</a:t>
            </a:r>
            <a:endParaRPr sz="95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374" name="Google Shape;374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3019690">
            <a:off x="16274729" y="1488659"/>
            <a:ext cx="1740542" cy="1826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24" descr="A picture containing road, way, highway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10200" y="2811383"/>
            <a:ext cx="7034212" cy="70342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8D9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Google Shape;380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4764" y="266700"/>
            <a:ext cx="15835036" cy="3299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346207">
            <a:off x="995459" y="51119"/>
            <a:ext cx="1209483" cy="2181035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25"/>
          <p:cNvSpPr txBox="1"/>
          <p:nvPr/>
        </p:nvSpPr>
        <p:spPr>
          <a:xfrm>
            <a:off x="2209800" y="385311"/>
            <a:ext cx="15240000" cy="3504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lang="en-US" sz="95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足球场 </a:t>
            </a:r>
            <a:r>
              <a:rPr lang="en-US" sz="80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n. </a:t>
            </a:r>
            <a:r>
              <a:rPr lang="en-US" sz="60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zúqiú chǎnɡ 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SimSun"/>
              <a:buNone/>
            </a:pPr>
            <a:r>
              <a:rPr lang="en-US" sz="7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football field</a:t>
            </a:r>
            <a:endParaRPr sz="95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383" name="Google Shape;383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3019690">
            <a:off x="16274729" y="997670"/>
            <a:ext cx="1740542" cy="1826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25" descr="A picture containing sky, outdoor, sport, athletic game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45994" y="3566492"/>
            <a:ext cx="6196012" cy="61960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8D9"/>
        </a:solidFill>
        <a:effectLst/>
      </p:bgPr>
    </p:bg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4764" y="757690"/>
            <a:ext cx="15835036" cy="1884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346207">
            <a:off x="995459" y="51119"/>
            <a:ext cx="1209483" cy="2181035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26"/>
          <p:cNvSpPr txBox="1"/>
          <p:nvPr/>
        </p:nvSpPr>
        <p:spPr>
          <a:xfrm>
            <a:off x="2895600" y="952500"/>
            <a:ext cx="13182600" cy="3083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lang="en-US" sz="95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健身房 </a:t>
            </a:r>
            <a:r>
              <a:rPr lang="en-US" sz="80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n. </a:t>
            </a:r>
            <a:r>
              <a:rPr lang="en-US" sz="60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jiànshēnfánɡ Gym </a:t>
            </a:r>
            <a:r>
              <a:rPr lang="en-US" sz="7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fitness</a:t>
            </a:r>
            <a:endParaRPr sz="95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392" name="Google Shape;392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3019690">
            <a:off x="16274729" y="1488659"/>
            <a:ext cx="1740542" cy="1826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26" descr="A picture containing text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64994" y="2836936"/>
            <a:ext cx="6958012" cy="69580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8D9"/>
        </a:solidFill>
        <a:effectLst/>
      </p:bgPr>
    </p:bg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Google Shape;398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4764" y="757689"/>
            <a:ext cx="13001072" cy="1871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346207">
            <a:off x="1390557" y="-332827"/>
            <a:ext cx="1209483" cy="2181035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27"/>
          <p:cNvSpPr txBox="1"/>
          <p:nvPr/>
        </p:nvSpPr>
        <p:spPr>
          <a:xfrm>
            <a:off x="2667000" y="940172"/>
            <a:ext cx="11948836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lang="en-US" sz="95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附近  </a:t>
            </a:r>
            <a:r>
              <a:rPr lang="en-US" sz="80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adv. </a:t>
            </a:r>
            <a:r>
              <a:rPr lang="en-US" sz="60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fùjìn</a:t>
            </a:r>
            <a:r>
              <a:rPr lang="en-US" sz="7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nearby</a:t>
            </a:r>
            <a:endParaRPr sz="95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401" name="Google Shape;401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3019690">
            <a:off x="13745564" y="1510216"/>
            <a:ext cx="1740542" cy="1826905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7"/>
          <p:cNvSpPr/>
          <p:nvPr/>
        </p:nvSpPr>
        <p:spPr>
          <a:xfrm>
            <a:off x="1930400" y="7421513"/>
            <a:ext cx="14102698" cy="2505997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403" name="Google Shape;403;p27"/>
          <p:cNvSpPr txBox="1"/>
          <p:nvPr/>
        </p:nvSpPr>
        <p:spPr>
          <a:xfrm>
            <a:off x="3047211" y="7744454"/>
            <a:ext cx="12421389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Xuéxiào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fùjìn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yǒu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shānɡdiàn</a:t>
            </a:r>
            <a:r>
              <a:rPr lang="en-US" sz="3200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hé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cāntīnɡ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4000"/>
              <a:buFont typeface="Arial"/>
              <a:buNone/>
            </a:pPr>
            <a:r>
              <a:rPr lang="en-US" sz="40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学校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4000" b="1" i="0" u="none" strike="noStrike" cap="none" dirty="0" err="1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附近</a:t>
            </a:r>
            <a:r>
              <a:rPr lang="en-US" sz="4000" b="1" i="0" u="none" strike="noStrike" cap="none" dirty="0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有	 </a:t>
            </a:r>
            <a:r>
              <a:rPr lang="en-US" sz="40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商店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	 和  </a:t>
            </a:r>
            <a:r>
              <a:rPr lang="en-US" sz="40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餐厅</a:t>
            </a:r>
            <a:r>
              <a:rPr lang="en-US" sz="40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。</a:t>
            </a:r>
            <a:endParaRPr sz="4000" b="0" i="0" u="none" strike="noStrike" cap="none" dirty="0">
              <a:solidFill>
                <a:srgbClr val="272626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Near the school there is a shop</a:t>
            </a:r>
            <a:r>
              <a:rPr lang="en-US" sz="3200" dirty="0"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2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and a restaurant.</a:t>
            </a:r>
            <a:endParaRPr sz="1400" b="0" i="0" u="none" strike="noStrike" cap="none" dirty="0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404" name="Google Shape;404;p27" descr="A picture containing graphical user interface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273922" y="4438765"/>
            <a:ext cx="3125284" cy="312528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405" name="Google Shape;405;p27" descr="A picture containing text, indoor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472742" y="3583207"/>
            <a:ext cx="3335574" cy="333557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407" name="Google Shape;407;p27" descr="A picture containing diagram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599388" y="2865487"/>
            <a:ext cx="6101603" cy="461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8D9"/>
        </a:solidFill>
        <a:effectLst/>
      </p:bgPr>
    </p:bg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Google Shape;412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4764" y="757690"/>
            <a:ext cx="15835036" cy="1884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346207">
            <a:off x="995459" y="51119"/>
            <a:ext cx="1209483" cy="2181035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28"/>
          <p:cNvSpPr txBox="1"/>
          <p:nvPr/>
        </p:nvSpPr>
        <p:spPr>
          <a:xfrm>
            <a:off x="2895600" y="952500"/>
            <a:ext cx="131826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lang="en-US" sz="95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身体 </a:t>
            </a:r>
            <a:r>
              <a:rPr lang="en-US" sz="80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n. </a:t>
            </a:r>
            <a:r>
              <a:rPr lang="en-US" sz="60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shēntǐ </a:t>
            </a:r>
            <a:r>
              <a:rPr lang="en-US" sz="7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body; health</a:t>
            </a:r>
            <a:endParaRPr sz="95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415" name="Google Shape;415;p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3019690">
            <a:off x="16274729" y="1488659"/>
            <a:ext cx="1740542" cy="1826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28" descr="A picture containing toy, doll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 b="5380"/>
          <a:stretch/>
        </p:blipFill>
        <p:spPr>
          <a:xfrm>
            <a:off x="10093569" y="3851723"/>
            <a:ext cx="5984631" cy="486800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58F47D7E-33B7-F731-8DDA-EF26CBD42B90}"/>
              </a:ext>
            </a:extLst>
          </p:cNvPr>
          <p:cNvSpPr txBox="1"/>
          <p:nvPr/>
        </p:nvSpPr>
        <p:spPr>
          <a:xfrm>
            <a:off x="1776046" y="6856900"/>
            <a:ext cx="845768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dirty="0" err="1">
                <a:latin typeface="SimSun" panose="02010600030101010101" pitchFamily="2" charset="-122"/>
                <a:ea typeface="SimSun" panose="02010600030101010101" pitchFamily="2" charset="-122"/>
              </a:rPr>
              <a:t>bàba</a:t>
            </a:r>
            <a:r>
              <a:rPr lang="en-US" altLang="zh-CN" sz="44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sz="4400" dirty="0" err="1">
                <a:latin typeface="SimSun" panose="02010600030101010101" pitchFamily="2" charset="-122"/>
                <a:ea typeface="SimSun" panose="02010600030101010101" pitchFamily="2" charset="-122"/>
              </a:rPr>
              <a:t>shēntǐ</a:t>
            </a:r>
            <a:r>
              <a:rPr lang="en-US" altLang="zh-CN" sz="44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sz="4400" dirty="0" err="1">
                <a:latin typeface="SimSun" panose="02010600030101010101" pitchFamily="2" charset="-122"/>
                <a:ea typeface="SimSun" panose="02010600030101010101" pitchFamily="2" charset="-122"/>
              </a:rPr>
              <a:t>hěnhǎo</a:t>
            </a:r>
            <a:endParaRPr lang="en-US" altLang="zh-CN" sz="4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爸爸  身体  很好。</a:t>
            </a:r>
            <a:endParaRPr lang="en-US" sz="44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80FF6C0-6B45-54A3-1A9B-BF03936A12AC}"/>
              </a:ext>
            </a:extLst>
          </p:cNvPr>
          <p:cNvSpPr txBox="1"/>
          <p:nvPr/>
        </p:nvSpPr>
        <p:spPr>
          <a:xfrm>
            <a:off x="1416338" y="3851723"/>
            <a:ext cx="845768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 dirty="0" err="1">
                <a:latin typeface="SimSun" panose="02010600030101010101" pitchFamily="2" charset="-122"/>
                <a:ea typeface="SimSun" panose="02010600030101010101" pitchFamily="2" charset="-122"/>
              </a:rPr>
              <a:t>bàba</a:t>
            </a:r>
            <a:r>
              <a:rPr lang="en-US" altLang="zh-CN" sz="44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sz="4400" dirty="0" err="1">
                <a:latin typeface="SimSun" panose="02010600030101010101" pitchFamily="2" charset="-122"/>
                <a:ea typeface="SimSun" panose="02010600030101010101" pitchFamily="2" charset="-122"/>
              </a:rPr>
              <a:t>shēntǐ</a:t>
            </a:r>
            <a:r>
              <a:rPr lang="en-US" altLang="zh-CN" sz="44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en-US" altLang="zh-CN" sz="4400" dirty="0" err="1">
                <a:latin typeface="SimSun" panose="02010600030101010101" pitchFamily="2" charset="-122"/>
                <a:ea typeface="SimSun" panose="02010600030101010101" pitchFamily="2" charset="-122"/>
              </a:rPr>
              <a:t>zěnmeyàng</a:t>
            </a:r>
            <a:r>
              <a:rPr lang="en-US" altLang="zh-CN" sz="4400" dirty="0">
                <a:latin typeface="SimSun" panose="02010600030101010101" pitchFamily="2" charset="-122"/>
                <a:ea typeface="SimSun" panose="02010600030101010101" pitchFamily="2" charset="-122"/>
              </a:rPr>
              <a:t> </a:t>
            </a:r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？</a:t>
            </a:r>
            <a:endParaRPr lang="en-US" altLang="zh-CN" sz="44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4400" dirty="0">
                <a:latin typeface="SimSun" panose="02010600030101010101" pitchFamily="2" charset="-122"/>
                <a:ea typeface="SimSun" panose="02010600030101010101" pitchFamily="2" charset="-122"/>
              </a:rPr>
              <a:t>爸爸  身体   怎么样？</a:t>
            </a:r>
            <a:endParaRPr lang="en-US" sz="44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8D9"/>
        </a:solidFill>
        <a:effectLst/>
      </p:bgPr>
    </p:bg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4764" y="757690"/>
            <a:ext cx="15835036" cy="1884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346207">
            <a:off x="995459" y="51119"/>
            <a:ext cx="1209483" cy="2181035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29"/>
          <p:cNvSpPr txBox="1"/>
          <p:nvPr/>
        </p:nvSpPr>
        <p:spPr>
          <a:xfrm>
            <a:off x="2895600" y="952500"/>
            <a:ext cx="131826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lang="en-US" sz="95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锻炼</a:t>
            </a:r>
            <a:r>
              <a:rPr lang="en-US" sz="95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 </a:t>
            </a:r>
            <a:r>
              <a:rPr lang="en-US" sz="80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v. </a:t>
            </a:r>
            <a:r>
              <a:rPr lang="en-US" sz="60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duànliàn</a:t>
            </a:r>
            <a:r>
              <a:rPr lang="en-US" sz="60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72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to exercise</a:t>
            </a:r>
            <a:endParaRPr sz="95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pic>
        <p:nvPicPr>
          <p:cNvPr id="424" name="Google Shape;424;p2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3019690">
            <a:off x="16274729" y="1488659"/>
            <a:ext cx="1740542" cy="1826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29" descr="A picture containing sport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181492" y="2723698"/>
            <a:ext cx="6805612" cy="68056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426" name="Google Shape;426;p29"/>
          <p:cNvSpPr/>
          <p:nvPr/>
        </p:nvSpPr>
        <p:spPr>
          <a:xfrm>
            <a:off x="2496987" y="6571399"/>
            <a:ext cx="5609521" cy="1895172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9"/>
          <p:cNvSpPr txBox="1"/>
          <p:nvPr/>
        </p:nvSpPr>
        <p:spPr>
          <a:xfrm>
            <a:off x="2496987" y="6693778"/>
            <a:ext cx="5979298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375"/>
              </a:lnSpc>
              <a:buClr>
                <a:srgbClr val="272626"/>
              </a:buClr>
              <a:buSzPts val="3200"/>
            </a:pPr>
            <a:r>
              <a:rPr lang="en-US" altLang="zh-CN" sz="3200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nǐ</a:t>
            </a:r>
            <a:r>
              <a:rPr lang="en-US" altLang="zh-CN" sz="3200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altLang="zh-CN" sz="3200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xǐhuan</a:t>
            </a:r>
            <a:r>
              <a:rPr lang="en-US" altLang="zh-CN" sz="3200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altLang="zh-CN" sz="3200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d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uànliàn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shēntǐ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altLang="zh-CN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ma</a:t>
            </a:r>
            <a:endParaRPr sz="3200" b="0" i="0" u="none" strike="noStrike" cap="none" dirty="0">
              <a:solidFill>
                <a:srgbClr val="272626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zh-CN" altLang="en-US" sz="4000" dirty="0">
                <a:solidFill>
                  <a:schemeClr val="dk1"/>
                </a:solidFill>
                <a:latin typeface="SimSun"/>
                <a:ea typeface="SimSun"/>
                <a:sym typeface="SimSun"/>
              </a:rPr>
              <a:t>你喜欢  </a:t>
            </a:r>
            <a:r>
              <a:rPr lang="en-US" sz="4000" b="1" i="0" u="none" strike="noStrike" cap="none" dirty="0" err="1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锻炼</a:t>
            </a:r>
            <a:r>
              <a:rPr lang="en-US" sz="4000" b="1" i="0" u="none" strike="noStrike" cap="none" dirty="0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身体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zh-CN" altLang="en-US" sz="4000" b="0" i="0" u="none" strike="noStrike" cap="none" dirty="0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吗？</a:t>
            </a:r>
            <a:endParaRPr sz="4000" b="0" i="0" u="none" strike="noStrike" cap="none" dirty="0">
              <a:solidFill>
                <a:schemeClr val="dk1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2" name="Google Shape;426;p29">
            <a:extLst>
              <a:ext uri="{FF2B5EF4-FFF2-40B4-BE49-F238E27FC236}">
                <a16:creationId xmlns:a16="http://schemas.microsoft.com/office/drawing/2014/main" id="{1494B772-4AA0-F515-9737-8CBB410263CA}"/>
              </a:ext>
            </a:extLst>
          </p:cNvPr>
          <p:cNvSpPr/>
          <p:nvPr/>
        </p:nvSpPr>
        <p:spPr>
          <a:xfrm>
            <a:off x="3090291" y="3248328"/>
            <a:ext cx="4200450" cy="1895172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427;p29">
            <a:extLst>
              <a:ext uri="{FF2B5EF4-FFF2-40B4-BE49-F238E27FC236}">
                <a16:creationId xmlns:a16="http://schemas.microsoft.com/office/drawing/2014/main" id="{72DC1315-5BAD-7B1E-2DBB-0616480CFB4E}"/>
              </a:ext>
            </a:extLst>
          </p:cNvPr>
          <p:cNvSpPr txBox="1"/>
          <p:nvPr/>
        </p:nvSpPr>
        <p:spPr>
          <a:xfrm>
            <a:off x="3546990" y="3370707"/>
            <a:ext cx="3620659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Duànliàn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2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shēntǐ</a:t>
            </a:r>
            <a:endParaRPr sz="3200" b="0" i="0" u="none" strike="noStrike" cap="none" dirty="0">
              <a:solidFill>
                <a:srgbClr val="272626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000" b="1" i="0" u="none" strike="noStrike" cap="none" dirty="0" err="1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锻炼</a:t>
            </a:r>
            <a:r>
              <a:rPr lang="en-US" sz="4000" b="1" i="0" u="none" strike="noStrike" cap="none" dirty="0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  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身体</a:t>
            </a:r>
            <a:endParaRPr sz="4000" b="0" i="0" u="none" strike="noStrike" cap="none" dirty="0">
              <a:solidFill>
                <a:schemeClr val="dk1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To exercise</a:t>
            </a:r>
            <a:endParaRPr sz="1400" b="0" i="0" u="none" strike="noStrike" cap="none" dirty="0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8D9"/>
        </a:solidFill>
        <a:effectLst/>
      </p:bgPr>
    </p:bg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4764" y="266700"/>
            <a:ext cx="15835036" cy="1884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346207">
            <a:off x="1010022" y="-167057"/>
            <a:ext cx="1209483" cy="2181035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0"/>
          <p:cNvSpPr txBox="1"/>
          <p:nvPr/>
        </p:nvSpPr>
        <p:spPr>
          <a:xfrm>
            <a:off x="2895600" y="461510"/>
            <a:ext cx="131826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lang="en-US" sz="95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里边 </a:t>
            </a:r>
            <a:r>
              <a:rPr lang="en-US" sz="80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n. </a:t>
            </a:r>
            <a:r>
              <a:rPr lang="en-US" sz="60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lǐbiɑn </a:t>
            </a:r>
            <a:r>
              <a:rPr lang="en-US" sz="7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inside</a:t>
            </a:r>
            <a:endParaRPr sz="95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435" name="Google Shape;435;p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3019690">
            <a:off x="16274729" y="997669"/>
            <a:ext cx="1740542" cy="1826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02955" y="2410646"/>
            <a:ext cx="7283376" cy="728337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" name="Google Shape;426;p29">
            <a:extLst>
              <a:ext uri="{FF2B5EF4-FFF2-40B4-BE49-F238E27FC236}">
                <a16:creationId xmlns:a16="http://schemas.microsoft.com/office/drawing/2014/main" id="{901E27F1-A586-904C-E712-04582FB65AE4}"/>
              </a:ext>
            </a:extLst>
          </p:cNvPr>
          <p:cNvSpPr/>
          <p:nvPr/>
        </p:nvSpPr>
        <p:spPr>
          <a:xfrm>
            <a:off x="3090291" y="3248328"/>
            <a:ext cx="4200450" cy="1895172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427;p29">
            <a:extLst>
              <a:ext uri="{FF2B5EF4-FFF2-40B4-BE49-F238E27FC236}">
                <a16:creationId xmlns:a16="http://schemas.microsoft.com/office/drawing/2014/main" id="{ACF4A411-844A-87EB-160E-38AA3CF79B0F}"/>
              </a:ext>
            </a:extLst>
          </p:cNvPr>
          <p:cNvSpPr txBox="1"/>
          <p:nvPr/>
        </p:nvSpPr>
        <p:spPr>
          <a:xfrm>
            <a:off x="2607458" y="3248328"/>
            <a:ext cx="5995497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20375"/>
              </a:lnSpc>
              <a:buSzPts val="3200"/>
            </a:pPr>
            <a:r>
              <a:rPr lang="en-US" altLang="zh-CN" sz="4400" dirty="0" err="1">
                <a:latin typeface="SimSun"/>
                <a:ea typeface="SimSun"/>
                <a:cs typeface="SimSun"/>
                <a:sym typeface="SimSun"/>
              </a:rPr>
              <a:t>shítáng</a:t>
            </a:r>
            <a:r>
              <a:rPr lang="en-US" altLang="zh-CN" sz="4400" dirty="0"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altLang="zh-CN" sz="4400" dirty="0" err="1">
                <a:latin typeface="SimSun"/>
                <a:ea typeface="SimSun"/>
                <a:cs typeface="SimSun"/>
                <a:sym typeface="SimSun"/>
              </a:rPr>
              <a:t>lǐ</a:t>
            </a:r>
            <a:r>
              <a:rPr lang="en-US" altLang="zh-CN" sz="4400" dirty="0"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altLang="zh-CN" sz="4400" dirty="0" err="1">
                <a:latin typeface="SimSun"/>
                <a:ea typeface="SimSun"/>
                <a:cs typeface="SimSun"/>
                <a:sym typeface="SimSun"/>
              </a:rPr>
              <a:t>bian</a:t>
            </a:r>
            <a:endParaRPr lang="en-US" altLang="zh-CN" sz="4400" dirty="0">
              <a:latin typeface="SimSun"/>
              <a:ea typeface="SimSun"/>
              <a:cs typeface="SimSun"/>
              <a:sym typeface="SimSun"/>
            </a:endParaRPr>
          </a:p>
          <a:p>
            <a:pPr lvl="0">
              <a:lnSpc>
                <a:spcPct val="120375"/>
              </a:lnSpc>
              <a:buSzPts val="3200"/>
            </a:pPr>
            <a:r>
              <a:rPr lang="zh-CN" altLang="en-US" sz="44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  食堂    里边</a:t>
            </a:r>
            <a:endParaRPr sz="4400" b="0" i="0" u="none" strike="noStrike" cap="none" dirty="0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4" name="Google Shape;426;p29">
            <a:extLst>
              <a:ext uri="{FF2B5EF4-FFF2-40B4-BE49-F238E27FC236}">
                <a16:creationId xmlns:a16="http://schemas.microsoft.com/office/drawing/2014/main" id="{51380221-9597-F7CA-6E9B-969D10B7558A}"/>
              </a:ext>
            </a:extLst>
          </p:cNvPr>
          <p:cNvSpPr/>
          <p:nvPr/>
        </p:nvSpPr>
        <p:spPr>
          <a:xfrm>
            <a:off x="2923487" y="7712307"/>
            <a:ext cx="4200450" cy="1895172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427;p29">
            <a:extLst>
              <a:ext uri="{FF2B5EF4-FFF2-40B4-BE49-F238E27FC236}">
                <a16:creationId xmlns:a16="http://schemas.microsoft.com/office/drawing/2014/main" id="{9D85DFD7-267D-33AF-A5A8-BD4E12ECB83F}"/>
              </a:ext>
            </a:extLst>
          </p:cNvPr>
          <p:cNvSpPr txBox="1"/>
          <p:nvPr/>
        </p:nvSpPr>
        <p:spPr>
          <a:xfrm>
            <a:off x="3380186" y="7834686"/>
            <a:ext cx="3620659" cy="1403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375"/>
              </a:lnSpc>
              <a:buClr>
                <a:srgbClr val="272626"/>
              </a:buClr>
              <a:buSzPts val="3200"/>
            </a:pPr>
            <a:r>
              <a:rPr lang="en-US" sz="3200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xué</a:t>
            </a:r>
            <a:r>
              <a:rPr lang="en-US" sz="3200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200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xiào</a:t>
            </a:r>
            <a:r>
              <a:rPr lang="en-US" sz="3200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200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lǐ</a:t>
            </a:r>
            <a:r>
              <a:rPr lang="en-US" sz="3200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200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bian</a:t>
            </a:r>
            <a:r>
              <a:rPr lang="en-US" sz="3200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2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zh-CN" altLang="en-US" sz="4400" i="0" u="none" strike="noStrike" cap="none" dirty="0">
                <a:solidFill>
                  <a:schemeClr val="tx1"/>
                </a:solidFill>
                <a:latin typeface="SimSun"/>
                <a:ea typeface="SimSun"/>
                <a:cs typeface="SimSun"/>
                <a:sym typeface="SimSun"/>
              </a:rPr>
              <a:t>学校  里边</a:t>
            </a:r>
            <a:endParaRPr lang="en-US" altLang="zh-CN" sz="4400" i="0" u="none" strike="noStrike" cap="none" dirty="0">
              <a:solidFill>
                <a:schemeClr val="tx1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8D9"/>
        </a:solidFill>
        <a:effectLst/>
      </p:bgPr>
    </p:bg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Google Shape;441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4764" y="757690"/>
            <a:ext cx="15835036" cy="1884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346207">
            <a:off x="995459" y="51119"/>
            <a:ext cx="1209483" cy="2181035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31"/>
          <p:cNvSpPr txBox="1"/>
          <p:nvPr/>
        </p:nvSpPr>
        <p:spPr>
          <a:xfrm>
            <a:off x="2895600" y="952500"/>
            <a:ext cx="131826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lang="en-US" sz="95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中间 </a:t>
            </a:r>
            <a:r>
              <a:rPr lang="en-US" sz="80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n. </a:t>
            </a:r>
            <a:r>
              <a:rPr lang="en-US" sz="60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zhōnɡjiān </a:t>
            </a:r>
            <a:r>
              <a:rPr lang="en-US" sz="7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middle</a:t>
            </a:r>
            <a:endParaRPr sz="95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444" name="Google Shape;444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3019690">
            <a:off x="16274729" y="1488659"/>
            <a:ext cx="1740542" cy="1826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31" descr="Company name&#10;&#10;Description automatically generated with medium confidenc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73860" y="2836936"/>
            <a:ext cx="7034212" cy="70342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8D9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" name="Google Shape;450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4764" y="757690"/>
            <a:ext cx="15835036" cy="1884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346207">
            <a:off x="995459" y="51119"/>
            <a:ext cx="1209483" cy="2181035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32"/>
          <p:cNvSpPr txBox="1"/>
          <p:nvPr/>
        </p:nvSpPr>
        <p:spPr>
          <a:xfrm>
            <a:off x="2895600" y="952500"/>
            <a:ext cx="131826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lang="en-US" sz="95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当然 </a:t>
            </a:r>
            <a:r>
              <a:rPr lang="en-US" sz="80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adv. </a:t>
            </a:r>
            <a:r>
              <a:rPr lang="en-US" sz="60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dānɡrán </a:t>
            </a:r>
            <a:r>
              <a:rPr lang="en-US" sz="7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of course</a:t>
            </a:r>
            <a:endParaRPr sz="95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453" name="Google Shape;453;p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3019690">
            <a:off x="16274729" y="1488659"/>
            <a:ext cx="1740542" cy="1826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32" descr="A picture containing text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200400" y="3172741"/>
            <a:ext cx="5815012" cy="58150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455" name="Google Shape;455;p32"/>
          <p:cNvSpPr/>
          <p:nvPr/>
        </p:nvSpPr>
        <p:spPr>
          <a:xfrm>
            <a:off x="10020090" y="5136445"/>
            <a:ext cx="4629637" cy="2088814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32"/>
          <p:cNvSpPr txBox="1"/>
          <p:nvPr/>
        </p:nvSpPr>
        <p:spPr>
          <a:xfrm>
            <a:off x="10599882" y="5345847"/>
            <a:ext cx="4200450" cy="1654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375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3200" b="0" i="0" u="none" strike="noStrike" cap="none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 Dānɡrán  kěyǐ.    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3200" b="1" i="0" u="none" strike="noStrike" cap="none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0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当然	</a:t>
            </a:r>
            <a:r>
              <a:rPr lang="en-US" sz="40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 可以。</a:t>
            </a:r>
            <a:r>
              <a:rPr lang="en-US" sz="3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Yes, of course.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8D9"/>
        </a:solidFill>
        <a:effectLst/>
      </p:bgPr>
    </p:bg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" name="Google Shape;461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89859" y="579974"/>
            <a:ext cx="15301636" cy="1871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346207">
            <a:off x="1390558" y="59250"/>
            <a:ext cx="1209483" cy="2181035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33"/>
          <p:cNvSpPr txBox="1"/>
          <p:nvPr/>
        </p:nvSpPr>
        <p:spPr>
          <a:xfrm>
            <a:off x="2642095" y="762457"/>
            <a:ext cx="132588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lang="en-US" sz="95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概数 </a:t>
            </a:r>
            <a:r>
              <a:rPr lang="en-US" sz="7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Approximate number</a:t>
            </a:r>
            <a:endParaRPr sz="95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464" name="Google Shape;464;p3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3019690">
            <a:off x="15778060" y="1394566"/>
            <a:ext cx="1740542" cy="1826905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33"/>
          <p:cNvSpPr txBox="1"/>
          <p:nvPr/>
        </p:nvSpPr>
        <p:spPr>
          <a:xfrm>
            <a:off x="2466676" y="3561017"/>
            <a:ext cx="14181655" cy="5318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汉语中常用相邻的两个数词连用 表示概数。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just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In some cases, you may use two numbers that are very close to each other to demonstrate proximity.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8D9"/>
        </a:solidFill>
        <a:effectLst/>
      </p:bgPr>
    </p:bg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89859" y="579974"/>
            <a:ext cx="15301636" cy="1871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346207">
            <a:off x="1390558" y="59250"/>
            <a:ext cx="1209483" cy="2181035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34"/>
          <p:cNvSpPr txBox="1"/>
          <p:nvPr/>
        </p:nvSpPr>
        <p:spPr>
          <a:xfrm>
            <a:off x="2642095" y="762457"/>
            <a:ext cx="132588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lang="en-US" sz="95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概数</a:t>
            </a:r>
            <a:r>
              <a:rPr lang="en-US" sz="95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7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Approximate number</a:t>
            </a:r>
            <a:endParaRPr sz="9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3" name="Google Shape;473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3019690">
            <a:off x="15778060" y="1394566"/>
            <a:ext cx="1740542" cy="1826905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34"/>
          <p:cNvSpPr/>
          <p:nvPr/>
        </p:nvSpPr>
        <p:spPr>
          <a:xfrm>
            <a:off x="838200" y="3533067"/>
            <a:ext cx="4200450" cy="2337401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475" name="Google Shape;475;p34"/>
          <p:cNvSpPr txBox="1"/>
          <p:nvPr/>
        </p:nvSpPr>
        <p:spPr>
          <a:xfrm>
            <a:off x="1590020" y="3752089"/>
            <a:ext cx="2696809" cy="1780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71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Y</a:t>
            </a: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ī liǎnɡ tiān</a:t>
            </a:r>
            <a:endParaRPr sz="2800" b="0" i="0" u="none" strike="noStrike" cap="none">
              <a:solidFill>
                <a:srgbClr val="272626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3200"/>
              <a:buFont typeface="SimSun"/>
              <a:buNone/>
            </a:pPr>
            <a:r>
              <a:rPr lang="en-US" sz="3200" b="0" i="0" u="none" strike="noStrike" cap="none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0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一两   </a:t>
            </a:r>
            <a:r>
              <a:rPr lang="en-US" sz="40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天</a:t>
            </a:r>
            <a:endParaRPr sz="4000" b="0" i="0" u="none" strike="noStrike" cap="none">
              <a:solidFill>
                <a:schemeClr val="dk1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One or two days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476" name="Google Shape;476;p34"/>
          <p:cNvSpPr/>
          <p:nvPr/>
        </p:nvSpPr>
        <p:spPr>
          <a:xfrm>
            <a:off x="6199295" y="3388214"/>
            <a:ext cx="6145105" cy="2505996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DAE5F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477" name="Google Shape;477;p34"/>
          <p:cNvSpPr txBox="1"/>
          <p:nvPr/>
        </p:nvSpPr>
        <p:spPr>
          <a:xfrm>
            <a:off x="6458797" y="3668206"/>
            <a:ext cx="5370405" cy="1780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571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Shísānsì  suì</a:t>
            </a:r>
            <a:endParaRPr sz="2800" b="0" i="0" u="none" strike="noStrike" cap="none">
              <a:solidFill>
                <a:srgbClr val="272626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十三四  </a:t>
            </a:r>
            <a:r>
              <a:rPr lang="en-US" sz="40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岁</a:t>
            </a:r>
            <a:endParaRPr sz="4000" b="0" i="0" u="none" strike="noStrike" cap="none">
              <a:solidFill>
                <a:schemeClr val="dk1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37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Thirteen or fourteen years old </a:t>
            </a:r>
            <a:endParaRPr sz="28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478" name="Google Shape;478;p34"/>
          <p:cNvSpPr/>
          <p:nvPr/>
        </p:nvSpPr>
        <p:spPr>
          <a:xfrm>
            <a:off x="6102795" y="6431844"/>
            <a:ext cx="5269655" cy="2337401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479" name="Google Shape;479;p34"/>
          <p:cNvSpPr txBox="1"/>
          <p:nvPr/>
        </p:nvSpPr>
        <p:spPr>
          <a:xfrm>
            <a:off x="6178995" y="6498163"/>
            <a:ext cx="5115580" cy="1780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571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Qībāshí jīn</a:t>
            </a:r>
            <a:endParaRPr sz="2800" b="0" i="0" u="none" strike="noStrike" cap="none">
              <a:solidFill>
                <a:srgbClr val="272626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七八十  </a:t>
            </a:r>
            <a:r>
              <a:rPr lang="en-US" sz="40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斤</a:t>
            </a:r>
            <a:endParaRPr sz="4000" b="0" i="0" u="none" strike="noStrike" cap="none">
              <a:solidFill>
                <a:schemeClr val="dk1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37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Seventy or eighty Jin</a:t>
            </a:r>
            <a:endParaRPr sz="28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480" name="Google Shape;480;p34"/>
          <p:cNvSpPr/>
          <p:nvPr/>
        </p:nvSpPr>
        <p:spPr>
          <a:xfrm>
            <a:off x="11963400" y="6424789"/>
            <a:ext cx="5269655" cy="2224535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FDE9D8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481" name="Google Shape;481;p34"/>
          <p:cNvSpPr txBox="1"/>
          <p:nvPr/>
        </p:nvSpPr>
        <p:spPr>
          <a:xfrm>
            <a:off x="12039600" y="6491108"/>
            <a:ext cx="5115580" cy="1780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571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Sānsìqiān kuài</a:t>
            </a:r>
            <a:endParaRPr sz="2800" b="0" i="0" u="none" strike="noStrike" cap="none">
              <a:solidFill>
                <a:srgbClr val="272626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三四千  </a:t>
            </a:r>
            <a:r>
              <a:rPr lang="en-US" sz="40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块</a:t>
            </a:r>
            <a:endParaRPr sz="4000" b="0" i="0" u="none" strike="noStrike" cap="none">
              <a:solidFill>
                <a:schemeClr val="dk1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37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Three or four thousand Yuan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8D9"/>
        </a:solidFill>
        <a:effectLst/>
      </p:bgPr>
    </p:bg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6" name="Google Shape;486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89859" y="579974"/>
            <a:ext cx="15301636" cy="1871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346207">
            <a:off x="1390558" y="59250"/>
            <a:ext cx="1209483" cy="2181035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35"/>
          <p:cNvSpPr txBox="1"/>
          <p:nvPr/>
        </p:nvSpPr>
        <p:spPr>
          <a:xfrm>
            <a:off x="2642095" y="762457"/>
            <a:ext cx="132588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lang="en-US" sz="95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概数</a:t>
            </a:r>
            <a:r>
              <a:rPr lang="en-US" sz="95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7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Approximate number</a:t>
            </a:r>
            <a:endParaRPr sz="9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9" name="Google Shape;489;p3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3019690">
            <a:off x="15778060" y="1394566"/>
            <a:ext cx="1740542" cy="1826905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35"/>
          <p:cNvSpPr/>
          <p:nvPr/>
        </p:nvSpPr>
        <p:spPr>
          <a:xfrm>
            <a:off x="4056576" y="3536244"/>
            <a:ext cx="8400900" cy="2294929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491" name="Google Shape;491;p35"/>
          <p:cNvSpPr txBox="1"/>
          <p:nvPr/>
        </p:nvSpPr>
        <p:spPr>
          <a:xfrm>
            <a:off x="4808396" y="3755266"/>
            <a:ext cx="8011180" cy="1780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71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Tā  de  háizi dàɡài  qī  bā  suì .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她 的 孩子 大概  </a:t>
            </a:r>
            <a:r>
              <a:rPr lang="en-US" sz="40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七  八</a:t>
            </a:r>
            <a:r>
              <a:rPr lang="en-US" sz="40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  岁  。</a:t>
            </a:r>
            <a:endParaRPr sz="4000" b="0" i="0" u="none" strike="noStrike" cap="none">
              <a:solidFill>
                <a:schemeClr val="dk1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Her son is about seven or eight years old.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492" name="Google Shape;492;p35"/>
          <p:cNvSpPr/>
          <p:nvPr/>
        </p:nvSpPr>
        <p:spPr>
          <a:xfrm>
            <a:off x="3432748" y="6507474"/>
            <a:ext cx="9043670" cy="2591555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DAE5F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493" name="Google Shape;493;p35"/>
          <p:cNvSpPr txBox="1"/>
          <p:nvPr/>
        </p:nvSpPr>
        <p:spPr>
          <a:xfrm>
            <a:off x="4056576" y="6920375"/>
            <a:ext cx="8787357" cy="2038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71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Zhè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tái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shǒujī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dàɡài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 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wǔliùbǎi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kuài</a:t>
            </a:r>
            <a:r>
              <a:rPr lang="en-US" sz="2800" b="0" i="0" u="none" strike="noStrike" cap="none" dirty="0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.</a:t>
            </a:r>
            <a:endParaRPr lang="en-US" dirty="0"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571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2800"/>
              <a:buFont typeface="SimSun"/>
              <a:buNone/>
            </a:pPr>
            <a:r>
              <a:rPr lang="en-US" sz="4000" b="0" i="0" u="none" strike="noStrike" cap="none" dirty="0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这 台 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手机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000" b="0" i="0" u="none" strike="noStrike" cap="none" dirty="0" err="1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大概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4000" b="1" i="0" u="none" strike="noStrike" cap="none" dirty="0" err="1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五六百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  块	。</a:t>
            </a:r>
            <a:endParaRPr lang="en-US" sz="4000" dirty="0">
              <a:solidFill>
                <a:schemeClr val="dk1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571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2800"/>
              <a:buFont typeface="SimSun"/>
              <a:buNone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This mobile phone is about 500 or 600 RMB.</a:t>
            </a:r>
            <a:endParaRPr sz="1400" b="0" i="0" u="none" strike="noStrike" cap="none" dirty="0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494" name="Google Shape;494;p35" descr="A picture containing toy, doll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 l="47711" r="2811" b="5380"/>
          <a:stretch/>
        </p:blipFill>
        <p:spPr>
          <a:xfrm>
            <a:off x="1254206" y="2633668"/>
            <a:ext cx="2613136" cy="4305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35" descr="A picture containing electronics, plant, close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908275" y="5641932"/>
            <a:ext cx="3779525" cy="377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8D9"/>
        </a:solidFill>
        <a:effectLst/>
      </p:bgPr>
    </p:bg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89859" y="579974"/>
            <a:ext cx="15301636" cy="1871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346207">
            <a:off x="1390558" y="59250"/>
            <a:ext cx="1209483" cy="2181035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36"/>
          <p:cNvSpPr txBox="1"/>
          <p:nvPr/>
        </p:nvSpPr>
        <p:spPr>
          <a:xfrm>
            <a:off x="2642095" y="762457"/>
            <a:ext cx="13258800" cy="1750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存在句</a:t>
            </a:r>
            <a:r>
              <a:rPr lang="en-US" sz="7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Existential sentence</a:t>
            </a:r>
            <a:endParaRPr sz="7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3" name="Google Shape;503;p3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3019690">
            <a:off x="15778060" y="1394566"/>
            <a:ext cx="1740542" cy="1826905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6"/>
          <p:cNvSpPr txBox="1"/>
          <p:nvPr/>
        </p:nvSpPr>
        <p:spPr>
          <a:xfrm>
            <a:off x="2149849" y="3843484"/>
            <a:ext cx="14181655" cy="3988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1.“在”用于表示某人或某物的地点和位置。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just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“在” is used to indicate the location or position of someone or something.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8D9"/>
        </a:solidFill>
        <a:effectLst/>
      </p:bgPr>
    </p:bg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9" name="Google Shape;509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89859" y="314982"/>
            <a:ext cx="15301636" cy="1871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346207">
            <a:off x="1390558" y="-205742"/>
            <a:ext cx="1209483" cy="2181035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37"/>
          <p:cNvSpPr txBox="1"/>
          <p:nvPr/>
        </p:nvSpPr>
        <p:spPr>
          <a:xfrm>
            <a:off x="2642095" y="497465"/>
            <a:ext cx="13258800" cy="132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存在句 Existential sentence</a:t>
            </a:r>
            <a:endParaRPr sz="7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2" name="Google Shape;512;p3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3019690">
            <a:off x="15778060" y="1129574"/>
            <a:ext cx="1740542" cy="1826905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37"/>
          <p:cNvSpPr/>
          <p:nvPr/>
        </p:nvSpPr>
        <p:spPr>
          <a:xfrm>
            <a:off x="3694330" y="2357433"/>
            <a:ext cx="10657638" cy="1739487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FDF5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514" name="Google Shape;514;p37"/>
          <p:cNvSpPr txBox="1"/>
          <p:nvPr/>
        </p:nvSpPr>
        <p:spPr>
          <a:xfrm>
            <a:off x="3187298" y="2642376"/>
            <a:ext cx="11671702" cy="984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Subject + </a:t>
            </a:r>
            <a:r>
              <a:rPr lang="en-US" sz="5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在</a:t>
            </a:r>
            <a:r>
              <a:rPr lang="en-US" sz="5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Location Word</a:t>
            </a:r>
            <a:endParaRPr sz="5400" b="1" i="0" u="none" strike="noStrike" cap="none">
              <a:solidFill>
                <a:srgbClr val="76923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37"/>
          <p:cNvSpPr/>
          <p:nvPr/>
        </p:nvSpPr>
        <p:spPr>
          <a:xfrm>
            <a:off x="4897820" y="5020835"/>
            <a:ext cx="7637766" cy="2126782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FDE9D8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516" name="Google Shape;516;p37"/>
          <p:cNvSpPr txBox="1"/>
          <p:nvPr/>
        </p:nvSpPr>
        <p:spPr>
          <a:xfrm>
            <a:off x="5733040" y="5143500"/>
            <a:ext cx="8053298" cy="1780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71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Kāfēitīnɡ zài  shítánɡ lǐbiɑn.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咖啡厅  </a:t>
            </a:r>
            <a:r>
              <a:rPr lang="en-US" sz="40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在</a:t>
            </a:r>
            <a:r>
              <a:rPr lang="en-US" sz="40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食堂 里边。</a:t>
            </a:r>
            <a:endParaRPr sz="40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The coffee shop is inside the canteen.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517" name="Google Shape;517;p37"/>
          <p:cNvSpPr/>
          <p:nvPr/>
        </p:nvSpPr>
        <p:spPr>
          <a:xfrm>
            <a:off x="1080724" y="1380999"/>
            <a:ext cx="1399655" cy="1288871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B2A0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518" name="Google Shape;518;p37"/>
          <p:cNvSpPr txBox="1"/>
          <p:nvPr/>
        </p:nvSpPr>
        <p:spPr>
          <a:xfrm>
            <a:off x="1080724" y="1564501"/>
            <a:ext cx="1229583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lang="en-US" sz="8000" b="1" i="0" u="none" strike="noStrike" cap="none">
                <a:solidFill>
                  <a:schemeClr val="lt1"/>
                </a:solidFill>
                <a:latin typeface="SimSun"/>
                <a:ea typeface="SimSun"/>
                <a:cs typeface="SimSun"/>
                <a:sym typeface="SimSun"/>
              </a:rPr>
              <a:t>1</a:t>
            </a:r>
            <a:endParaRPr sz="8000" b="1" i="0" u="none" strike="noStrike" cap="none">
              <a:solidFill>
                <a:schemeClr val="lt1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519" name="Google Shape;519;p37"/>
          <p:cNvSpPr/>
          <p:nvPr/>
        </p:nvSpPr>
        <p:spPr>
          <a:xfrm>
            <a:off x="6012868" y="7603225"/>
            <a:ext cx="6020562" cy="2126781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FBD4B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520" name="Google Shape;520;p37"/>
          <p:cNvSpPr txBox="1"/>
          <p:nvPr/>
        </p:nvSpPr>
        <p:spPr>
          <a:xfrm>
            <a:off x="6515555" y="7867005"/>
            <a:ext cx="6488267" cy="1599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Yínhánɡ zài shítánɡ fùjìn.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2800"/>
              <a:buFont typeface="SimSun"/>
              <a:buNone/>
            </a:pPr>
            <a:r>
              <a:rPr lang="en-US" sz="40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银行  </a:t>
            </a:r>
            <a:r>
              <a:rPr lang="en-US" sz="40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在</a:t>
            </a:r>
            <a:r>
              <a:rPr lang="en-US" sz="40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 食堂  附近。</a:t>
            </a:r>
            <a:endParaRPr sz="4000" b="0" i="0" u="none" strike="noStrike" cap="none">
              <a:solidFill>
                <a:schemeClr val="dk1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The bank is near the canteen.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8D9"/>
        </a:solidFill>
        <a:effectLst/>
      </p:bgPr>
    </p:bg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5" name="Google Shape;525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89859" y="579974"/>
            <a:ext cx="15301636" cy="1871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346207">
            <a:off x="1390558" y="59250"/>
            <a:ext cx="1209483" cy="2181035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8"/>
          <p:cNvSpPr txBox="1"/>
          <p:nvPr/>
        </p:nvSpPr>
        <p:spPr>
          <a:xfrm>
            <a:off x="2642095" y="762457"/>
            <a:ext cx="13258800" cy="132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存在句 Existential sentence</a:t>
            </a:r>
            <a:endParaRPr sz="7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8" name="Google Shape;528;p3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3019690">
            <a:off x="15778060" y="1394566"/>
            <a:ext cx="1740542" cy="1826905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38"/>
          <p:cNvSpPr txBox="1"/>
          <p:nvPr/>
        </p:nvSpPr>
        <p:spPr>
          <a:xfrm>
            <a:off x="2149849" y="3843484"/>
            <a:ext cx="14181655" cy="3988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2.“有”用来表达某处存在某人或某物。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just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“有” is used to indicate there is an object or person in a particular place.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8D9"/>
        </a:solidFill>
        <a:effectLst/>
      </p:bgPr>
    </p:bg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" name="Google Shape;534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89859" y="314982"/>
            <a:ext cx="15301636" cy="1871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346207">
            <a:off x="1390558" y="-205742"/>
            <a:ext cx="1209483" cy="2181035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39"/>
          <p:cNvSpPr txBox="1"/>
          <p:nvPr/>
        </p:nvSpPr>
        <p:spPr>
          <a:xfrm>
            <a:off x="2642095" y="497465"/>
            <a:ext cx="13258800" cy="132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存在句 Existential sentence</a:t>
            </a:r>
            <a:endParaRPr sz="7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7" name="Google Shape;537;p3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3019690">
            <a:off x="15778060" y="1129574"/>
            <a:ext cx="1740542" cy="1826905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39"/>
          <p:cNvSpPr/>
          <p:nvPr/>
        </p:nvSpPr>
        <p:spPr>
          <a:xfrm>
            <a:off x="3694330" y="2357433"/>
            <a:ext cx="10657638" cy="1739487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FDF5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539" name="Google Shape;539;p39"/>
          <p:cNvSpPr txBox="1"/>
          <p:nvPr/>
        </p:nvSpPr>
        <p:spPr>
          <a:xfrm>
            <a:off x="3187298" y="2642376"/>
            <a:ext cx="11671702" cy="984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Location Word + </a:t>
            </a:r>
            <a:r>
              <a:rPr lang="en-US" sz="5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有</a:t>
            </a:r>
            <a:r>
              <a:rPr lang="en-US" sz="5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Noun</a:t>
            </a:r>
            <a:endParaRPr sz="5400" b="1" i="0" u="none" strike="noStrike" cap="none">
              <a:solidFill>
                <a:srgbClr val="76923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39"/>
          <p:cNvSpPr/>
          <p:nvPr/>
        </p:nvSpPr>
        <p:spPr>
          <a:xfrm>
            <a:off x="4288096" y="7635564"/>
            <a:ext cx="9470105" cy="2336454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541" name="Google Shape;541;p39"/>
          <p:cNvSpPr txBox="1"/>
          <p:nvPr/>
        </p:nvSpPr>
        <p:spPr>
          <a:xfrm>
            <a:off x="5569597" y="7991610"/>
            <a:ext cx="8641693" cy="153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2800"/>
              <a:buFont typeface="SimSun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shí táng lǐ bian yǒu kā fēi tīng</a:t>
            </a:r>
            <a:endParaRPr sz="32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2800"/>
              <a:buFont typeface="SimSun"/>
              <a:buNone/>
            </a:pPr>
            <a:r>
              <a:rPr lang="en-US" sz="40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食堂  里边   </a:t>
            </a:r>
            <a:r>
              <a:rPr lang="en-US" sz="40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有  咖啡厅</a:t>
            </a:r>
            <a:r>
              <a:rPr lang="en-US" sz="40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。</a:t>
            </a:r>
            <a:endParaRPr sz="40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There is a cafeteria inside the canteen.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542" name="Google Shape;542;p39"/>
          <p:cNvSpPr/>
          <p:nvPr/>
        </p:nvSpPr>
        <p:spPr>
          <a:xfrm>
            <a:off x="4871821" y="4724580"/>
            <a:ext cx="7093104" cy="2639370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DAE5F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543" name="Google Shape;543;p39"/>
          <p:cNvSpPr txBox="1"/>
          <p:nvPr/>
        </p:nvSpPr>
        <p:spPr>
          <a:xfrm>
            <a:off x="5799150" y="4914366"/>
            <a:ext cx="6689700" cy="1780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71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Xuéxiào lǐbiɑn yǒu yínhánɡ.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963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学校 里边  </a:t>
            </a:r>
            <a:r>
              <a:rPr lang="en-US" sz="40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有</a:t>
            </a:r>
            <a:r>
              <a:rPr lang="en-US" sz="40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银行。</a:t>
            </a:r>
            <a:endParaRPr sz="40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There is bank in the school.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544" name="Google Shape;544;p39"/>
          <p:cNvSpPr/>
          <p:nvPr/>
        </p:nvSpPr>
        <p:spPr>
          <a:xfrm>
            <a:off x="1080724" y="1380999"/>
            <a:ext cx="1399655" cy="1288871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B2A0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545" name="Google Shape;545;p39"/>
          <p:cNvSpPr txBox="1"/>
          <p:nvPr/>
        </p:nvSpPr>
        <p:spPr>
          <a:xfrm>
            <a:off x="1080724" y="1564501"/>
            <a:ext cx="1229583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lang="en-US" sz="8000" b="1" i="0" u="none" strike="noStrike" cap="none">
                <a:solidFill>
                  <a:schemeClr val="lt1"/>
                </a:solidFill>
                <a:latin typeface="SimSun"/>
                <a:ea typeface="SimSun"/>
                <a:cs typeface="SimSun"/>
                <a:sym typeface="SimSun"/>
              </a:rPr>
              <a:t>2</a:t>
            </a:r>
            <a:endParaRPr sz="8000" b="1" i="0" u="none" strike="noStrike" cap="none">
              <a:solidFill>
                <a:schemeClr val="lt1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8D9"/>
        </a:solidFill>
        <a:effectLst/>
      </p:bgPr>
    </p:bg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0" name="Google Shape;550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89859" y="579974"/>
            <a:ext cx="15301636" cy="1871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346207">
            <a:off x="1390558" y="59250"/>
            <a:ext cx="1209483" cy="2181035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40"/>
          <p:cNvSpPr txBox="1"/>
          <p:nvPr/>
        </p:nvSpPr>
        <p:spPr>
          <a:xfrm>
            <a:off x="2642095" y="762457"/>
            <a:ext cx="13258800" cy="132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存在句 Existential sentence</a:t>
            </a:r>
            <a:endParaRPr sz="7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3" name="Google Shape;553;p4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3019690">
            <a:off x="15778060" y="1394566"/>
            <a:ext cx="1740542" cy="1826905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40"/>
          <p:cNvSpPr txBox="1"/>
          <p:nvPr/>
        </p:nvSpPr>
        <p:spPr>
          <a:xfrm>
            <a:off x="2149849" y="3843484"/>
            <a:ext cx="14181655" cy="3988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3.“是”用来指示某个东西是什么、某人是谁。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just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“是” is used to express that a specific object or person is in a certain location.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8D9"/>
        </a:solidFill>
        <a:effectLst/>
      </p:bgPr>
    </p:bg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9" name="Google Shape;559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89859" y="314982"/>
            <a:ext cx="15301636" cy="1871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346207">
            <a:off x="1390558" y="-205742"/>
            <a:ext cx="1209483" cy="2181035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41"/>
          <p:cNvSpPr txBox="1"/>
          <p:nvPr/>
        </p:nvSpPr>
        <p:spPr>
          <a:xfrm>
            <a:off x="2642095" y="497465"/>
            <a:ext cx="13258800" cy="132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存在句 Existential sentence</a:t>
            </a:r>
            <a:endParaRPr sz="7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2" name="Google Shape;562;p4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3019690">
            <a:off x="15778060" y="1129574"/>
            <a:ext cx="1740542" cy="1826905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41"/>
          <p:cNvSpPr/>
          <p:nvPr/>
        </p:nvSpPr>
        <p:spPr>
          <a:xfrm>
            <a:off x="3694330" y="2357433"/>
            <a:ext cx="10657638" cy="1739487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FDF5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41"/>
          <p:cNvSpPr txBox="1"/>
          <p:nvPr/>
        </p:nvSpPr>
        <p:spPr>
          <a:xfrm>
            <a:off x="3187298" y="2642376"/>
            <a:ext cx="11671702" cy="984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Location Word + </a:t>
            </a:r>
            <a:r>
              <a:rPr lang="en-US" sz="54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是</a:t>
            </a:r>
            <a:r>
              <a:rPr lang="en-US" sz="5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+ Noun</a:t>
            </a:r>
            <a:endParaRPr sz="5400" b="1" i="0" u="none" strike="noStrike" cap="none">
              <a:solidFill>
                <a:srgbClr val="76923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41"/>
          <p:cNvSpPr/>
          <p:nvPr/>
        </p:nvSpPr>
        <p:spPr>
          <a:xfrm>
            <a:off x="4025575" y="7973984"/>
            <a:ext cx="9470105" cy="2244473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566" name="Google Shape;566;p41"/>
          <p:cNvSpPr/>
          <p:nvPr/>
        </p:nvSpPr>
        <p:spPr>
          <a:xfrm>
            <a:off x="3694330" y="4553103"/>
            <a:ext cx="9801349" cy="2146398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FDE9D8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567" name="Google Shape;567;p41"/>
          <p:cNvSpPr txBox="1"/>
          <p:nvPr/>
        </p:nvSpPr>
        <p:spPr>
          <a:xfrm>
            <a:off x="4976446" y="4702639"/>
            <a:ext cx="8979288" cy="153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2800"/>
              <a:buFont typeface="SimSun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Sùshè  duìmiàn Shì   tǐyùɡuǎn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2800"/>
              <a:buFont typeface="SimSun"/>
              <a:buNone/>
            </a:pPr>
            <a:r>
              <a:rPr lang="en-US" sz="40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宿舍   对面  </a:t>
            </a:r>
            <a:r>
              <a:rPr lang="en-US" sz="4000" b="0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是</a:t>
            </a:r>
            <a:r>
              <a:rPr lang="en-US" sz="40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 体育馆</a:t>
            </a:r>
            <a:endParaRPr sz="40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Opposite the dormitory is the gymnasium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568" name="Google Shape;568;p41"/>
          <p:cNvSpPr txBox="1"/>
          <p:nvPr/>
        </p:nvSpPr>
        <p:spPr>
          <a:xfrm>
            <a:off x="5549022" y="7973984"/>
            <a:ext cx="6948253" cy="2038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571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72626"/>
                </a:solidFill>
                <a:latin typeface="SimSun"/>
                <a:ea typeface="SimSun"/>
                <a:cs typeface="SimSun"/>
                <a:sym typeface="SimSun"/>
              </a:rPr>
              <a:t>Xuéxiào qiánbian shì yínháng</a:t>
            </a:r>
            <a:endParaRPr sz="2800" b="0" i="0" u="none" strike="noStrike" cap="none">
              <a:solidFill>
                <a:srgbClr val="272626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571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2800"/>
              <a:buFont typeface="SimSun"/>
              <a:buNone/>
            </a:pPr>
            <a:r>
              <a:rPr lang="en-US" sz="40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学校  前边  </a:t>
            </a:r>
            <a:r>
              <a:rPr lang="en-US" sz="40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是</a:t>
            </a:r>
            <a:r>
              <a:rPr lang="en-US" sz="40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 银行。</a:t>
            </a:r>
            <a:endParaRPr sz="40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571"/>
              </a:lnSpc>
              <a:spcBef>
                <a:spcPts val="0"/>
              </a:spcBef>
              <a:spcAft>
                <a:spcPts val="0"/>
              </a:spcAft>
              <a:buClr>
                <a:srgbClr val="272626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The bank is in front of the school.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569" name="Google Shape;569;p41"/>
          <p:cNvSpPr/>
          <p:nvPr/>
        </p:nvSpPr>
        <p:spPr>
          <a:xfrm>
            <a:off x="1080724" y="1380999"/>
            <a:ext cx="1399655" cy="1288871"/>
          </a:xfrm>
          <a:custGeom>
            <a:avLst/>
            <a:gdLst/>
            <a:ahLst/>
            <a:cxnLst/>
            <a:rect l="l" t="t" r="r" b="b"/>
            <a:pathLst>
              <a:path w="3443102" h="1144961" extrusionOk="0">
                <a:moveTo>
                  <a:pt x="2504203" y="1133773"/>
                </a:moveTo>
                <a:cubicBezTo>
                  <a:pt x="2504203" y="1133773"/>
                  <a:pt x="2084450" y="1144961"/>
                  <a:pt x="1621865" y="1142339"/>
                </a:cubicBezTo>
                <a:cubicBezTo>
                  <a:pt x="1584822" y="1140177"/>
                  <a:pt x="1057073" y="1132352"/>
                  <a:pt x="1057073" y="1132352"/>
                </a:cubicBezTo>
                <a:cubicBezTo>
                  <a:pt x="812931" y="1123518"/>
                  <a:pt x="565145" y="1106537"/>
                  <a:pt x="398404" y="1048359"/>
                </a:cubicBezTo>
                <a:cubicBezTo>
                  <a:pt x="120505" y="951398"/>
                  <a:pt x="0" y="773869"/>
                  <a:pt x="0" y="577261"/>
                </a:cubicBezTo>
                <a:lnTo>
                  <a:pt x="0" y="577259"/>
                </a:lnTo>
                <a:cubicBezTo>
                  <a:pt x="8536" y="440430"/>
                  <a:pt x="34263" y="311302"/>
                  <a:pt x="140291" y="225758"/>
                </a:cubicBezTo>
                <a:cubicBezTo>
                  <a:pt x="342602" y="62530"/>
                  <a:pt x="736658" y="7673"/>
                  <a:pt x="1155311" y="7673"/>
                </a:cubicBezTo>
                <a:cubicBezTo>
                  <a:pt x="1155311" y="7673"/>
                  <a:pt x="1551711" y="15681"/>
                  <a:pt x="1584822" y="7673"/>
                </a:cubicBezTo>
                <a:cubicBezTo>
                  <a:pt x="1865523" y="0"/>
                  <a:pt x="2329451" y="7673"/>
                  <a:pt x="2329451" y="7673"/>
                </a:cubicBezTo>
                <a:cubicBezTo>
                  <a:pt x="2697758" y="15152"/>
                  <a:pt x="3061071" y="84484"/>
                  <a:pt x="3258811" y="207066"/>
                </a:cubicBezTo>
                <a:cubicBezTo>
                  <a:pt x="3409828" y="300683"/>
                  <a:pt x="3443102" y="425358"/>
                  <a:pt x="3433962" y="577261"/>
                </a:cubicBezTo>
                <a:lnTo>
                  <a:pt x="3433962" y="577262"/>
                </a:lnTo>
                <a:cubicBezTo>
                  <a:pt x="3433962" y="891835"/>
                  <a:pt x="3150965" y="1105932"/>
                  <a:pt x="2504203" y="1133773"/>
                </a:cubicBezTo>
                <a:close/>
              </a:path>
            </a:pathLst>
          </a:custGeom>
          <a:solidFill>
            <a:srgbClr val="B2A0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41"/>
          <p:cNvSpPr txBox="1"/>
          <p:nvPr/>
        </p:nvSpPr>
        <p:spPr>
          <a:xfrm>
            <a:off x="1080724" y="1564501"/>
            <a:ext cx="1229583" cy="1102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lang="en-US" sz="8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8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9"/>
        </a:solidFill>
        <a:effectLst/>
      </p:bgPr>
    </p:bg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44"/>
          <p:cNvSpPr/>
          <p:nvPr/>
        </p:nvSpPr>
        <p:spPr>
          <a:xfrm>
            <a:off x="4419600" y="6865197"/>
            <a:ext cx="10442034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44"/>
          <p:cNvSpPr txBox="1"/>
          <p:nvPr/>
        </p:nvSpPr>
        <p:spPr>
          <a:xfrm>
            <a:off x="4876800" y="7082651"/>
            <a:ext cx="9501582" cy="1865126"/>
          </a:xfrm>
          <a:prstGeom prst="rect">
            <a:avLst/>
          </a:prstGeom>
          <a:solidFill>
            <a:srgbClr val="CCC0D9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Calibri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Fēi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yǎ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shūdiàn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zài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túshūɡuǎn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lǐbiɑn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菲 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雅：书店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在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图书馆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里边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。 </a:t>
            </a:r>
            <a:endParaRPr sz="4400" b="0" i="0" u="none" strike="noStrike" cap="none" dirty="0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577" name="Google Shape;577;p44"/>
          <p:cNvSpPr/>
          <p:nvPr/>
        </p:nvSpPr>
        <p:spPr>
          <a:xfrm>
            <a:off x="4876800" y="2075146"/>
            <a:ext cx="10308236" cy="360334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44"/>
          <p:cNvSpPr/>
          <p:nvPr/>
        </p:nvSpPr>
        <p:spPr>
          <a:xfrm>
            <a:off x="210726" y="2014480"/>
            <a:ext cx="3478235" cy="3057829"/>
          </a:xfrm>
          <a:custGeom>
            <a:avLst/>
            <a:gdLst/>
            <a:ahLst/>
            <a:cxnLst/>
            <a:rect l="l" t="t" r="r" b="b"/>
            <a:pathLst>
              <a:path w="3339730" h="1913890" extrusionOk="0">
                <a:moveTo>
                  <a:pt x="3215270" y="1913890"/>
                </a:moveTo>
                <a:lnTo>
                  <a:pt x="124460" y="1913890"/>
                </a:lnTo>
                <a:cubicBezTo>
                  <a:pt x="55880" y="1913890"/>
                  <a:pt x="0" y="1858010"/>
                  <a:pt x="0" y="1789430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3215270" y="0"/>
                </a:lnTo>
                <a:cubicBezTo>
                  <a:pt x="3283850" y="0"/>
                  <a:pt x="3339730" y="55880"/>
                  <a:pt x="3339730" y="124460"/>
                </a:cubicBezTo>
                <a:lnTo>
                  <a:pt x="3339730" y="1789430"/>
                </a:lnTo>
                <a:cubicBezTo>
                  <a:pt x="3339730" y="1858010"/>
                  <a:pt x="3283850" y="1913890"/>
                  <a:pt x="3215270" y="191389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44"/>
          <p:cNvSpPr/>
          <p:nvPr/>
        </p:nvSpPr>
        <p:spPr>
          <a:xfrm>
            <a:off x="14187736" y="6134100"/>
            <a:ext cx="3352800" cy="3200400"/>
          </a:xfrm>
          <a:custGeom>
            <a:avLst/>
            <a:gdLst/>
            <a:ahLst/>
            <a:cxnLst/>
            <a:rect l="l" t="t" r="r" b="b"/>
            <a:pathLst>
              <a:path w="3339730" h="1913890" extrusionOk="0">
                <a:moveTo>
                  <a:pt x="3215270" y="1913890"/>
                </a:moveTo>
                <a:lnTo>
                  <a:pt x="124460" y="1913890"/>
                </a:lnTo>
                <a:cubicBezTo>
                  <a:pt x="55880" y="1913890"/>
                  <a:pt x="0" y="1858010"/>
                  <a:pt x="0" y="1789430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3215270" y="0"/>
                </a:lnTo>
                <a:cubicBezTo>
                  <a:pt x="3283850" y="0"/>
                  <a:pt x="3339730" y="55880"/>
                  <a:pt x="3339730" y="124460"/>
                </a:cubicBezTo>
                <a:lnTo>
                  <a:pt x="3339730" y="1789430"/>
                </a:lnTo>
                <a:cubicBezTo>
                  <a:pt x="3339730" y="1858010"/>
                  <a:pt x="3283850" y="1913890"/>
                  <a:pt x="3215270" y="191389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0" name="Google Shape;580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437790">
            <a:off x="1842159" y="1627389"/>
            <a:ext cx="1803504" cy="796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603567">
            <a:off x="15819168" y="5787094"/>
            <a:ext cx="1803504" cy="796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582;p4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1814672" y="-221720"/>
            <a:ext cx="3629343" cy="3154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583;p4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10800000">
            <a:off x="14681247" y="7902007"/>
            <a:ext cx="5126880" cy="2712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4" name="Google Shape;584;p44" descr="A picture containing vector graphics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1948" y="2025799"/>
            <a:ext cx="2900363" cy="2900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4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556830" y="6134100"/>
            <a:ext cx="2983706" cy="2983706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44"/>
          <p:cNvSpPr txBox="1"/>
          <p:nvPr/>
        </p:nvSpPr>
        <p:spPr>
          <a:xfrm>
            <a:off x="3840069" y="2293778"/>
            <a:ext cx="13233600" cy="3693319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Calibri"/>
              <a:buNone/>
            </a:pPr>
            <a:r>
              <a:rPr lang="en-US" sz="36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Mǎ</a:t>
            </a:r>
            <a:r>
              <a:rPr lang="en-US" sz="36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6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lì</a:t>
            </a:r>
            <a:r>
              <a:rPr lang="en-US" sz="36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 </a:t>
            </a:r>
            <a:r>
              <a:rPr lang="en-US" sz="36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Wǒ</a:t>
            </a:r>
            <a:r>
              <a:rPr lang="en-US" sz="36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6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shì</a:t>
            </a:r>
            <a:r>
              <a:rPr lang="en-US" sz="36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6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xīn</a:t>
            </a:r>
            <a:r>
              <a:rPr lang="en-US" sz="36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6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láide</a:t>
            </a:r>
            <a:r>
              <a:rPr lang="en-US" sz="36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6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liúxuéshēnɡ,hái</a:t>
            </a:r>
            <a:r>
              <a:rPr lang="en-US" sz="36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6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bù</a:t>
            </a:r>
            <a:r>
              <a:rPr lang="en-US" sz="36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6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zhī</a:t>
            </a:r>
            <a:r>
              <a:rPr lang="en-US" sz="36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6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dào</a:t>
            </a:r>
            <a:endParaRPr sz="3600" b="0" i="0" u="none" strike="noStrike" cap="none" dirty="0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玛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丽：我是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	新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来的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留学生，还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不 知 道</a:t>
            </a:r>
            <a:br>
              <a:rPr lang="en-US" sz="44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</a:br>
            <a:r>
              <a:rPr lang="en-US" sz="36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shūdiàn</a:t>
            </a:r>
            <a:r>
              <a:rPr lang="en-US" sz="36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6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zài</a:t>
            </a:r>
            <a:r>
              <a:rPr lang="en-US" sz="36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36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nǎr</a:t>
            </a:r>
            <a:r>
              <a:rPr lang="en-US" sz="36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? </a:t>
            </a:r>
            <a:endParaRPr sz="3600" b="0" i="0" u="none" strike="noStrike" cap="none" dirty="0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书店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在 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哪儿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？ </a:t>
            </a:r>
            <a:endParaRPr sz="4800" b="0" i="0" u="none" strike="noStrike" cap="none" dirty="0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587" name="Google Shape;587;p4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29400" y="199387"/>
            <a:ext cx="5029200" cy="1514132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 txBox="1"/>
          <p:nvPr/>
        </p:nvSpPr>
        <p:spPr>
          <a:xfrm>
            <a:off x="6942107" y="395676"/>
            <a:ext cx="4259293" cy="994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会话（一）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9"/>
        </a:solidFill>
        <a:effectLst/>
      </p:bgPr>
    </p:bg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45"/>
          <p:cNvSpPr/>
          <p:nvPr/>
        </p:nvSpPr>
        <p:spPr>
          <a:xfrm>
            <a:off x="1981200" y="4971199"/>
            <a:ext cx="12882372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45"/>
          <p:cNvSpPr txBox="1"/>
          <p:nvPr/>
        </p:nvSpPr>
        <p:spPr>
          <a:xfrm>
            <a:off x="2286000" y="5188653"/>
            <a:ext cx="16165200" cy="1609200"/>
          </a:xfrm>
          <a:prstGeom prst="rect">
            <a:avLst/>
          </a:prstGeom>
          <a:solidFill>
            <a:srgbClr val="CCC0D9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Fēi  yǎ    Bù  yuǎn,   </a:t>
            </a:r>
            <a:r>
              <a:rPr lang="en-US" sz="280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túshūɡuǎn  lí    zhèr</a:t>
            </a: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dàɡài  wǔliùbǎi mǐ.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菲  雅：不 远，</a:t>
            </a:r>
            <a:r>
              <a:rPr lang="en-US" sz="440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图书馆 离 这儿</a:t>
            </a: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大概五六百米。 </a:t>
            </a:r>
            <a:endParaRPr sz="44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595" name="Google Shape;595;p45"/>
          <p:cNvSpPr/>
          <p:nvPr/>
        </p:nvSpPr>
        <p:spPr>
          <a:xfrm>
            <a:off x="4876801" y="1969838"/>
            <a:ext cx="8998746" cy="2077587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45"/>
          <p:cNvSpPr/>
          <p:nvPr/>
        </p:nvSpPr>
        <p:spPr>
          <a:xfrm>
            <a:off x="2392543" y="1603291"/>
            <a:ext cx="2900363" cy="2636811"/>
          </a:xfrm>
          <a:custGeom>
            <a:avLst/>
            <a:gdLst/>
            <a:ahLst/>
            <a:cxnLst/>
            <a:rect l="l" t="t" r="r" b="b"/>
            <a:pathLst>
              <a:path w="3339730" h="1913890" extrusionOk="0">
                <a:moveTo>
                  <a:pt x="3215270" y="1913890"/>
                </a:moveTo>
                <a:lnTo>
                  <a:pt x="124460" y="1913890"/>
                </a:lnTo>
                <a:cubicBezTo>
                  <a:pt x="55880" y="1913890"/>
                  <a:pt x="0" y="1858010"/>
                  <a:pt x="0" y="1789430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3215270" y="0"/>
                </a:lnTo>
                <a:cubicBezTo>
                  <a:pt x="3283850" y="0"/>
                  <a:pt x="3339730" y="55880"/>
                  <a:pt x="3339730" y="124460"/>
                </a:cubicBezTo>
                <a:lnTo>
                  <a:pt x="3339730" y="1789430"/>
                </a:lnTo>
                <a:cubicBezTo>
                  <a:pt x="3339730" y="1858010"/>
                  <a:pt x="3283850" y="1913890"/>
                  <a:pt x="3215270" y="191389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45"/>
          <p:cNvSpPr/>
          <p:nvPr/>
        </p:nvSpPr>
        <p:spPr>
          <a:xfrm>
            <a:off x="14092613" y="4516800"/>
            <a:ext cx="2857026" cy="2572891"/>
          </a:xfrm>
          <a:custGeom>
            <a:avLst/>
            <a:gdLst/>
            <a:ahLst/>
            <a:cxnLst/>
            <a:rect l="l" t="t" r="r" b="b"/>
            <a:pathLst>
              <a:path w="3339730" h="1913890" extrusionOk="0">
                <a:moveTo>
                  <a:pt x="3215270" y="1913890"/>
                </a:moveTo>
                <a:lnTo>
                  <a:pt x="124460" y="1913890"/>
                </a:lnTo>
                <a:cubicBezTo>
                  <a:pt x="55880" y="1913890"/>
                  <a:pt x="0" y="1858010"/>
                  <a:pt x="0" y="1789430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3215270" y="0"/>
                </a:lnTo>
                <a:cubicBezTo>
                  <a:pt x="3283850" y="0"/>
                  <a:pt x="3339730" y="55880"/>
                  <a:pt x="3339730" y="124460"/>
                </a:cubicBezTo>
                <a:lnTo>
                  <a:pt x="3339730" y="1789430"/>
                </a:lnTo>
                <a:cubicBezTo>
                  <a:pt x="3339730" y="1858010"/>
                  <a:pt x="3283850" y="1913890"/>
                  <a:pt x="3215270" y="191389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8" name="Google Shape;598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437790">
            <a:off x="3446104" y="1216200"/>
            <a:ext cx="1803504" cy="796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603567">
            <a:off x="15608776" y="3984528"/>
            <a:ext cx="1803504" cy="796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4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1814672" y="-221720"/>
            <a:ext cx="3629343" cy="3154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p4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10800000">
            <a:off x="14681247" y="7902007"/>
            <a:ext cx="5126880" cy="2712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45" descr="A picture containing vector graphics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591083" y="1554465"/>
            <a:ext cx="2447335" cy="2447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4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369201" y="4403315"/>
            <a:ext cx="2351198" cy="2351198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5"/>
          <p:cNvSpPr txBox="1"/>
          <p:nvPr/>
        </p:nvSpPr>
        <p:spPr>
          <a:xfrm>
            <a:off x="5486399" y="2187389"/>
            <a:ext cx="10695901" cy="1865126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Mǎ   lì      túshūɡuǎn  lí    zhèr  yuǎn mɑ?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玛  丽：图书馆 离 这儿 远 吗？</a:t>
            </a:r>
            <a:endParaRPr sz="44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605" name="Google Shape;605;p4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3030200" y="199387"/>
            <a:ext cx="5029200" cy="1514132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5"/>
          <p:cNvSpPr txBox="1"/>
          <p:nvPr/>
        </p:nvSpPr>
        <p:spPr>
          <a:xfrm>
            <a:off x="13342907" y="395676"/>
            <a:ext cx="4259293" cy="994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会话（一）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45"/>
          <p:cNvSpPr/>
          <p:nvPr/>
        </p:nvSpPr>
        <p:spPr>
          <a:xfrm>
            <a:off x="5029200" y="7679829"/>
            <a:ext cx="8998746" cy="2077587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45"/>
          <p:cNvSpPr/>
          <p:nvPr/>
        </p:nvSpPr>
        <p:spPr>
          <a:xfrm>
            <a:off x="2392543" y="7124701"/>
            <a:ext cx="3052762" cy="2632716"/>
          </a:xfrm>
          <a:custGeom>
            <a:avLst/>
            <a:gdLst/>
            <a:ahLst/>
            <a:cxnLst/>
            <a:rect l="l" t="t" r="r" b="b"/>
            <a:pathLst>
              <a:path w="3339730" h="1913890" extrusionOk="0">
                <a:moveTo>
                  <a:pt x="3215270" y="1913890"/>
                </a:moveTo>
                <a:lnTo>
                  <a:pt x="124460" y="1913890"/>
                </a:lnTo>
                <a:cubicBezTo>
                  <a:pt x="55880" y="1913890"/>
                  <a:pt x="0" y="1858010"/>
                  <a:pt x="0" y="1789430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3215270" y="0"/>
                </a:lnTo>
                <a:cubicBezTo>
                  <a:pt x="3283850" y="0"/>
                  <a:pt x="3339730" y="55880"/>
                  <a:pt x="3339730" y="124460"/>
                </a:cubicBezTo>
                <a:lnTo>
                  <a:pt x="3339730" y="1789430"/>
                </a:lnTo>
                <a:cubicBezTo>
                  <a:pt x="3339730" y="1858010"/>
                  <a:pt x="3283850" y="1913890"/>
                  <a:pt x="3215270" y="191389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437790">
            <a:off x="3598503" y="6926191"/>
            <a:ext cx="1803504" cy="796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p45" descr="A picture containing vector graphics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636083" y="7173033"/>
            <a:ext cx="2432815" cy="2432815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45"/>
          <p:cNvSpPr txBox="1"/>
          <p:nvPr/>
        </p:nvSpPr>
        <p:spPr>
          <a:xfrm>
            <a:off x="5638798" y="7897380"/>
            <a:ext cx="9519139" cy="1529073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Mǎ   lì     túshūɡuǎn fùjìn yǒu shénme?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玛  丽：图书馆附近有 什么？ </a:t>
            </a:r>
            <a:endParaRPr sz="44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9"/>
        </a:solidFill>
        <a:effectLst/>
      </p:bgPr>
    </p:bg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46"/>
          <p:cNvSpPr/>
          <p:nvPr/>
        </p:nvSpPr>
        <p:spPr>
          <a:xfrm>
            <a:off x="1763022" y="5218324"/>
            <a:ext cx="13868992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46"/>
          <p:cNvSpPr txBox="1"/>
          <p:nvPr/>
        </p:nvSpPr>
        <p:spPr>
          <a:xfrm>
            <a:off x="1953825" y="5119747"/>
            <a:ext cx="13637506" cy="1865126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Mǎ   lì    Zhōnɡwǔ  wǒmen  yìqǐ  qù  cāntīnɡ  chī wǔfàn,  hǎo mɑ?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玛  丽：中午我们一起 去 餐厅 吃 午饭，好 吗？ </a:t>
            </a:r>
            <a:endParaRPr sz="44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618" name="Google Shape;618;p46"/>
          <p:cNvSpPr/>
          <p:nvPr/>
        </p:nvSpPr>
        <p:spPr>
          <a:xfrm>
            <a:off x="4495800" y="1483463"/>
            <a:ext cx="10193542" cy="3439677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46"/>
          <p:cNvSpPr/>
          <p:nvPr/>
        </p:nvSpPr>
        <p:spPr>
          <a:xfrm>
            <a:off x="14549437" y="4575091"/>
            <a:ext cx="2900363" cy="2636811"/>
          </a:xfrm>
          <a:custGeom>
            <a:avLst/>
            <a:gdLst/>
            <a:ahLst/>
            <a:cxnLst/>
            <a:rect l="l" t="t" r="r" b="b"/>
            <a:pathLst>
              <a:path w="3339730" h="1913890" extrusionOk="0">
                <a:moveTo>
                  <a:pt x="3215270" y="1913890"/>
                </a:moveTo>
                <a:lnTo>
                  <a:pt x="124460" y="1913890"/>
                </a:lnTo>
                <a:cubicBezTo>
                  <a:pt x="55880" y="1913890"/>
                  <a:pt x="0" y="1858010"/>
                  <a:pt x="0" y="1789430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3215270" y="0"/>
                </a:lnTo>
                <a:cubicBezTo>
                  <a:pt x="3283850" y="0"/>
                  <a:pt x="3339730" y="55880"/>
                  <a:pt x="3339730" y="124460"/>
                </a:cubicBezTo>
                <a:lnTo>
                  <a:pt x="3339730" y="1789430"/>
                </a:lnTo>
                <a:cubicBezTo>
                  <a:pt x="3339730" y="1858010"/>
                  <a:pt x="3283850" y="1913890"/>
                  <a:pt x="3215270" y="191389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46"/>
          <p:cNvSpPr/>
          <p:nvPr/>
        </p:nvSpPr>
        <p:spPr>
          <a:xfrm>
            <a:off x="1920240" y="1331357"/>
            <a:ext cx="2857026" cy="2572891"/>
          </a:xfrm>
          <a:custGeom>
            <a:avLst/>
            <a:gdLst/>
            <a:ahLst/>
            <a:cxnLst/>
            <a:rect l="l" t="t" r="r" b="b"/>
            <a:pathLst>
              <a:path w="3339730" h="1913890" extrusionOk="0">
                <a:moveTo>
                  <a:pt x="3215270" y="1913890"/>
                </a:moveTo>
                <a:lnTo>
                  <a:pt x="124460" y="1913890"/>
                </a:lnTo>
                <a:cubicBezTo>
                  <a:pt x="55880" y="1913890"/>
                  <a:pt x="0" y="1858010"/>
                  <a:pt x="0" y="1789430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3215270" y="0"/>
                </a:lnTo>
                <a:cubicBezTo>
                  <a:pt x="3283850" y="0"/>
                  <a:pt x="3339730" y="55880"/>
                  <a:pt x="3339730" y="124460"/>
                </a:cubicBezTo>
                <a:lnTo>
                  <a:pt x="3339730" y="1789430"/>
                </a:lnTo>
                <a:cubicBezTo>
                  <a:pt x="3339730" y="1858010"/>
                  <a:pt x="3283850" y="1913890"/>
                  <a:pt x="3215270" y="191389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1" name="Google Shape;621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437790">
            <a:off x="15602998" y="4188000"/>
            <a:ext cx="1803504" cy="796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2" name="Google Shape;622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603567">
            <a:off x="3436403" y="799085"/>
            <a:ext cx="1803504" cy="796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4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1814672" y="-221720"/>
            <a:ext cx="3629343" cy="3154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624" name="Google Shape;624;p4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10800000">
            <a:off x="14681247" y="7902007"/>
            <a:ext cx="5126880" cy="2712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5" name="Google Shape;625;p46" descr="A picture containing vector graphics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747977" y="4526265"/>
            <a:ext cx="2447335" cy="2447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p4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96828" y="1217872"/>
            <a:ext cx="2351198" cy="2351198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46"/>
          <p:cNvSpPr txBox="1"/>
          <p:nvPr/>
        </p:nvSpPr>
        <p:spPr>
          <a:xfrm>
            <a:off x="5203534" y="1322269"/>
            <a:ext cx="11164226" cy="3161506"/>
          </a:xfrm>
          <a:prstGeom prst="rect">
            <a:avLst/>
          </a:prstGeom>
          <a:solidFill>
            <a:srgbClr val="CCC0D9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Fēi   yǎ   túshūɡuǎn    fùjìn yǒu kāfēitīnɡ、</a:t>
            </a:r>
            <a:endParaRPr sz="28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菲  雅：图书馆附近 有 咖啡厅、</a:t>
            </a:r>
            <a:endParaRPr sz="44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shānɡdiàn、fùyìndiàn hé cāntīnɡ. 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商店、 复印店 和 餐厅。  </a:t>
            </a:r>
            <a:endParaRPr sz="44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3284688" y="79517"/>
            <a:ext cx="4165112" cy="1253983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13342907" y="190500"/>
            <a:ext cx="4259293" cy="994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会话（一）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46"/>
          <p:cNvSpPr/>
          <p:nvPr/>
        </p:nvSpPr>
        <p:spPr>
          <a:xfrm>
            <a:off x="3847625" y="7546910"/>
            <a:ext cx="12467394" cy="1929838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46"/>
          <p:cNvSpPr txBox="1"/>
          <p:nvPr/>
        </p:nvSpPr>
        <p:spPr>
          <a:xfrm>
            <a:off x="4457223" y="7764356"/>
            <a:ext cx="11857795" cy="1865126"/>
          </a:xfrm>
          <a:prstGeom prst="rect">
            <a:avLst/>
          </a:prstGeom>
          <a:solidFill>
            <a:srgbClr val="CCC0D9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Fēi   yǎ   hǎode， shí'èr  diǎn  Wǒ  zài  cāntīnɡ  děnɡ nǐ.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菲  雅：好的，十二点 我 在 餐厅等 你。</a:t>
            </a:r>
            <a:endParaRPr sz="44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632" name="Google Shape;632;p46"/>
          <p:cNvSpPr/>
          <p:nvPr/>
        </p:nvSpPr>
        <p:spPr>
          <a:xfrm>
            <a:off x="1143000" y="7238185"/>
            <a:ext cx="2857026" cy="2572891"/>
          </a:xfrm>
          <a:custGeom>
            <a:avLst/>
            <a:gdLst/>
            <a:ahLst/>
            <a:cxnLst/>
            <a:rect l="l" t="t" r="r" b="b"/>
            <a:pathLst>
              <a:path w="3339730" h="1913890" extrusionOk="0">
                <a:moveTo>
                  <a:pt x="3215270" y="1913890"/>
                </a:moveTo>
                <a:lnTo>
                  <a:pt x="124460" y="1913890"/>
                </a:lnTo>
                <a:cubicBezTo>
                  <a:pt x="55880" y="1913890"/>
                  <a:pt x="0" y="1858010"/>
                  <a:pt x="0" y="1789430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3215270" y="0"/>
                </a:lnTo>
                <a:cubicBezTo>
                  <a:pt x="3283850" y="0"/>
                  <a:pt x="3339730" y="55880"/>
                  <a:pt x="3339730" y="124460"/>
                </a:cubicBezTo>
                <a:lnTo>
                  <a:pt x="3339730" y="1789430"/>
                </a:lnTo>
                <a:cubicBezTo>
                  <a:pt x="3339730" y="1858010"/>
                  <a:pt x="3283850" y="1913890"/>
                  <a:pt x="3215270" y="191389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3" name="Google Shape;633;p4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19588" y="7124700"/>
            <a:ext cx="2351198" cy="2351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9"/>
        </a:solidFill>
        <a:effectLst/>
      </p:bgPr>
    </p:bg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47"/>
          <p:cNvSpPr/>
          <p:nvPr/>
        </p:nvSpPr>
        <p:spPr>
          <a:xfrm>
            <a:off x="2214563" y="5295044"/>
            <a:ext cx="12154073" cy="3660067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47"/>
          <p:cNvSpPr txBox="1"/>
          <p:nvPr/>
        </p:nvSpPr>
        <p:spPr>
          <a:xfrm>
            <a:off x="5086150" y="5427977"/>
            <a:ext cx="8792793" cy="3394199"/>
          </a:xfrm>
          <a:prstGeom prst="rect">
            <a:avLst/>
          </a:prstGeom>
          <a:solidFill>
            <a:srgbClr val="CCC0D9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216249"/>
              </a:lnSpc>
              <a:buClr>
                <a:srgbClr val="2E2F30"/>
              </a:buClr>
              <a:buSzPts val="2800"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Fēi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yǎ</a:t>
            </a:r>
            <a:r>
              <a:rPr lang="en-US" sz="2800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   </a:t>
            </a:r>
            <a:r>
              <a:rPr lang="en-US" sz="2800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wǒ</a:t>
            </a:r>
            <a:r>
              <a:rPr lang="en-US" sz="2800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de </a:t>
            </a:r>
            <a:r>
              <a:rPr lang="en-US" sz="2800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sùshè</a:t>
            </a:r>
            <a:r>
              <a:rPr lang="en-US" sz="2800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zài</a:t>
            </a:r>
            <a:r>
              <a:rPr lang="en-US" sz="2800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tǐyù</a:t>
            </a:r>
            <a:r>
              <a:rPr lang="en-US" sz="2800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guǎn</a:t>
            </a:r>
            <a:r>
              <a:rPr lang="en-US" sz="2800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fùjìn</a:t>
            </a:r>
            <a:r>
              <a:rPr lang="en-US" sz="2800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endParaRPr sz="2800" b="0" i="0" u="none" strike="noStrike" cap="none" dirty="0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菲 雅：</a:t>
            </a:r>
            <a:r>
              <a:rPr lang="zh-CN" altLang="en-US" sz="44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我的宿舍在体育馆附近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</a:p>
          <a:p>
            <a:pPr lvl="0">
              <a:lnSpc>
                <a:spcPct val="137613"/>
              </a:lnSpc>
              <a:buClr>
                <a:srgbClr val="2E2F30"/>
              </a:buClr>
              <a:buSzPts val="4400"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nà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lǐ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hái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yǒu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yí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gè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lán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qiú</a:t>
            </a:r>
            <a:r>
              <a:rPr lang="en-US" sz="2800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chǎng</a:t>
            </a:r>
            <a:endParaRPr sz="1400" b="0" i="0" u="none" strike="noStrike" cap="none" dirty="0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那里还有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一个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篮球场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。 </a:t>
            </a:r>
            <a:endParaRPr sz="4400" b="0" i="0" u="none" strike="noStrike" cap="none" dirty="0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640" name="Google Shape;640;p47"/>
          <p:cNvSpPr/>
          <p:nvPr/>
        </p:nvSpPr>
        <p:spPr>
          <a:xfrm>
            <a:off x="4271964" y="2437954"/>
            <a:ext cx="9509134" cy="2077587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47"/>
          <p:cNvSpPr/>
          <p:nvPr/>
        </p:nvSpPr>
        <p:spPr>
          <a:xfrm>
            <a:off x="1524000" y="1847627"/>
            <a:ext cx="2900363" cy="2857064"/>
          </a:xfrm>
          <a:custGeom>
            <a:avLst/>
            <a:gdLst/>
            <a:ahLst/>
            <a:cxnLst/>
            <a:rect l="l" t="t" r="r" b="b"/>
            <a:pathLst>
              <a:path w="3339730" h="1913890" extrusionOk="0">
                <a:moveTo>
                  <a:pt x="3215270" y="1913890"/>
                </a:moveTo>
                <a:lnTo>
                  <a:pt x="124460" y="1913890"/>
                </a:lnTo>
                <a:cubicBezTo>
                  <a:pt x="55880" y="1913890"/>
                  <a:pt x="0" y="1858010"/>
                  <a:pt x="0" y="1789430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3215270" y="0"/>
                </a:lnTo>
                <a:cubicBezTo>
                  <a:pt x="3283850" y="0"/>
                  <a:pt x="3339730" y="55880"/>
                  <a:pt x="3339730" y="124460"/>
                </a:cubicBezTo>
                <a:lnTo>
                  <a:pt x="3339730" y="1789430"/>
                </a:lnTo>
                <a:cubicBezTo>
                  <a:pt x="3339730" y="1858010"/>
                  <a:pt x="3283850" y="1913890"/>
                  <a:pt x="3215270" y="191389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47"/>
          <p:cNvSpPr/>
          <p:nvPr/>
        </p:nvSpPr>
        <p:spPr>
          <a:xfrm>
            <a:off x="14076409" y="4565165"/>
            <a:ext cx="2969769" cy="3073662"/>
          </a:xfrm>
          <a:custGeom>
            <a:avLst/>
            <a:gdLst/>
            <a:ahLst/>
            <a:cxnLst/>
            <a:rect l="l" t="t" r="r" b="b"/>
            <a:pathLst>
              <a:path w="3339730" h="1913890" extrusionOk="0">
                <a:moveTo>
                  <a:pt x="3215270" y="1913890"/>
                </a:moveTo>
                <a:lnTo>
                  <a:pt x="124460" y="1913890"/>
                </a:lnTo>
                <a:cubicBezTo>
                  <a:pt x="55880" y="1913890"/>
                  <a:pt x="0" y="1858010"/>
                  <a:pt x="0" y="1789430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3215270" y="0"/>
                </a:lnTo>
                <a:cubicBezTo>
                  <a:pt x="3283850" y="0"/>
                  <a:pt x="3339730" y="55880"/>
                  <a:pt x="3339730" y="124460"/>
                </a:cubicBezTo>
                <a:lnTo>
                  <a:pt x="3339730" y="1789430"/>
                </a:lnTo>
                <a:cubicBezTo>
                  <a:pt x="3339730" y="1858010"/>
                  <a:pt x="3283850" y="1913890"/>
                  <a:pt x="3215270" y="191389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3" name="Google Shape;643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437790">
            <a:off x="2841267" y="1577927"/>
            <a:ext cx="1803504" cy="796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603567">
            <a:off x="15324811" y="4218159"/>
            <a:ext cx="1803504" cy="796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5" name="Google Shape;645;p4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1814672" y="-221720"/>
            <a:ext cx="3629343" cy="3154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6" name="Google Shape;646;p4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10800000">
            <a:off x="14681247" y="7902007"/>
            <a:ext cx="5126880" cy="2712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p47" descr="A picture containing vector graphics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67035" y="1929595"/>
            <a:ext cx="2621825" cy="262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8" name="Google Shape;648;p4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300148" y="4658252"/>
            <a:ext cx="2672957" cy="2672957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47"/>
          <p:cNvSpPr txBox="1"/>
          <p:nvPr/>
        </p:nvSpPr>
        <p:spPr>
          <a:xfrm>
            <a:off x="4790745" y="2655505"/>
            <a:ext cx="8660560" cy="1865126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216249"/>
              </a:lnSpc>
              <a:buClr>
                <a:srgbClr val="2E2F30"/>
              </a:buClr>
              <a:buSzPts val="2800"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Mǎ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lì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 </a:t>
            </a:r>
            <a:r>
              <a:rPr lang="en-US" sz="2800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nǐ</a:t>
            </a:r>
            <a:r>
              <a:rPr lang="en-US" sz="2800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de </a:t>
            </a:r>
            <a:r>
              <a:rPr lang="en-US" sz="2800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sùshè</a:t>
            </a:r>
            <a:r>
              <a:rPr lang="en-US" sz="2800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zài</a:t>
            </a:r>
            <a:r>
              <a:rPr lang="en-US" sz="2800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nǎr</a:t>
            </a:r>
            <a:r>
              <a:rPr lang="en-US" sz="2800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？ </a:t>
            </a:r>
            <a:endParaRPr sz="1400" b="0" i="0" u="none" strike="noStrike" cap="none" dirty="0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玛 丽:</a:t>
            </a:r>
            <a:r>
              <a:rPr lang="zh-CN" altLang="en-US" sz="44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你的宿舍</a:t>
            </a:r>
            <a:r>
              <a:rPr lang="en-US" sz="4400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在哪儿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？ </a:t>
            </a:r>
            <a:endParaRPr sz="4400" b="0" i="0" u="none" strike="noStrike" cap="none" dirty="0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650" name="Google Shape;650;p4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29400" y="428968"/>
            <a:ext cx="5029200" cy="1514132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7"/>
          <p:cNvSpPr txBox="1"/>
          <p:nvPr/>
        </p:nvSpPr>
        <p:spPr>
          <a:xfrm>
            <a:off x="6942107" y="625257"/>
            <a:ext cx="4259293" cy="994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会话（二）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9"/>
        </a:solidFill>
        <a:effectLst/>
      </p:bgPr>
    </p:bg>
    <p:spTree>
      <p:nvGrpSpPr>
        <p:cNvPr id="1" name="Shape 637">
          <a:extLst>
            <a:ext uri="{FF2B5EF4-FFF2-40B4-BE49-F238E27FC236}">
              <a16:creationId xmlns:a16="http://schemas.microsoft.com/office/drawing/2014/main" id="{D9BDA1E2-278B-764B-7A72-B3D0A7F08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47">
            <a:extLst>
              <a:ext uri="{FF2B5EF4-FFF2-40B4-BE49-F238E27FC236}">
                <a16:creationId xmlns:a16="http://schemas.microsoft.com/office/drawing/2014/main" id="{FAF5C8B6-0C8D-DC49-5C78-4A7317CC3320}"/>
              </a:ext>
            </a:extLst>
          </p:cNvPr>
          <p:cNvSpPr/>
          <p:nvPr/>
        </p:nvSpPr>
        <p:spPr>
          <a:xfrm>
            <a:off x="2214563" y="5295044"/>
            <a:ext cx="12154073" cy="3660067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47">
            <a:extLst>
              <a:ext uri="{FF2B5EF4-FFF2-40B4-BE49-F238E27FC236}">
                <a16:creationId xmlns:a16="http://schemas.microsoft.com/office/drawing/2014/main" id="{4D85D9BC-4710-0888-ADC6-5FB90B5904CC}"/>
              </a:ext>
            </a:extLst>
          </p:cNvPr>
          <p:cNvSpPr txBox="1"/>
          <p:nvPr/>
        </p:nvSpPr>
        <p:spPr>
          <a:xfrm>
            <a:off x="1197161" y="5421936"/>
            <a:ext cx="13896600" cy="3473400"/>
          </a:xfrm>
          <a:prstGeom prst="rect">
            <a:avLst/>
          </a:prstGeom>
          <a:solidFill>
            <a:srgbClr val="CCC0D9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Fēi  yǎ      tǐyùɡuǎn   zài  zúqiúchǎnɡ </a:t>
            </a:r>
            <a:r>
              <a:rPr lang="en-US" sz="280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hé yóuyǒnɡchí zhōnɡjiān,  </a:t>
            </a:r>
            <a:endParaRPr sz="28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菲 雅：体育馆 在 足球场 </a:t>
            </a:r>
            <a:r>
              <a:rPr lang="en-US" sz="440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和 游泳池 中间，</a:t>
            </a:r>
            <a:endParaRPr sz="44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nà lǐ hái yǒu yí  gè   lán qiú cháng. 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那里还有 一 个 篮球场。 </a:t>
            </a:r>
            <a:endParaRPr sz="44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640" name="Google Shape;640;p47">
            <a:extLst>
              <a:ext uri="{FF2B5EF4-FFF2-40B4-BE49-F238E27FC236}">
                <a16:creationId xmlns:a16="http://schemas.microsoft.com/office/drawing/2014/main" id="{264E60B0-C07A-6C4D-1883-B45FC737187B}"/>
              </a:ext>
            </a:extLst>
          </p:cNvPr>
          <p:cNvSpPr/>
          <p:nvPr/>
        </p:nvSpPr>
        <p:spPr>
          <a:xfrm>
            <a:off x="4271964" y="2437954"/>
            <a:ext cx="9509134" cy="2077587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47">
            <a:extLst>
              <a:ext uri="{FF2B5EF4-FFF2-40B4-BE49-F238E27FC236}">
                <a16:creationId xmlns:a16="http://schemas.microsoft.com/office/drawing/2014/main" id="{D2A6FF49-70A4-B772-997B-34B5B50AD6C2}"/>
              </a:ext>
            </a:extLst>
          </p:cNvPr>
          <p:cNvSpPr/>
          <p:nvPr/>
        </p:nvSpPr>
        <p:spPr>
          <a:xfrm>
            <a:off x="1524000" y="1847627"/>
            <a:ext cx="2900363" cy="2857064"/>
          </a:xfrm>
          <a:custGeom>
            <a:avLst/>
            <a:gdLst/>
            <a:ahLst/>
            <a:cxnLst/>
            <a:rect l="l" t="t" r="r" b="b"/>
            <a:pathLst>
              <a:path w="3339730" h="1913890" extrusionOk="0">
                <a:moveTo>
                  <a:pt x="3215270" y="1913890"/>
                </a:moveTo>
                <a:lnTo>
                  <a:pt x="124460" y="1913890"/>
                </a:lnTo>
                <a:cubicBezTo>
                  <a:pt x="55880" y="1913890"/>
                  <a:pt x="0" y="1858010"/>
                  <a:pt x="0" y="1789430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3215270" y="0"/>
                </a:lnTo>
                <a:cubicBezTo>
                  <a:pt x="3283850" y="0"/>
                  <a:pt x="3339730" y="55880"/>
                  <a:pt x="3339730" y="124460"/>
                </a:cubicBezTo>
                <a:lnTo>
                  <a:pt x="3339730" y="1789430"/>
                </a:lnTo>
                <a:cubicBezTo>
                  <a:pt x="3339730" y="1858010"/>
                  <a:pt x="3283850" y="1913890"/>
                  <a:pt x="3215270" y="191389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47">
            <a:extLst>
              <a:ext uri="{FF2B5EF4-FFF2-40B4-BE49-F238E27FC236}">
                <a16:creationId xmlns:a16="http://schemas.microsoft.com/office/drawing/2014/main" id="{C21C3F41-2ED9-B146-A2D7-0B0062BCC50B}"/>
              </a:ext>
            </a:extLst>
          </p:cNvPr>
          <p:cNvSpPr/>
          <p:nvPr/>
        </p:nvSpPr>
        <p:spPr>
          <a:xfrm>
            <a:off x="14076409" y="4565165"/>
            <a:ext cx="2969769" cy="3073662"/>
          </a:xfrm>
          <a:custGeom>
            <a:avLst/>
            <a:gdLst/>
            <a:ahLst/>
            <a:cxnLst/>
            <a:rect l="l" t="t" r="r" b="b"/>
            <a:pathLst>
              <a:path w="3339730" h="1913890" extrusionOk="0">
                <a:moveTo>
                  <a:pt x="3215270" y="1913890"/>
                </a:moveTo>
                <a:lnTo>
                  <a:pt x="124460" y="1913890"/>
                </a:lnTo>
                <a:cubicBezTo>
                  <a:pt x="55880" y="1913890"/>
                  <a:pt x="0" y="1858010"/>
                  <a:pt x="0" y="1789430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3215270" y="0"/>
                </a:lnTo>
                <a:cubicBezTo>
                  <a:pt x="3283850" y="0"/>
                  <a:pt x="3339730" y="55880"/>
                  <a:pt x="3339730" y="124460"/>
                </a:cubicBezTo>
                <a:lnTo>
                  <a:pt x="3339730" y="1789430"/>
                </a:lnTo>
                <a:cubicBezTo>
                  <a:pt x="3339730" y="1858010"/>
                  <a:pt x="3283850" y="1913890"/>
                  <a:pt x="3215270" y="191389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3" name="Google Shape;643;p47">
            <a:extLst>
              <a:ext uri="{FF2B5EF4-FFF2-40B4-BE49-F238E27FC236}">
                <a16:creationId xmlns:a16="http://schemas.microsoft.com/office/drawing/2014/main" id="{C98CE11A-AACD-68CE-7DC7-0E66A833061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437790">
            <a:off x="2841267" y="1577927"/>
            <a:ext cx="1803504" cy="796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47">
            <a:extLst>
              <a:ext uri="{FF2B5EF4-FFF2-40B4-BE49-F238E27FC236}">
                <a16:creationId xmlns:a16="http://schemas.microsoft.com/office/drawing/2014/main" id="{1E19AFEC-99A7-E7C9-C0F2-AF297E484A9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603567">
            <a:off x="15324811" y="4218159"/>
            <a:ext cx="1803504" cy="796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5" name="Google Shape;645;p47">
            <a:extLst>
              <a:ext uri="{FF2B5EF4-FFF2-40B4-BE49-F238E27FC236}">
                <a16:creationId xmlns:a16="http://schemas.microsoft.com/office/drawing/2014/main" id="{1B3D58DA-B316-7786-A950-4BCB1DAF44B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1814672" y="-221720"/>
            <a:ext cx="3629343" cy="3154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6" name="Google Shape;646;p47">
            <a:extLst>
              <a:ext uri="{FF2B5EF4-FFF2-40B4-BE49-F238E27FC236}">
                <a16:creationId xmlns:a16="http://schemas.microsoft.com/office/drawing/2014/main" id="{30BD76C5-6F35-1E6E-6838-DE9C3C1A335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10800000">
            <a:off x="14681247" y="7902007"/>
            <a:ext cx="5126880" cy="2712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p47" descr="A picture containing vector graphics&#10;&#10;Description automatically generated">
            <a:extLst>
              <a:ext uri="{FF2B5EF4-FFF2-40B4-BE49-F238E27FC236}">
                <a16:creationId xmlns:a16="http://schemas.microsoft.com/office/drawing/2014/main" id="{AB9DC841-65EC-BF01-0D8A-B75B4933F1C3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67035" y="1929595"/>
            <a:ext cx="2621825" cy="262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8" name="Google Shape;648;p47">
            <a:extLst>
              <a:ext uri="{FF2B5EF4-FFF2-40B4-BE49-F238E27FC236}">
                <a16:creationId xmlns:a16="http://schemas.microsoft.com/office/drawing/2014/main" id="{32B9267B-E57D-5EEA-D399-25149EEB6FB5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300148" y="4658252"/>
            <a:ext cx="2672957" cy="2672957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47">
            <a:extLst>
              <a:ext uri="{FF2B5EF4-FFF2-40B4-BE49-F238E27FC236}">
                <a16:creationId xmlns:a16="http://schemas.microsoft.com/office/drawing/2014/main" id="{A329B822-7262-9B83-DB75-77E5757242C1}"/>
              </a:ext>
            </a:extLst>
          </p:cNvPr>
          <p:cNvSpPr txBox="1"/>
          <p:nvPr/>
        </p:nvSpPr>
        <p:spPr>
          <a:xfrm>
            <a:off x="4790745" y="2655505"/>
            <a:ext cx="8625300" cy="1609200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Mǎ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lì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 </a:t>
            </a:r>
            <a:r>
              <a:rPr lang="en-US" sz="2800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tǐyùɡuǎn</a:t>
            </a:r>
            <a:r>
              <a:rPr lang="en-US" sz="2800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 </a:t>
            </a:r>
            <a:r>
              <a:rPr lang="en-US" sz="2800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zài</a:t>
            </a:r>
            <a:r>
              <a:rPr lang="en-US" sz="2800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2800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nǎr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endParaRPr sz="1400" b="0" i="0" u="none" strike="noStrike" cap="none" dirty="0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玛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丽：</a:t>
            </a:r>
            <a:r>
              <a:rPr lang="en-US" sz="4400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体育馆在哪儿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？ </a:t>
            </a:r>
            <a:endParaRPr sz="4400" b="0" i="0" u="none" strike="noStrike" cap="none" dirty="0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650" name="Google Shape;650;p47">
            <a:extLst>
              <a:ext uri="{FF2B5EF4-FFF2-40B4-BE49-F238E27FC236}">
                <a16:creationId xmlns:a16="http://schemas.microsoft.com/office/drawing/2014/main" id="{00639A2C-5433-BCA4-F088-EF3EB6AE9DA4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29400" y="428968"/>
            <a:ext cx="5029200" cy="1514132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7">
            <a:extLst>
              <a:ext uri="{FF2B5EF4-FFF2-40B4-BE49-F238E27FC236}">
                <a16:creationId xmlns:a16="http://schemas.microsoft.com/office/drawing/2014/main" id="{5C3BC552-C859-6138-B311-F8AA58722AFD}"/>
              </a:ext>
            </a:extLst>
          </p:cNvPr>
          <p:cNvSpPr txBox="1"/>
          <p:nvPr/>
        </p:nvSpPr>
        <p:spPr>
          <a:xfrm>
            <a:off x="6942107" y="625257"/>
            <a:ext cx="4259293" cy="994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会话（二）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76067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9"/>
        </a:solidFill>
        <a:effectLst/>
      </p:bgPr>
    </p:bg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48"/>
          <p:cNvSpPr/>
          <p:nvPr/>
        </p:nvSpPr>
        <p:spPr>
          <a:xfrm>
            <a:off x="5105400" y="4544199"/>
            <a:ext cx="9260939" cy="1926361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48"/>
          <p:cNvSpPr txBox="1"/>
          <p:nvPr/>
        </p:nvSpPr>
        <p:spPr>
          <a:xfrm>
            <a:off x="4512598" y="4761642"/>
            <a:ext cx="10568741" cy="1865126"/>
          </a:xfrm>
          <a:prstGeom prst="rect">
            <a:avLst/>
          </a:prstGeom>
          <a:solidFill>
            <a:srgbClr val="CCC0D9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Fēi  yǎ    Yǒu  jiànshēn fánɡ zài tǐyùɡuǎn  lǐbiɑn.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菲 雅：有, 健身房 在 体育馆  里边。</a:t>
            </a:r>
            <a:endParaRPr sz="44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658" name="Google Shape;658;p48"/>
          <p:cNvSpPr/>
          <p:nvPr/>
        </p:nvSpPr>
        <p:spPr>
          <a:xfrm>
            <a:off x="4290618" y="1695336"/>
            <a:ext cx="8517746" cy="1924147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48"/>
          <p:cNvSpPr/>
          <p:nvPr/>
        </p:nvSpPr>
        <p:spPr>
          <a:xfrm>
            <a:off x="1542654" y="1104900"/>
            <a:ext cx="2900363" cy="2857064"/>
          </a:xfrm>
          <a:custGeom>
            <a:avLst/>
            <a:gdLst/>
            <a:ahLst/>
            <a:cxnLst/>
            <a:rect l="l" t="t" r="r" b="b"/>
            <a:pathLst>
              <a:path w="3339730" h="1913890" extrusionOk="0">
                <a:moveTo>
                  <a:pt x="3215270" y="1913890"/>
                </a:moveTo>
                <a:lnTo>
                  <a:pt x="124460" y="1913890"/>
                </a:lnTo>
                <a:cubicBezTo>
                  <a:pt x="55880" y="1913890"/>
                  <a:pt x="0" y="1858010"/>
                  <a:pt x="0" y="1789430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3215270" y="0"/>
                </a:lnTo>
                <a:cubicBezTo>
                  <a:pt x="3283850" y="0"/>
                  <a:pt x="3339730" y="55880"/>
                  <a:pt x="3339730" y="124460"/>
                </a:cubicBezTo>
                <a:lnTo>
                  <a:pt x="3339730" y="1789430"/>
                </a:lnTo>
                <a:cubicBezTo>
                  <a:pt x="3339730" y="1858010"/>
                  <a:pt x="3283850" y="1913890"/>
                  <a:pt x="3215270" y="191389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48"/>
          <p:cNvSpPr/>
          <p:nvPr/>
        </p:nvSpPr>
        <p:spPr>
          <a:xfrm>
            <a:off x="15483178" y="3250387"/>
            <a:ext cx="2969769" cy="3073662"/>
          </a:xfrm>
          <a:custGeom>
            <a:avLst/>
            <a:gdLst/>
            <a:ahLst/>
            <a:cxnLst/>
            <a:rect l="l" t="t" r="r" b="b"/>
            <a:pathLst>
              <a:path w="3339730" h="1913890" extrusionOk="0">
                <a:moveTo>
                  <a:pt x="3215270" y="1913890"/>
                </a:moveTo>
                <a:lnTo>
                  <a:pt x="124460" y="1913890"/>
                </a:lnTo>
                <a:cubicBezTo>
                  <a:pt x="55880" y="1913890"/>
                  <a:pt x="0" y="1858010"/>
                  <a:pt x="0" y="1789430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3215270" y="0"/>
                </a:lnTo>
                <a:cubicBezTo>
                  <a:pt x="3283850" y="0"/>
                  <a:pt x="3339730" y="55880"/>
                  <a:pt x="3339730" y="124460"/>
                </a:cubicBezTo>
                <a:lnTo>
                  <a:pt x="3339730" y="1789430"/>
                </a:lnTo>
                <a:cubicBezTo>
                  <a:pt x="3339730" y="1858010"/>
                  <a:pt x="3283850" y="1913890"/>
                  <a:pt x="3215270" y="191389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1" name="Google Shape;661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437790">
            <a:off x="2859921" y="835200"/>
            <a:ext cx="1803504" cy="796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2" name="Google Shape;662;p4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603567">
            <a:off x="16731580" y="2903381"/>
            <a:ext cx="1803504" cy="796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" name="Google Shape;663;p4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1814672" y="-221720"/>
            <a:ext cx="3629343" cy="3154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p4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10800000">
            <a:off x="14681247" y="7902007"/>
            <a:ext cx="5126880" cy="2712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48" descr="A picture containing vector graphics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85689" y="1186868"/>
            <a:ext cx="2621825" cy="262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6" name="Google Shape;666;p4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5584425" y="3245989"/>
            <a:ext cx="2672957" cy="2672957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48"/>
          <p:cNvSpPr txBox="1"/>
          <p:nvPr/>
        </p:nvSpPr>
        <p:spPr>
          <a:xfrm>
            <a:off x="4753517" y="1912778"/>
            <a:ext cx="8979415" cy="1865126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Mǎ   lì     Nà lǐ  yǒu jiànshēn fánɡ mɑ?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玛 丽：那里 有 健身	房	吗？ </a:t>
            </a:r>
            <a:endParaRPr sz="44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668" name="Google Shape;668;p4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3295956" y="120212"/>
            <a:ext cx="4077644" cy="1227649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48"/>
          <p:cNvSpPr txBox="1"/>
          <p:nvPr/>
        </p:nvSpPr>
        <p:spPr>
          <a:xfrm>
            <a:off x="13335000" y="190500"/>
            <a:ext cx="4259293" cy="994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会话（二）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48"/>
          <p:cNvSpPr/>
          <p:nvPr/>
        </p:nvSpPr>
        <p:spPr>
          <a:xfrm>
            <a:off x="4271963" y="7372672"/>
            <a:ext cx="9335383" cy="1924147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48"/>
          <p:cNvSpPr/>
          <p:nvPr/>
        </p:nvSpPr>
        <p:spPr>
          <a:xfrm>
            <a:off x="1524000" y="6782236"/>
            <a:ext cx="2900363" cy="2857064"/>
          </a:xfrm>
          <a:custGeom>
            <a:avLst/>
            <a:gdLst/>
            <a:ahLst/>
            <a:cxnLst/>
            <a:rect l="l" t="t" r="r" b="b"/>
            <a:pathLst>
              <a:path w="3339730" h="1913890" extrusionOk="0">
                <a:moveTo>
                  <a:pt x="3215270" y="1913890"/>
                </a:moveTo>
                <a:lnTo>
                  <a:pt x="124460" y="1913890"/>
                </a:lnTo>
                <a:cubicBezTo>
                  <a:pt x="55880" y="1913890"/>
                  <a:pt x="0" y="1858010"/>
                  <a:pt x="0" y="1789430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3215270" y="0"/>
                </a:lnTo>
                <a:cubicBezTo>
                  <a:pt x="3283850" y="0"/>
                  <a:pt x="3339730" y="55880"/>
                  <a:pt x="3339730" y="124460"/>
                </a:cubicBezTo>
                <a:lnTo>
                  <a:pt x="3339730" y="1789430"/>
                </a:lnTo>
                <a:cubicBezTo>
                  <a:pt x="3339730" y="1858010"/>
                  <a:pt x="3283850" y="1913890"/>
                  <a:pt x="3215270" y="191389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2" name="Google Shape;672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437790">
            <a:off x="2841267" y="6512536"/>
            <a:ext cx="1803504" cy="796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p48" descr="A picture containing vector graphics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67035" y="6864204"/>
            <a:ext cx="2621825" cy="2621825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48"/>
          <p:cNvSpPr txBox="1"/>
          <p:nvPr/>
        </p:nvSpPr>
        <p:spPr>
          <a:xfrm>
            <a:off x="4881563" y="7590114"/>
            <a:ext cx="8851369" cy="1865126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Mǎ   lì    Nǐ chánɡchánɡ duànliàn shēntǐ mɑ?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玛 丽：你  常常	锻炼  身体 吗？ </a:t>
            </a:r>
            <a:endParaRPr sz="44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9"/>
        </a:solidFill>
        <a:effectLst/>
      </p:bgPr>
    </p:bg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49"/>
          <p:cNvSpPr/>
          <p:nvPr/>
        </p:nvSpPr>
        <p:spPr>
          <a:xfrm>
            <a:off x="3581400" y="4544199"/>
            <a:ext cx="10786150" cy="1926361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49"/>
          <p:cNvSpPr txBox="1"/>
          <p:nvPr/>
        </p:nvSpPr>
        <p:spPr>
          <a:xfrm>
            <a:off x="3163171" y="4107604"/>
            <a:ext cx="10111194" cy="1865126"/>
          </a:xfrm>
          <a:prstGeom prst="rect">
            <a:avLst/>
          </a:prstGeom>
          <a:solidFill>
            <a:srgbClr val="CCC0D9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Mǎ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lì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jīntiān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Wǒ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kěyǐ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hé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nǐ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yìqǐ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qù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mɑ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?</a:t>
            </a:r>
            <a:endParaRPr sz="1400" b="0" i="0" u="none" strike="noStrike" cap="none" dirty="0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玛丽：今天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我可以和你一起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去 吗？ </a:t>
            </a:r>
            <a:endParaRPr sz="4400" b="0" i="0" u="none" strike="noStrike" cap="none" dirty="0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681" name="Google Shape;681;p49"/>
          <p:cNvSpPr/>
          <p:nvPr/>
        </p:nvSpPr>
        <p:spPr>
          <a:xfrm>
            <a:off x="4271962" y="1699296"/>
            <a:ext cx="11129276" cy="1924147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49"/>
          <p:cNvSpPr/>
          <p:nvPr/>
        </p:nvSpPr>
        <p:spPr>
          <a:xfrm>
            <a:off x="1529309" y="711750"/>
            <a:ext cx="2969769" cy="3073662"/>
          </a:xfrm>
          <a:custGeom>
            <a:avLst/>
            <a:gdLst/>
            <a:ahLst/>
            <a:cxnLst/>
            <a:rect l="l" t="t" r="r" b="b"/>
            <a:pathLst>
              <a:path w="3339730" h="1913890" extrusionOk="0">
                <a:moveTo>
                  <a:pt x="3215270" y="1913890"/>
                </a:moveTo>
                <a:lnTo>
                  <a:pt x="124460" y="1913890"/>
                </a:lnTo>
                <a:cubicBezTo>
                  <a:pt x="55880" y="1913890"/>
                  <a:pt x="0" y="1858010"/>
                  <a:pt x="0" y="1789430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3215270" y="0"/>
                </a:lnTo>
                <a:cubicBezTo>
                  <a:pt x="3283850" y="0"/>
                  <a:pt x="3339730" y="55880"/>
                  <a:pt x="3339730" y="124460"/>
                </a:cubicBezTo>
                <a:lnTo>
                  <a:pt x="3339730" y="1789430"/>
                </a:lnTo>
                <a:cubicBezTo>
                  <a:pt x="3339730" y="1858010"/>
                  <a:pt x="3283850" y="1913890"/>
                  <a:pt x="3215270" y="191389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3" name="Google Shape;683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603567">
            <a:off x="2777711" y="364744"/>
            <a:ext cx="1803504" cy="796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84" name="Google Shape;684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814672" y="-221720"/>
            <a:ext cx="3629343" cy="3154229"/>
          </a:xfrm>
          <a:prstGeom prst="rect">
            <a:avLst/>
          </a:prstGeom>
          <a:noFill/>
          <a:ln>
            <a:noFill/>
          </a:ln>
        </p:spPr>
      </p:pic>
      <p:pic>
        <p:nvPicPr>
          <p:cNvPr id="685" name="Google Shape;685;p4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0800000">
            <a:off x="14681247" y="7902007"/>
            <a:ext cx="5126880" cy="2712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6" name="Google Shape;686;p4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53048" y="804837"/>
            <a:ext cx="2672957" cy="2672957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49"/>
          <p:cNvSpPr txBox="1"/>
          <p:nvPr/>
        </p:nvSpPr>
        <p:spPr>
          <a:xfrm>
            <a:off x="4900217" y="1912778"/>
            <a:ext cx="10262237" cy="1865126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Fēi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yǎ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Wǒ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měitiān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dōu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qù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jiànshēn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fánɡ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jiànshēn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菲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雅：我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每天都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去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健身房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健身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。 </a:t>
            </a:r>
            <a:endParaRPr sz="4400" b="0" i="0" u="none" strike="noStrike" cap="none" dirty="0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688" name="Google Shape;688;p4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295956" y="120212"/>
            <a:ext cx="4077644" cy="1227649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49"/>
          <p:cNvSpPr txBox="1"/>
          <p:nvPr/>
        </p:nvSpPr>
        <p:spPr>
          <a:xfrm>
            <a:off x="13335000" y="190500"/>
            <a:ext cx="4259293" cy="994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会话（二）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49"/>
          <p:cNvSpPr/>
          <p:nvPr/>
        </p:nvSpPr>
        <p:spPr>
          <a:xfrm>
            <a:off x="4271963" y="7372672"/>
            <a:ext cx="6172339" cy="1924147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FFF3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49"/>
          <p:cNvSpPr/>
          <p:nvPr/>
        </p:nvSpPr>
        <p:spPr>
          <a:xfrm>
            <a:off x="13834129" y="3851192"/>
            <a:ext cx="2900363" cy="2857064"/>
          </a:xfrm>
          <a:custGeom>
            <a:avLst/>
            <a:gdLst/>
            <a:ahLst/>
            <a:cxnLst/>
            <a:rect l="l" t="t" r="r" b="b"/>
            <a:pathLst>
              <a:path w="3339730" h="1913890" extrusionOk="0">
                <a:moveTo>
                  <a:pt x="3215270" y="1913890"/>
                </a:moveTo>
                <a:lnTo>
                  <a:pt x="124460" y="1913890"/>
                </a:lnTo>
                <a:cubicBezTo>
                  <a:pt x="55880" y="1913890"/>
                  <a:pt x="0" y="1858010"/>
                  <a:pt x="0" y="1789430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3215270" y="0"/>
                </a:lnTo>
                <a:cubicBezTo>
                  <a:pt x="3283850" y="0"/>
                  <a:pt x="3339730" y="55880"/>
                  <a:pt x="3339730" y="124460"/>
                </a:cubicBezTo>
                <a:lnTo>
                  <a:pt x="3339730" y="1789430"/>
                </a:lnTo>
                <a:cubicBezTo>
                  <a:pt x="3339730" y="1858010"/>
                  <a:pt x="3283850" y="1913890"/>
                  <a:pt x="3215270" y="191389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2" name="Google Shape;692;p4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-437790">
            <a:off x="15151396" y="3581492"/>
            <a:ext cx="1803504" cy="796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3" name="Google Shape;693;p49" descr="A picture containing vector graphics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3977164" y="3933160"/>
            <a:ext cx="2621825" cy="2621825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49"/>
          <p:cNvSpPr txBox="1"/>
          <p:nvPr/>
        </p:nvSpPr>
        <p:spPr>
          <a:xfrm>
            <a:off x="4881563" y="7590114"/>
            <a:ext cx="6172339" cy="1865126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Fēi  yǎ   Dānɡrán  kěyǐ.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菲 雅：当然 可以。</a:t>
            </a:r>
            <a:endParaRPr sz="44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695" name="Google Shape;695;p49"/>
          <p:cNvSpPr/>
          <p:nvPr/>
        </p:nvSpPr>
        <p:spPr>
          <a:xfrm>
            <a:off x="1602954" y="6739159"/>
            <a:ext cx="2969769" cy="3073662"/>
          </a:xfrm>
          <a:custGeom>
            <a:avLst/>
            <a:gdLst/>
            <a:ahLst/>
            <a:cxnLst/>
            <a:rect l="l" t="t" r="r" b="b"/>
            <a:pathLst>
              <a:path w="3339730" h="1913890" extrusionOk="0">
                <a:moveTo>
                  <a:pt x="3215270" y="1913890"/>
                </a:moveTo>
                <a:lnTo>
                  <a:pt x="124460" y="1913890"/>
                </a:lnTo>
                <a:cubicBezTo>
                  <a:pt x="55880" y="1913890"/>
                  <a:pt x="0" y="1858010"/>
                  <a:pt x="0" y="1789430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3215270" y="0"/>
                </a:lnTo>
                <a:cubicBezTo>
                  <a:pt x="3283850" y="0"/>
                  <a:pt x="3339730" y="55880"/>
                  <a:pt x="3339730" y="124460"/>
                </a:cubicBezTo>
                <a:lnTo>
                  <a:pt x="3339730" y="1789430"/>
                </a:lnTo>
                <a:cubicBezTo>
                  <a:pt x="3339730" y="1858010"/>
                  <a:pt x="3283850" y="1913890"/>
                  <a:pt x="3215270" y="191389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6" name="Google Shape;696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603567">
            <a:off x="2851356" y="6392153"/>
            <a:ext cx="1803504" cy="796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7" name="Google Shape;697;p4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26693" y="6832246"/>
            <a:ext cx="2672957" cy="2672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8D9"/>
        </a:solidFill>
        <a:effectLst/>
      </p:bgPr>
    </p:bg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2" name="Google Shape;702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97897">
            <a:off x="74231" y="28910"/>
            <a:ext cx="4317585" cy="2833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p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3210173">
            <a:off x="11234133" y="426486"/>
            <a:ext cx="2253187" cy="2364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4" name="Google Shape;704;p5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257887" y="8252745"/>
            <a:ext cx="4128561" cy="4068509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50"/>
          <p:cNvSpPr txBox="1"/>
          <p:nvPr/>
        </p:nvSpPr>
        <p:spPr>
          <a:xfrm>
            <a:off x="14020800" y="114300"/>
            <a:ext cx="4019222" cy="744948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练习Exercises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50"/>
          <p:cNvSpPr txBox="1"/>
          <p:nvPr/>
        </p:nvSpPr>
        <p:spPr>
          <a:xfrm>
            <a:off x="5524193" y="1214377"/>
            <a:ext cx="5782104" cy="1863587"/>
          </a:xfrm>
          <a:prstGeom prst="rect">
            <a:avLst/>
          </a:prstGeom>
          <a:solidFill>
            <a:srgbClr val="FBD4B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拼音练习 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Pinyin practice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07" name="Google Shape;707;p50"/>
          <p:cNvGraphicFramePr/>
          <p:nvPr/>
        </p:nvGraphicFramePr>
        <p:xfrm>
          <a:off x="1528762" y="3131660"/>
          <a:ext cx="15907900" cy="6753825"/>
        </p:xfrm>
        <a:graphic>
          <a:graphicData uri="http://schemas.openxmlformats.org/drawingml/2006/table">
            <a:tbl>
              <a:tblPr firstRow="1" firstCol="1" lastRow="1" lastCol="1" bandRow="1" bandCol="1">
                <a:noFill/>
                <a:tableStyleId>{575B395C-9D9F-4EE4-B8DC-D4AB6F244BF9}</a:tableStyleId>
              </a:tblPr>
              <a:tblGrid>
                <a:gridCol w="40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1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51275">
                <a:tc>
                  <a:txBody>
                    <a:bodyPr/>
                    <a:lstStyle/>
                    <a:p>
                      <a:pPr marL="6794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jiāyóu zhàn</a:t>
                      </a:r>
                      <a:endParaRPr/>
                    </a:p>
                    <a:p>
                      <a:pPr marL="67945" marR="0" lvl="0" indent="0" algn="ctr" rtl="0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加油站</a:t>
                      </a:r>
                      <a:endParaRPr sz="4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6794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shūdiàn </a:t>
                      </a:r>
                      <a:endParaRPr/>
                    </a:p>
                    <a:p>
                      <a:pPr marL="67945" marR="0" lvl="0" indent="0" algn="ctr" rtl="0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书店 </a:t>
                      </a:r>
                      <a:endParaRPr sz="4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6794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shì chǎng</a:t>
                      </a:r>
                      <a:endParaRPr sz="4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  <a:p>
                      <a:pPr marL="67945" marR="0" lvl="0" indent="0" algn="ctr" rtl="0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市场</a:t>
                      </a:r>
                      <a:endParaRPr sz="4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660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huǒ chē zhàn   火车站</a:t>
                      </a:r>
                      <a:endParaRPr sz="4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1275">
                <a:tc>
                  <a:txBody>
                    <a:bodyPr/>
                    <a:lstStyle/>
                    <a:p>
                      <a:pPr marL="6794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zúqiú chǎnɡ</a:t>
                      </a:r>
                      <a:endParaRPr sz="4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  <a:p>
                      <a:pPr marL="67945" marR="0" lvl="0" indent="0" algn="ctr" rtl="0">
                        <a:lnSpc>
                          <a:spcPct val="100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足球场 </a:t>
                      </a:r>
                      <a:endParaRPr sz="4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6794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shítánɡ</a:t>
                      </a:r>
                      <a:endParaRPr sz="4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  <a:p>
                      <a:pPr marL="67945" marR="0" lvl="0" indent="0" algn="ctr" rtl="0">
                        <a:lnSpc>
                          <a:spcPct val="100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食堂</a:t>
                      </a:r>
                      <a:endParaRPr sz="4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6794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lán qiú cháng</a:t>
                      </a:r>
                      <a:endParaRPr sz="4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  <a:p>
                      <a:pPr marL="67945" marR="0" lvl="0" indent="0" algn="ctr" rtl="0">
                        <a:lnSpc>
                          <a:spcPct val="100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篮球场</a:t>
                      </a:r>
                      <a:endParaRPr sz="4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660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tǐyùɡuǎn</a:t>
                      </a:r>
                      <a:endParaRPr sz="4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  <a:p>
                      <a:pPr marL="66040" marR="0" lvl="0" indent="0" algn="ctr" rtl="0">
                        <a:lnSpc>
                          <a:spcPct val="100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体育馆</a:t>
                      </a:r>
                      <a:endParaRPr sz="4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1275">
                <a:tc>
                  <a:txBody>
                    <a:bodyPr/>
                    <a:lstStyle/>
                    <a:p>
                      <a:pPr marL="6794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Yīyuàn</a:t>
                      </a:r>
                      <a:endParaRPr/>
                    </a:p>
                    <a:p>
                      <a:pPr marL="67945" marR="0" lvl="0" indent="0" algn="ctr" rtl="0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医院</a:t>
                      </a:r>
                      <a:endParaRPr sz="4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6794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yínhánɡ</a:t>
                      </a:r>
                      <a:endParaRPr/>
                    </a:p>
                    <a:p>
                      <a:pPr marL="67945" marR="0" lvl="0" indent="0" algn="ctr" rtl="0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银行</a:t>
                      </a:r>
                      <a:endParaRPr sz="4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660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ɡōnɡyuán</a:t>
                      </a:r>
                      <a:endParaRPr sz="4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  <a:p>
                      <a:pPr marL="67945" marR="0" lvl="0" indent="0" algn="ctr" rtl="0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公园</a:t>
                      </a:r>
                      <a:endParaRPr sz="4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68575" marR="68575" marT="0" marB="0"/>
                </a:tc>
                <a:tc>
                  <a:txBody>
                    <a:bodyPr/>
                    <a:lstStyle/>
                    <a:p>
                      <a:pPr marL="660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shāng diàn</a:t>
                      </a:r>
                      <a:endParaRPr sz="4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  <a:p>
                      <a:pPr marL="66040" marR="0" lvl="0" indent="0" algn="ctr" rtl="0">
                        <a:lnSpc>
                          <a:spcPct val="1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商店</a:t>
                      </a:r>
                      <a:endParaRPr sz="4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68575" marR="6857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8D9"/>
        </a:solidFill>
        <a:effectLst/>
      </p:bgPr>
    </p:bg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51"/>
          <p:cNvSpPr/>
          <p:nvPr/>
        </p:nvSpPr>
        <p:spPr>
          <a:xfrm>
            <a:off x="2370106" y="6572920"/>
            <a:ext cx="2330602" cy="2132891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B8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4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3" name="Google Shape;713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97897">
            <a:off x="74231" y="28910"/>
            <a:ext cx="4317585" cy="2833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4" name="Google Shape;714;p5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3210173">
            <a:off x="10628674" y="828027"/>
            <a:ext cx="2253187" cy="2364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715" name="Google Shape;715;p5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1202" y="7760042"/>
            <a:ext cx="4128561" cy="40685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1"/>
          <p:cNvSpPr txBox="1"/>
          <p:nvPr/>
        </p:nvSpPr>
        <p:spPr>
          <a:xfrm>
            <a:off x="14020800" y="114300"/>
            <a:ext cx="4019222" cy="744948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练习Exercises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51"/>
          <p:cNvSpPr txBox="1"/>
          <p:nvPr/>
        </p:nvSpPr>
        <p:spPr>
          <a:xfrm>
            <a:off x="6668198" y="1073387"/>
            <a:ext cx="5091684" cy="931794"/>
          </a:xfrm>
          <a:prstGeom prst="rect">
            <a:avLst/>
          </a:prstGeom>
          <a:solidFill>
            <a:srgbClr val="FBD4B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替换 Substitutions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51"/>
          <p:cNvSpPr/>
          <p:nvPr/>
        </p:nvSpPr>
        <p:spPr>
          <a:xfrm>
            <a:off x="7315200" y="3640984"/>
            <a:ext cx="4448215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B2A0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51"/>
          <p:cNvSpPr txBox="1"/>
          <p:nvPr/>
        </p:nvSpPr>
        <p:spPr>
          <a:xfrm>
            <a:off x="6329249" y="3189539"/>
            <a:ext cx="7971393" cy="1977786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shū diàn zài túshūguǎn lǐbian </a:t>
            </a:r>
            <a:r>
              <a:rPr lang="en-US" sz="4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	</a:t>
            </a:r>
            <a:endParaRPr/>
          </a:p>
          <a:p>
            <a:pPr marL="0" marR="0" lvl="0" indent="0" algn="l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54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书店</a:t>
            </a:r>
            <a:r>
              <a:rPr lang="en-US" sz="5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在 </a:t>
            </a:r>
            <a:r>
              <a:rPr lang="en-US" sz="5400" b="0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图书馆</a:t>
            </a:r>
            <a:r>
              <a:rPr lang="en-US" sz="5400" b="0" i="0" u="sng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里边</a:t>
            </a:r>
            <a:r>
              <a:rPr lang="en-US" sz="5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。</a:t>
            </a:r>
            <a:endParaRPr sz="54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720" name="Google Shape;720;p51"/>
          <p:cNvSpPr/>
          <p:nvPr/>
        </p:nvSpPr>
        <p:spPr>
          <a:xfrm>
            <a:off x="2477170" y="4309277"/>
            <a:ext cx="2083747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92CC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4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51"/>
          <p:cNvSpPr txBox="1"/>
          <p:nvPr/>
        </p:nvSpPr>
        <p:spPr>
          <a:xfrm>
            <a:off x="2161681" y="4669471"/>
            <a:ext cx="2539027" cy="1354217"/>
          </a:xfrm>
          <a:prstGeom prst="rect">
            <a:avLst/>
          </a:pr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shūdiàn</a:t>
            </a:r>
            <a:endParaRPr sz="4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4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书店</a:t>
            </a:r>
            <a:endParaRPr sz="4400" b="0" i="0" u="none" strike="noStrike" cap="none">
              <a:solidFill>
                <a:schemeClr val="dk1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722" name="Google Shape;722;p51"/>
          <p:cNvSpPr txBox="1"/>
          <p:nvPr/>
        </p:nvSpPr>
        <p:spPr>
          <a:xfrm>
            <a:off x="2253188" y="6757736"/>
            <a:ext cx="2408087" cy="1504194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chāo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4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shì</a:t>
            </a:r>
            <a:endParaRPr sz="4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超市</a:t>
            </a:r>
            <a:endParaRPr sz="4400" b="0" i="0" u="none" strike="noStrike" cap="none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723" name="Google Shape;723;p51"/>
          <p:cNvSpPr/>
          <p:nvPr/>
        </p:nvSpPr>
        <p:spPr>
          <a:xfrm>
            <a:off x="10647778" y="6644053"/>
            <a:ext cx="3014251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B8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4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51"/>
          <p:cNvSpPr/>
          <p:nvPr/>
        </p:nvSpPr>
        <p:spPr>
          <a:xfrm>
            <a:off x="6366376" y="6644053"/>
            <a:ext cx="3516178" cy="213289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92CC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4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51"/>
          <p:cNvSpPr txBox="1"/>
          <p:nvPr/>
        </p:nvSpPr>
        <p:spPr>
          <a:xfrm>
            <a:off x="6557888" y="6958401"/>
            <a:ext cx="3170280" cy="1504194"/>
          </a:xfrm>
          <a:prstGeom prst="rect">
            <a:avLst/>
          </a:pr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zúqiú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4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chǎnɡ</a:t>
            </a:r>
            <a:endParaRPr sz="4400" b="0" i="0" u="none" strike="noStrike" cap="none" dirty="0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足球场</a:t>
            </a:r>
            <a:endParaRPr sz="4400" b="0" i="0" u="none" strike="noStrike" cap="none" dirty="0">
              <a:solidFill>
                <a:schemeClr val="dk1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726" name="Google Shape;726;p51"/>
          <p:cNvSpPr txBox="1"/>
          <p:nvPr/>
        </p:nvSpPr>
        <p:spPr>
          <a:xfrm>
            <a:off x="10736491" y="6862886"/>
            <a:ext cx="2884392" cy="1504194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xué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4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xiào</a:t>
            </a:r>
            <a:endParaRPr sz="4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学校</a:t>
            </a:r>
            <a:endParaRPr sz="4400" b="0" i="0" u="none" strike="noStrike" cap="none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727" name="Google Shape;727;p51"/>
          <p:cNvSpPr/>
          <p:nvPr/>
        </p:nvSpPr>
        <p:spPr>
          <a:xfrm>
            <a:off x="15153937" y="7330973"/>
            <a:ext cx="2341224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B8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4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51"/>
          <p:cNvSpPr/>
          <p:nvPr/>
        </p:nvSpPr>
        <p:spPr>
          <a:xfrm>
            <a:off x="15188235" y="5242832"/>
            <a:ext cx="2339365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92CC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4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51"/>
          <p:cNvSpPr txBox="1"/>
          <p:nvPr/>
        </p:nvSpPr>
        <p:spPr>
          <a:xfrm>
            <a:off x="15357558" y="5461665"/>
            <a:ext cx="2108264" cy="1504194"/>
          </a:xfrm>
          <a:prstGeom prst="rect">
            <a:avLst/>
          </a:pr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yīyuàn</a:t>
            </a:r>
            <a:endParaRPr sz="4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医院</a:t>
            </a:r>
            <a:endParaRPr sz="4400" b="0" i="0" u="none" strike="noStrike" cap="none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sp>
        <p:nvSpPr>
          <p:cNvPr id="730" name="Google Shape;730;p51"/>
          <p:cNvSpPr txBox="1"/>
          <p:nvPr/>
        </p:nvSpPr>
        <p:spPr>
          <a:xfrm>
            <a:off x="15184371" y="7623536"/>
            <a:ext cx="2180401" cy="1504194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dà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4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xué</a:t>
            </a:r>
            <a:endParaRPr sz="4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sym typeface="Arial"/>
              </a:rPr>
              <a:t>大学</a:t>
            </a:r>
            <a:endParaRPr sz="4400" b="0" i="0" u="none" strike="noStrike" cap="none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8D9"/>
        </a:solidFill>
        <a:effectLst/>
      </p:bgPr>
    </p:bg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52"/>
          <p:cNvSpPr/>
          <p:nvPr/>
        </p:nvSpPr>
        <p:spPr>
          <a:xfrm>
            <a:off x="4470640" y="5985161"/>
            <a:ext cx="2339365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B8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36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736" name="Google Shape;736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97897">
            <a:off x="74231" y="28910"/>
            <a:ext cx="4317585" cy="2833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7" name="Google Shape;737;p5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3210173">
            <a:off x="10628674" y="828027"/>
            <a:ext cx="2253187" cy="2364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738" name="Google Shape;738;p5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1202" y="7760042"/>
            <a:ext cx="4128561" cy="4068509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52"/>
          <p:cNvSpPr txBox="1"/>
          <p:nvPr/>
        </p:nvSpPr>
        <p:spPr>
          <a:xfrm>
            <a:off x="14020800" y="114300"/>
            <a:ext cx="4019222" cy="744948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练习Exercises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52"/>
          <p:cNvSpPr txBox="1"/>
          <p:nvPr/>
        </p:nvSpPr>
        <p:spPr>
          <a:xfrm>
            <a:off x="5607195" y="1073388"/>
            <a:ext cx="6152687" cy="931794"/>
          </a:xfrm>
          <a:prstGeom prst="rect">
            <a:avLst/>
          </a:prstGeom>
          <a:solidFill>
            <a:srgbClr val="FBD4B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替换 Substitutions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52"/>
          <p:cNvSpPr/>
          <p:nvPr/>
        </p:nvSpPr>
        <p:spPr>
          <a:xfrm>
            <a:off x="5410200" y="3640984"/>
            <a:ext cx="8083620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B2A0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52"/>
          <p:cNvSpPr txBox="1"/>
          <p:nvPr/>
        </p:nvSpPr>
        <p:spPr>
          <a:xfrm>
            <a:off x="5365293" y="3623763"/>
            <a:ext cx="10275277" cy="2094163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800"/>
              <a:buFont typeface="Calibri"/>
              <a:buNone/>
            </a:pPr>
            <a:r>
              <a:rPr lang="en-US" sz="5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xuéxiào lǐbiɑn </a:t>
            </a:r>
            <a:r>
              <a:rPr lang="en-US" sz="54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yǒu</a:t>
            </a:r>
            <a:r>
              <a:rPr lang="en-US" sz="5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yínhánɡ</a:t>
            </a:r>
            <a:endParaRPr sz="54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800"/>
              <a:buFont typeface="Calibri"/>
              <a:buNone/>
            </a:pPr>
            <a:r>
              <a:rPr lang="en-US" sz="5400" b="0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  学校</a:t>
            </a:r>
            <a:r>
              <a:rPr lang="en-US" sz="54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   里边  有   </a:t>
            </a:r>
            <a:r>
              <a:rPr lang="en-US" sz="5400" b="0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银行</a:t>
            </a:r>
            <a:endParaRPr sz="5400" b="0" i="0" u="none" strike="noStrike" cap="none">
              <a:solidFill>
                <a:srgbClr val="FF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743" name="Google Shape;743;p52"/>
          <p:cNvSpPr/>
          <p:nvPr/>
        </p:nvSpPr>
        <p:spPr>
          <a:xfrm>
            <a:off x="1078141" y="5945904"/>
            <a:ext cx="2654681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92CC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36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744" name="Google Shape;744;p52"/>
          <p:cNvSpPr txBox="1"/>
          <p:nvPr/>
        </p:nvSpPr>
        <p:spPr>
          <a:xfrm>
            <a:off x="1229595" y="6164737"/>
            <a:ext cx="2272433" cy="1504194"/>
          </a:xfrm>
          <a:prstGeom prst="rect">
            <a:avLst/>
          </a:pr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sù shè      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 宿舍 </a:t>
            </a:r>
            <a:endParaRPr sz="4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745" name="Google Shape;745;p52"/>
          <p:cNvSpPr txBox="1"/>
          <p:nvPr/>
        </p:nvSpPr>
        <p:spPr>
          <a:xfrm>
            <a:off x="4805849" y="6158355"/>
            <a:ext cx="1539619" cy="1504194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rén</a:t>
            </a:r>
            <a:endParaRPr sz="4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人</a:t>
            </a:r>
            <a:endParaRPr sz="4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746" name="Google Shape;746;p52"/>
          <p:cNvSpPr/>
          <p:nvPr/>
        </p:nvSpPr>
        <p:spPr>
          <a:xfrm>
            <a:off x="8991600" y="7962378"/>
            <a:ext cx="3507986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B8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36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747" name="Google Shape;747;p52"/>
          <p:cNvSpPr/>
          <p:nvPr/>
        </p:nvSpPr>
        <p:spPr>
          <a:xfrm>
            <a:off x="5500659" y="8158276"/>
            <a:ext cx="3305262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92CC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36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748" name="Google Shape;748;p52"/>
          <p:cNvSpPr txBox="1"/>
          <p:nvPr/>
        </p:nvSpPr>
        <p:spPr>
          <a:xfrm>
            <a:off x="5744967" y="8313405"/>
            <a:ext cx="2816646" cy="1504194"/>
          </a:xfrm>
          <a:prstGeom prst="rect">
            <a:avLst/>
          </a:pr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jiàoshì</a:t>
            </a:r>
            <a:endParaRPr sz="4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教室</a:t>
            </a:r>
            <a:endParaRPr sz="4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749" name="Google Shape;749;p52"/>
          <p:cNvSpPr txBox="1"/>
          <p:nvPr/>
        </p:nvSpPr>
        <p:spPr>
          <a:xfrm>
            <a:off x="9425144" y="8274219"/>
            <a:ext cx="2640897" cy="1504194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xuéshēnɡ</a:t>
            </a:r>
            <a:endParaRPr sz="4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学生</a:t>
            </a:r>
            <a:endParaRPr sz="4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750" name="Google Shape;750;p52"/>
          <p:cNvSpPr/>
          <p:nvPr/>
        </p:nvSpPr>
        <p:spPr>
          <a:xfrm>
            <a:off x="14823831" y="6141600"/>
            <a:ext cx="2532184" cy="1745954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B8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36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751" name="Google Shape;751;p52"/>
          <p:cNvSpPr/>
          <p:nvPr/>
        </p:nvSpPr>
        <p:spPr>
          <a:xfrm>
            <a:off x="11961277" y="5944840"/>
            <a:ext cx="2339365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92CC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36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752" name="Google Shape;752;p52"/>
          <p:cNvSpPr txBox="1"/>
          <p:nvPr/>
        </p:nvSpPr>
        <p:spPr>
          <a:xfrm>
            <a:off x="12066040" y="6141600"/>
            <a:ext cx="2004311" cy="1504194"/>
          </a:xfrm>
          <a:prstGeom prst="rect">
            <a:avLst/>
          </a:pr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jiā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家</a:t>
            </a:r>
            <a:endParaRPr sz="4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753" name="Google Shape;753;p52"/>
          <p:cNvSpPr txBox="1"/>
          <p:nvPr/>
        </p:nvSpPr>
        <p:spPr>
          <a:xfrm>
            <a:off x="15039842" y="6255848"/>
            <a:ext cx="2011960" cy="1504194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gǒu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狗</a:t>
            </a:r>
            <a:endParaRPr sz="4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8D9"/>
        </a:solidFill>
        <a:effectLst/>
      </p:bgPr>
    </p:bg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53"/>
          <p:cNvSpPr/>
          <p:nvPr/>
        </p:nvSpPr>
        <p:spPr>
          <a:xfrm>
            <a:off x="4789694" y="8246490"/>
            <a:ext cx="3661668" cy="194024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B8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9" name="Google Shape;759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97897">
            <a:off x="74231" y="28910"/>
            <a:ext cx="4317585" cy="2833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0" name="Google Shape;760;p5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3210173">
            <a:off x="10628674" y="828027"/>
            <a:ext cx="2253187" cy="2364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1" name="Google Shape;761;p5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1502" y="7661217"/>
            <a:ext cx="4128562" cy="4068507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53"/>
          <p:cNvSpPr txBox="1"/>
          <p:nvPr/>
        </p:nvSpPr>
        <p:spPr>
          <a:xfrm>
            <a:off x="14020800" y="114300"/>
            <a:ext cx="4019222" cy="744948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练习Exercises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53"/>
          <p:cNvSpPr txBox="1"/>
          <p:nvPr/>
        </p:nvSpPr>
        <p:spPr>
          <a:xfrm>
            <a:off x="5478310" y="1073387"/>
            <a:ext cx="6281572" cy="930455"/>
          </a:xfrm>
          <a:prstGeom prst="rect">
            <a:avLst/>
          </a:prstGeom>
          <a:solidFill>
            <a:srgbClr val="FBD4B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替换 Substitutions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53"/>
          <p:cNvSpPr/>
          <p:nvPr/>
        </p:nvSpPr>
        <p:spPr>
          <a:xfrm>
            <a:off x="5410200" y="3640984"/>
            <a:ext cx="8083620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B2A0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53"/>
          <p:cNvSpPr/>
          <p:nvPr/>
        </p:nvSpPr>
        <p:spPr>
          <a:xfrm>
            <a:off x="2089668" y="5720982"/>
            <a:ext cx="3661668" cy="194024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92CC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53"/>
          <p:cNvSpPr txBox="1"/>
          <p:nvPr/>
        </p:nvSpPr>
        <p:spPr>
          <a:xfrm>
            <a:off x="2025196" y="5847640"/>
            <a:ext cx="3492900" cy="1477800"/>
          </a:xfrm>
          <a:prstGeom prst="rect">
            <a:avLst/>
          </a:pr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4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shítánɡ 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4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食堂</a:t>
            </a:r>
            <a:endParaRPr sz="48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767" name="Google Shape;767;p53"/>
          <p:cNvSpPr txBox="1"/>
          <p:nvPr/>
        </p:nvSpPr>
        <p:spPr>
          <a:xfrm>
            <a:off x="4789700" y="8409529"/>
            <a:ext cx="3757200" cy="1478400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4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800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shāng diàn</a:t>
            </a:r>
            <a:endParaRPr sz="4800">
              <a:solidFill>
                <a:schemeClr val="dk1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66040" lvl="0" indent="0" algn="ctr" rtl="0">
              <a:spcBef>
                <a:spcPts val="5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800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商店</a:t>
            </a:r>
            <a:endParaRPr sz="48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768" name="Google Shape;768;p53"/>
          <p:cNvSpPr/>
          <p:nvPr/>
        </p:nvSpPr>
        <p:spPr>
          <a:xfrm>
            <a:off x="13672500" y="8036078"/>
            <a:ext cx="2776430" cy="194024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B8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53"/>
          <p:cNvSpPr/>
          <p:nvPr/>
        </p:nvSpPr>
        <p:spPr>
          <a:xfrm>
            <a:off x="9665225" y="6181149"/>
            <a:ext cx="4124407" cy="194024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92CC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53"/>
          <p:cNvSpPr txBox="1"/>
          <p:nvPr/>
        </p:nvSpPr>
        <p:spPr>
          <a:xfrm>
            <a:off x="9543894" y="6536526"/>
            <a:ext cx="4128600" cy="1231500"/>
          </a:xfrm>
          <a:prstGeom prst="rect">
            <a:avLst/>
          </a:pr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ɡōnɡyuán</a:t>
            </a:r>
            <a:endParaRPr>
              <a:solidFill>
                <a:schemeClr val="dk1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4800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公园</a:t>
            </a:r>
            <a:endParaRPr sz="48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771" name="Google Shape;771;p53"/>
          <p:cNvSpPr txBox="1"/>
          <p:nvPr/>
        </p:nvSpPr>
        <p:spPr>
          <a:xfrm>
            <a:off x="13934078" y="8390600"/>
            <a:ext cx="3241200" cy="1310400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67945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700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lán qiú cháng</a:t>
            </a:r>
            <a:endParaRPr sz="3700">
              <a:solidFill>
                <a:schemeClr val="dk1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67945" lvl="0" indent="0" algn="ctr" rtl="0">
              <a:spcBef>
                <a:spcPts val="15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800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篮球场</a:t>
            </a:r>
            <a:endParaRPr sz="4800">
              <a:latin typeface="SimSun"/>
              <a:ea typeface="SimSun"/>
              <a:cs typeface="SimSun"/>
              <a:sym typeface="SimSun"/>
            </a:endParaRPr>
          </a:p>
        </p:txBody>
      </p:sp>
      <p:graphicFrame>
        <p:nvGraphicFramePr>
          <p:cNvPr id="772" name="Google Shape;772;p53"/>
          <p:cNvGraphicFramePr/>
          <p:nvPr/>
        </p:nvGraphicFramePr>
        <p:xfrm>
          <a:off x="5478310" y="3815398"/>
          <a:ext cx="9700900" cy="1905575"/>
        </p:xfrm>
        <a:graphic>
          <a:graphicData uri="http://schemas.openxmlformats.org/drawingml/2006/table">
            <a:tbl>
              <a:tblPr firstRow="1" firstCol="1" bandRow="1">
                <a:noFill/>
                <a:tableStyleId>{CA2D1FD6-FD4F-4670-B896-7574B2FC8784}</a:tableStyleId>
              </a:tblPr>
              <a:tblGrid>
                <a:gridCol w="970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05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500">
                          <a:latin typeface="SimSun"/>
                          <a:ea typeface="SimSun"/>
                          <a:cs typeface="SimSun"/>
                          <a:sym typeface="SimSun"/>
                        </a:rPr>
                        <a:t>tǐyùɡuǎn lǐbiɑn</a:t>
                      </a:r>
                      <a:r>
                        <a:rPr lang="en-US" sz="45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 shì </a:t>
                      </a:r>
                      <a:r>
                        <a:rPr lang="en-US" sz="4500">
                          <a:latin typeface="SimSun"/>
                          <a:ea typeface="SimSun"/>
                          <a:cs typeface="SimSun"/>
                          <a:sym typeface="SimSun"/>
                        </a:rPr>
                        <a:t>jiànshēn fánɡ</a:t>
                      </a:r>
                      <a:endParaRPr sz="1100"/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800"/>
                        <a:buFont typeface="Arial"/>
                        <a:buNone/>
                      </a:pPr>
                      <a:r>
                        <a:rPr lang="en-US" sz="4800" u="sng">
                          <a:solidFill>
                            <a:schemeClr val="accent6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体育馆</a:t>
                      </a: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   </a:t>
                      </a:r>
                      <a:r>
                        <a:rPr lang="en-US" sz="4800">
                          <a:latin typeface="SimSun"/>
                          <a:ea typeface="SimSun"/>
                          <a:cs typeface="SimSun"/>
                          <a:sym typeface="SimSun"/>
                        </a:rPr>
                        <a:t>里边</a:t>
                      </a: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   是 </a:t>
                      </a:r>
                      <a:r>
                        <a:rPr lang="en-US" sz="4800" u="sng">
                          <a:solidFill>
                            <a:schemeClr val="accent6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健身房</a:t>
                      </a:r>
                      <a:r>
                        <a:rPr lang="en-US" sz="48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。</a:t>
                      </a:r>
                      <a:endParaRPr sz="4800" u="none" strike="noStrike" cap="none"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68575" marR="68575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8D9"/>
        </a:solidFill>
        <a:effectLst/>
      </p:bgPr>
    </p:bg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54"/>
          <p:cNvSpPr/>
          <p:nvPr/>
        </p:nvSpPr>
        <p:spPr>
          <a:xfrm>
            <a:off x="4342054" y="5945694"/>
            <a:ext cx="2447371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B8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8" name="Google Shape;778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97897">
            <a:off x="74231" y="28910"/>
            <a:ext cx="4317585" cy="2833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9" name="Google Shape;779;p5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3210173">
            <a:off x="10628674" y="828027"/>
            <a:ext cx="2253187" cy="2364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780" name="Google Shape;780;p5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1202" y="7760042"/>
            <a:ext cx="4128561" cy="4068509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54"/>
          <p:cNvSpPr txBox="1"/>
          <p:nvPr/>
        </p:nvSpPr>
        <p:spPr>
          <a:xfrm>
            <a:off x="13480611" y="114300"/>
            <a:ext cx="4559411" cy="931794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练习Exercises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54"/>
          <p:cNvSpPr txBox="1"/>
          <p:nvPr/>
        </p:nvSpPr>
        <p:spPr>
          <a:xfrm>
            <a:off x="6730682" y="1073388"/>
            <a:ext cx="5029200" cy="744948"/>
          </a:xfrm>
          <a:prstGeom prst="rect">
            <a:avLst/>
          </a:prstGeom>
          <a:solidFill>
            <a:srgbClr val="FBD4B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替换 Substitutions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54"/>
          <p:cNvSpPr/>
          <p:nvPr/>
        </p:nvSpPr>
        <p:spPr>
          <a:xfrm>
            <a:off x="5410200" y="3640984"/>
            <a:ext cx="8083620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B2A0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784" name="Google Shape;784;p54"/>
          <p:cNvSpPr txBox="1"/>
          <p:nvPr/>
        </p:nvSpPr>
        <p:spPr>
          <a:xfrm>
            <a:off x="4696677" y="3837736"/>
            <a:ext cx="9954434" cy="1861407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     Wǒ jiā  lí  dàxué hěn yuǎn/bù yuǎn.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800"/>
              <a:buFont typeface="Calibri"/>
              <a:buNone/>
            </a:pPr>
            <a:r>
              <a:rPr lang="en-US" sz="48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我家</a:t>
            </a:r>
            <a:r>
              <a:rPr lang="en-US" sz="48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 离 </a:t>
            </a:r>
            <a:r>
              <a:rPr lang="en-US" sz="4800" b="0" i="0" u="sng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大学</a:t>
            </a:r>
            <a:r>
              <a:rPr lang="en-US" sz="48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很远/不 远</a:t>
            </a:r>
            <a:r>
              <a:rPr lang="en-US" sz="4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。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785" name="Google Shape;785;p54"/>
          <p:cNvSpPr/>
          <p:nvPr/>
        </p:nvSpPr>
        <p:spPr>
          <a:xfrm>
            <a:off x="1676400" y="5944840"/>
            <a:ext cx="2745107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92CC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54"/>
          <p:cNvSpPr txBox="1"/>
          <p:nvPr/>
        </p:nvSpPr>
        <p:spPr>
          <a:xfrm>
            <a:off x="1594180" y="6141592"/>
            <a:ext cx="2593640" cy="1861407"/>
          </a:xfrm>
          <a:prstGeom prst="rect">
            <a:avLst/>
          </a:pr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Dàxué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lang="en-US" sz="4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大学</a:t>
            </a:r>
            <a:endParaRPr sz="48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787" name="Google Shape;787;p54"/>
          <p:cNvSpPr txBox="1"/>
          <p:nvPr/>
        </p:nvSpPr>
        <p:spPr>
          <a:xfrm>
            <a:off x="4302987" y="6142446"/>
            <a:ext cx="2326957" cy="1861407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sùshè</a:t>
            </a:r>
            <a:endParaRPr sz="32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lang="en-US" sz="4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宿舍</a:t>
            </a:r>
            <a:endParaRPr sz="48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788" name="Google Shape;788;p54"/>
          <p:cNvSpPr/>
          <p:nvPr/>
        </p:nvSpPr>
        <p:spPr>
          <a:xfrm>
            <a:off x="8737918" y="7962378"/>
            <a:ext cx="2770482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B8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54"/>
          <p:cNvSpPr/>
          <p:nvPr/>
        </p:nvSpPr>
        <p:spPr>
          <a:xfrm>
            <a:off x="6629400" y="7961524"/>
            <a:ext cx="2287817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92CC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54"/>
          <p:cNvSpPr txBox="1"/>
          <p:nvPr/>
        </p:nvSpPr>
        <p:spPr>
          <a:xfrm>
            <a:off x="6594298" y="8158276"/>
            <a:ext cx="2095093" cy="1861407"/>
          </a:xfrm>
          <a:prstGeom prst="rect">
            <a:avLst/>
          </a:pr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jīchǎnɡ</a:t>
            </a:r>
            <a:endParaRPr sz="32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lang="en-US" sz="4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机场</a:t>
            </a:r>
            <a:endParaRPr sz="48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791" name="Google Shape;791;p54"/>
          <p:cNvSpPr txBox="1"/>
          <p:nvPr/>
        </p:nvSpPr>
        <p:spPr>
          <a:xfrm>
            <a:off x="8658369" y="8159130"/>
            <a:ext cx="2670349" cy="1861407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xuéxiào</a:t>
            </a:r>
            <a:endParaRPr sz="32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lang="en-US" sz="4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学校</a:t>
            </a:r>
            <a:endParaRPr sz="48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792" name="Google Shape;792;p54"/>
          <p:cNvSpPr/>
          <p:nvPr/>
        </p:nvSpPr>
        <p:spPr>
          <a:xfrm>
            <a:off x="14651111" y="5945694"/>
            <a:ext cx="2724653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B8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54"/>
          <p:cNvSpPr/>
          <p:nvPr/>
        </p:nvSpPr>
        <p:spPr>
          <a:xfrm>
            <a:off x="11250494" y="5944840"/>
            <a:ext cx="3660798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92CC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54"/>
          <p:cNvSpPr txBox="1"/>
          <p:nvPr/>
        </p:nvSpPr>
        <p:spPr>
          <a:xfrm>
            <a:off x="10962535" y="6227376"/>
            <a:ext cx="3634173" cy="1499898"/>
          </a:xfrm>
          <a:prstGeom prst="rect">
            <a:avLst/>
          </a:pr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jiāyóu zhàn</a:t>
            </a:r>
            <a:endParaRPr sz="40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   </a:t>
            </a:r>
            <a:r>
              <a:rPr lang="en-US" sz="4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加油站</a:t>
            </a:r>
            <a:endParaRPr sz="48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795" name="Google Shape;795;p54"/>
          <p:cNvSpPr txBox="1"/>
          <p:nvPr/>
        </p:nvSpPr>
        <p:spPr>
          <a:xfrm>
            <a:off x="14759917" y="6142446"/>
            <a:ext cx="2385083" cy="1551194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Tǐyùɡuǎn</a:t>
            </a:r>
            <a:endParaRPr sz="32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4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体育馆</a:t>
            </a:r>
            <a:endParaRPr sz="48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8D9"/>
        </a:solidFill>
        <a:effectLst/>
      </p:bgPr>
    </p:bg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0" name="Google Shape;800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197897">
            <a:off x="74231" y="28910"/>
            <a:ext cx="4317585" cy="2833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1" name="Google Shape;801;p5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3210173">
            <a:off x="10628674" y="828027"/>
            <a:ext cx="2253187" cy="2364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2" name="Google Shape;802;p5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1202" y="7760042"/>
            <a:ext cx="4128561" cy="4068509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55"/>
          <p:cNvSpPr txBox="1"/>
          <p:nvPr/>
        </p:nvSpPr>
        <p:spPr>
          <a:xfrm>
            <a:off x="14020800" y="114300"/>
            <a:ext cx="4019222" cy="744948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练习Exercises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55"/>
          <p:cNvSpPr txBox="1"/>
          <p:nvPr/>
        </p:nvSpPr>
        <p:spPr>
          <a:xfrm>
            <a:off x="5984040" y="1073388"/>
            <a:ext cx="5775842" cy="931794"/>
          </a:xfrm>
          <a:prstGeom prst="rect">
            <a:avLst/>
          </a:prstGeom>
          <a:solidFill>
            <a:srgbClr val="FBD4B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替换 Substitutions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55"/>
          <p:cNvSpPr/>
          <p:nvPr/>
        </p:nvSpPr>
        <p:spPr>
          <a:xfrm>
            <a:off x="5410200" y="3640984"/>
            <a:ext cx="8083620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B2A0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55"/>
          <p:cNvSpPr txBox="1"/>
          <p:nvPr/>
        </p:nvSpPr>
        <p:spPr>
          <a:xfrm>
            <a:off x="5348272" y="3428554"/>
            <a:ext cx="8751271" cy="2326791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2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   Wǒ cónɡ xuéxiào qù chāoshì.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</a:br>
            <a:r>
              <a:rPr lang="en-US" sz="14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        </a:t>
            </a:r>
            <a:r>
              <a:rPr lang="en-US" sz="48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我 从 </a:t>
            </a:r>
            <a:r>
              <a:rPr lang="en-US" sz="48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学校 </a:t>
            </a:r>
            <a:r>
              <a:rPr lang="en-US" sz="4800" b="1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去</a:t>
            </a:r>
            <a:r>
              <a:rPr lang="en-US" sz="48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 超市</a:t>
            </a:r>
            <a:r>
              <a:rPr lang="en-US" sz="4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。</a:t>
            </a:r>
            <a:endParaRPr sz="48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807" name="Google Shape;807;p55"/>
          <p:cNvSpPr/>
          <p:nvPr/>
        </p:nvSpPr>
        <p:spPr>
          <a:xfrm>
            <a:off x="3048000" y="6555294"/>
            <a:ext cx="4880676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92CC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55"/>
          <p:cNvSpPr txBox="1"/>
          <p:nvPr/>
        </p:nvSpPr>
        <p:spPr>
          <a:xfrm>
            <a:off x="2274146" y="6904446"/>
            <a:ext cx="6272108" cy="1292662"/>
          </a:xfrm>
          <a:prstGeom prst="rect">
            <a:avLst/>
          </a:pr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36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sù shè   </a:t>
            </a:r>
            <a:r>
              <a:rPr lang="en-US" sz="36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kāfēi tīng</a:t>
            </a:r>
            <a:endParaRPr sz="32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SimSun"/>
              <a:buNone/>
            </a:pPr>
            <a:r>
              <a:rPr lang="en-US" sz="4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宿舍   咖啡厅</a:t>
            </a:r>
            <a:endParaRPr sz="48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809" name="Google Shape;809;p55"/>
          <p:cNvSpPr/>
          <p:nvPr/>
        </p:nvSpPr>
        <p:spPr>
          <a:xfrm>
            <a:off x="10635474" y="6723476"/>
            <a:ext cx="5707709" cy="1941860"/>
          </a:xfrm>
          <a:custGeom>
            <a:avLst/>
            <a:gdLst/>
            <a:ahLst/>
            <a:cxnLst/>
            <a:rect l="l" t="t" r="r" b="b"/>
            <a:pathLst>
              <a:path w="8047623" h="5748858" extrusionOk="0">
                <a:moveTo>
                  <a:pt x="7419845" y="5694380"/>
                </a:moveTo>
                <a:cubicBezTo>
                  <a:pt x="7419845" y="5694380"/>
                  <a:pt x="6688970" y="5748858"/>
                  <a:pt x="5633256" y="5746236"/>
                </a:cubicBezTo>
                <a:cubicBezTo>
                  <a:pt x="3101516" y="5744074"/>
                  <a:pt x="1057074" y="5736249"/>
                  <a:pt x="1057074" y="5736249"/>
                </a:cubicBezTo>
                <a:cubicBezTo>
                  <a:pt x="812932" y="5727415"/>
                  <a:pt x="449110" y="5706185"/>
                  <a:pt x="282371" y="5648007"/>
                </a:cubicBezTo>
                <a:cubicBezTo>
                  <a:pt x="4469" y="5551044"/>
                  <a:pt x="0" y="5377765"/>
                  <a:pt x="0" y="4376960"/>
                </a:cubicBezTo>
                <a:lnTo>
                  <a:pt x="0" y="4376913"/>
                </a:lnTo>
                <a:cubicBezTo>
                  <a:pt x="8536" y="491230"/>
                  <a:pt x="0" y="345608"/>
                  <a:pt x="77597" y="223930"/>
                </a:cubicBezTo>
                <a:cubicBezTo>
                  <a:pt x="217372" y="4759"/>
                  <a:pt x="519255" y="4073"/>
                  <a:pt x="937909" y="4073"/>
                </a:cubicBezTo>
                <a:cubicBezTo>
                  <a:pt x="937909" y="4073"/>
                  <a:pt x="2039222" y="15681"/>
                  <a:pt x="4699719" y="7673"/>
                </a:cubicBezTo>
                <a:cubicBezTo>
                  <a:pt x="6470043" y="0"/>
                  <a:pt x="7186776" y="6979"/>
                  <a:pt x="7186776" y="6979"/>
                </a:cubicBezTo>
                <a:cubicBezTo>
                  <a:pt x="7555084" y="14458"/>
                  <a:pt x="7693344" y="42638"/>
                  <a:pt x="7891083" y="165219"/>
                </a:cubicBezTo>
                <a:cubicBezTo>
                  <a:pt x="8042101" y="258836"/>
                  <a:pt x="8047623" y="476157"/>
                  <a:pt x="8038482" y="4376913"/>
                </a:cubicBezTo>
                <a:lnTo>
                  <a:pt x="8038482" y="4376960"/>
                </a:lnTo>
                <a:cubicBezTo>
                  <a:pt x="8038481" y="5495730"/>
                  <a:pt x="7995697" y="5644318"/>
                  <a:pt x="7419845" y="5694380"/>
                </a:cubicBezTo>
                <a:close/>
              </a:path>
            </a:pathLst>
          </a:custGeom>
          <a:solidFill>
            <a:srgbClr val="E5B8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55"/>
          <p:cNvSpPr txBox="1"/>
          <p:nvPr/>
        </p:nvSpPr>
        <p:spPr>
          <a:xfrm>
            <a:off x="9937296" y="6917234"/>
            <a:ext cx="6856858" cy="1579920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túshūguǎn  jiàoxué lóu </a:t>
            </a:r>
            <a:endParaRPr sz="48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4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 图书馆     教学楼</a:t>
            </a:r>
            <a:endParaRPr sz="115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BB5B"/>
        </a:solidFill>
        <a:effectLst/>
      </p:bgPr>
    </p:bg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5" name="Google Shape;815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00001" y="6652091"/>
            <a:ext cx="3102676" cy="2905233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56"/>
          <p:cNvSpPr txBox="1"/>
          <p:nvPr/>
        </p:nvSpPr>
        <p:spPr>
          <a:xfrm>
            <a:off x="816527" y="803942"/>
            <a:ext cx="10669867" cy="1107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9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 not forget to do: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7" name="Google Shape;817;p5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23111" y="2191800"/>
            <a:ext cx="3102676" cy="2905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18" name="Google Shape;818;p5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72032" y="2773898"/>
            <a:ext cx="3102676" cy="2905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19" name="Google Shape;819;p5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407296" y="2029970"/>
            <a:ext cx="3102676" cy="2905233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56"/>
          <p:cNvSpPr txBox="1"/>
          <p:nvPr/>
        </p:nvSpPr>
        <p:spPr>
          <a:xfrm>
            <a:off x="1459849" y="2886901"/>
            <a:ext cx="5029200" cy="757515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Homework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56"/>
          <p:cNvSpPr txBox="1"/>
          <p:nvPr/>
        </p:nvSpPr>
        <p:spPr>
          <a:xfrm>
            <a:off x="7008398" y="3543300"/>
            <a:ext cx="4515543" cy="757515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MDL exercises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56"/>
          <p:cNvSpPr txBox="1"/>
          <p:nvPr/>
        </p:nvSpPr>
        <p:spPr>
          <a:xfrm>
            <a:off x="12003251" y="3103828"/>
            <a:ext cx="4515543" cy="757515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Writing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56"/>
          <p:cNvSpPr txBox="1"/>
          <p:nvPr/>
        </p:nvSpPr>
        <p:spPr>
          <a:xfrm>
            <a:off x="1202297" y="7684803"/>
            <a:ext cx="8051472" cy="757515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Prepare for the next lesson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4" name="Google Shape;824;p5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202524" y="6321778"/>
            <a:ext cx="3102676" cy="2905233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p56"/>
          <p:cNvSpPr txBox="1"/>
          <p:nvPr/>
        </p:nvSpPr>
        <p:spPr>
          <a:xfrm>
            <a:off x="9756086" y="7239470"/>
            <a:ext cx="8051472" cy="757515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Practice speaking skill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6" name="Google Shape;826;p5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5305200" y="6202048"/>
            <a:ext cx="1572779" cy="1223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7" name="Google Shape;827;p5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flipH="1">
            <a:off x="10915247" y="2708710"/>
            <a:ext cx="2091305" cy="1380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828" name="Google Shape;828;p56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 rot="-912632">
            <a:off x="681639" y="7161393"/>
            <a:ext cx="1876342" cy="709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56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917941" y="4182107"/>
            <a:ext cx="605152" cy="1369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0" name="Google Shape;830;p56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 rot="-3384984">
            <a:off x="1421638" y="2006744"/>
            <a:ext cx="1119591" cy="20189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1698</Words>
  <Application>Microsoft Office PowerPoint</Application>
  <PresentationFormat>自定义</PresentationFormat>
  <Paragraphs>390</Paragraphs>
  <Slides>49</Slides>
  <Notes>49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54" baseType="lpstr">
      <vt:lpstr>SimSun</vt:lpstr>
      <vt:lpstr>Arial</vt:lpstr>
      <vt:lpstr>Calibri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Peng Liu</cp:lastModifiedBy>
  <cp:revision>5</cp:revision>
  <dcterms:created xsi:type="dcterms:W3CDTF">2006-08-16T00:00:00Z</dcterms:created>
  <dcterms:modified xsi:type="dcterms:W3CDTF">2026-07-31T02:37:33Z</dcterms:modified>
</cp:coreProperties>
</file>